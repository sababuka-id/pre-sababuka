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07a299b1d74e36" /><Relationship Type="http://schemas.openxmlformats.org/officeDocument/2006/relationships/extended-properties" Target="/docProps/app.xml" Id="Rf292c08e1c144cc5" /><Relationship Type="http://schemas.openxmlformats.org/officeDocument/2006/relationships/officeDocument" Target="/ppt/presentation.xml" Id="Rfea812b9e9ef448b" /></Relationships>
</file>

<file path=ppt/presentation.xml><?xml version="1.0" encoding="utf-8"?>
<p:presentation xmlns:p="http://schemas.openxmlformats.org/presentationml/2006/main">
  <p:sldMasterIdLst>
    <p:sldMasterId xmlns:r="http://schemas.openxmlformats.org/officeDocument/2006/relationships" id="2147483648" r:id="R7fe9a290838843c4"/>
  </p:sldMasterIdLst>
  <p:notesMasterIdLst>
    <p:notesMasterId xmlns:r="http://schemas.openxmlformats.org/officeDocument/2006/relationships" r:id="R35285a3f4bf040f3"/>
  </p:notesMasterIdLst>
  <p:sldIdLst>
    <p:sldId xmlns:r="http://schemas.openxmlformats.org/officeDocument/2006/relationships" id="256" r:id="R43acc5ec08f841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10332122464680" /><Relationship Type="http://schemas.openxmlformats.org/officeDocument/2006/relationships/slideMaster" Target="/ppt/slideMasters/slideMaster1.xml" Id="R7fe9a290838843c4" /><Relationship Type="http://schemas.openxmlformats.org/officeDocument/2006/relationships/notesMaster" Target="/ppt/notesMasters/notesMaster1.xml" Id="R35285a3f4bf040f3" /><Relationship Type="http://schemas.openxmlformats.org/officeDocument/2006/relationships/presProps" Target="/ppt/presProps.xml" Id="R864360e216cf471e" /><Relationship Type="http://schemas.openxmlformats.org/officeDocument/2006/relationships/tableStyles" Target="/ppt/tableStyles.xml" Id="R13708bfa577d4784" /><Relationship Type="http://schemas.openxmlformats.org/officeDocument/2006/relationships/slide" Target="/ppt/slides/slide1.xml" Id="R43acc5ec08f841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a0b7d947ad45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0293eed0e646a3" /><Relationship Type="http://schemas.openxmlformats.org/officeDocument/2006/relationships/notesMaster" Target="/ppt/notesMasters/notesMaster1.xml" Id="Re1197956dd1d45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ini merangkum roadmap yang telah dibahas bersama: kebutuhan dimulai dari fokus kebijakan, lalu kategori strategis dan indikator. Sumber diprioritaskan dari Satu Data Kapuas, BPS atau Susenas, lalu sistem atau situs OPD. OPD mengonfirmasi substansi, Diskominfosantik menjaga integrasi teknis, BAPPERIDA melakukan rekonsiliasi dan menentukan kelayakan tayang, sedangkan Bupati menerima data final untuk dukungan keputusan.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e37d9718fd44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6b239cec41416d" /><Relationship Type="http://schemas.openxmlformats.org/officeDocument/2006/relationships/slideLayout" Target="/ppt/slideLayouts/slideLayout1.xml" Id="R3e9c0a342d8241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9c0a342d8241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90173b379c4fee" /><Relationship Type="http://schemas.openxmlformats.org/officeDocument/2006/relationships/notesSlide" Target="/ppt/notesSlides/notesSlide1.xml" Id="R2cda173958464862" /></Relationships>
</file>

<file path=ppt/slides/slide1.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71" name="">
            <a:extLst xmlns:a="http://schemas.openxmlformats.org/drawingml/2006/main">
              <a:ext uri="{FF2B5EF4-FFF2-40B4-BE49-F238E27FC236}">
                <a16:creationId xmlns:a16="http://schemas.microsoft.com/office/drawing/2014/main" id="{9CB4FB0C-74E1-49CD-BAD3-2BFCF673CD1D}"/>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6A7A1"/>
          </a:solidFill>
          <a:ln xmlns:a="http://schemas.openxmlformats.org/drawingml/2006/main" w="9525">
            <a:solidFill>
              <a:srgbClr val="16A7A1"/>
            </a:solidFill>
          </a:ln>
        </p:spPr>
      </p:sp>
      <p:sp>
        <p:nvSpPr>
          <p:cNvPr id="2" name="">
            <a:extLst xmlns:a="http://schemas.openxmlformats.org/drawingml/2006/main">
              <a:ext uri="{FF2B5EF4-FFF2-40B4-BE49-F238E27FC236}">
                <a16:creationId xmlns:a16="http://schemas.microsoft.com/office/drawing/2014/main" id="{94059DEE-B5AF-4CCD-A3C6-CFEAC7AD7385}"/>
              </a:ext>
            </a:extLst>
          </p:cNvPr>
          <p:cNvSpPr>
            <a:spLocks xmlns:a="http://schemas.openxmlformats.org/drawingml/2006/main" noGrp="1"/>
          </p:cNvSpPr>
          <p:nvPr/>
        </p:nvSpPr>
        <p:spPr>
          <a:xfrm xmlns:a="http://schemas.openxmlformats.org/drawingml/2006/main">
            <a:off x="495300" y="2667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0B8E8C"/>
                </a:solidFill>
                <a:latin typeface="Arial"/>
                <a:ea typeface="Arial"/>
                <a:cs typeface="Arial"/>
              </a:defRPr>
            </a:pPr>
            <a:r>
              <a:rPr sz="975" b="1">
                <a:solidFill>
                  <a:srgbClr val="0B8E8C"/>
                </a:solidFill>
                <a:latin typeface="Arial"/>
                <a:ea typeface="Arial"/>
                <a:cs typeface="Arial"/>
              </a:rPr>
              <a:t>SABABUKA BERSINAR</a:t>
            </a:r>
          </a:p>
        </p:txBody>
      </p:sp>
      <p:sp>
        <p:nvSpPr>
          <p:cNvPr id="3" name="">
            <a:extLst xmlns:a="http://schemas.openxmlformats.org/drawingml/2006/main">
              <a:ext uri="{FF2B5EF4-FFF2-40B4-BE49-F238E27FC236}">
                <a16:creationId xmlns:a16="http://schemas.microsoft.com/office/drawing/2014/main" id="{5121EDAD-8B0F-43C0-8997-5880145CB833}"/>
              </a:ext>
            </a:extLst>
          </p:cNvPr>
          <p:cNvSpPr>
            <a:spLocks xmlns:a="http://schemas.openxmlformats.org/drawingml/2006/main" noGrp="1"/>
          </p:cNvSpPr>
          <p:nvPr/>
        </p:nvSpPr>
        <p:spPr>
          <a:xfrm xmlns:a="http://schemas.openxmlformats.org/drawingml/2006/main">
            <a:off x="495300" y="59055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A4C"/>
                </a:solidFill>
                <a:latin typeface="Arial"/>
                <a:ea typeface="Arial"/>
                <a:cs typeface="Arial"/>
              </a:defRPr>
            </a:pPr>
            <a:r>
              <a:rPr sz="2550" b="1">
                <a:solidFill>
                  <a:srgbClr val="102A4C"/>
                </a:solidFill>
                <a:latin typeface="Arial"/>
                <a:ea typeface="Arial"/>
                <a:cs typeface="Arial"/>
              </a:rPr>
              <a:t>Roadmap pengembangan dan alur data SABABUKA</a:t>
            </a:r>
          </a:p>
        </p:txBody>
      </p:sp>
      <p:sp>
        <p:nvSpPr>
          <p:cNvPr id="4" name="">
            <a:extLst xmlns:a="http://schemas.openxmlformats.org/drawingml/2006/main">
              <a:ext uri="{FF2B5EF4-FFF2-40B4-BE49-F238E27FC236}">
                <a16:creationId xmlns:a16="http://schemas.microsoft.com/office/drawing/2014/main" id="{CB5F5C23-4EDD-440B-8EA7-57B763708110}"/>
              </a:ext>
            </a:extLst>
          </p:cNvPr>
          <p:cNvSpPr>
            <a:spLocks xmlns:a="http://schemas.openxmlformats.org/drawingml/2006/main" noGrp="1"/>
          </p:cNvSpPr>
          <p:nvPr/>
        </p:nvSpPr>
        <p:spPr>
          <a:xfrm xmlns:a="http://schemas.openxmlformats.org/drawingml/2006/main">
            <a:off x="495300" y="109537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0738B"/>
                </a:solidFill>
                <a:latin typeface="Arial"/>
                <a:ea typeface="Arial"/>
                <a:cs typeface="Arial"/>
              </a:defRPr>
            </a:pPr>
            <a:r>
              <a:rPr sz="1275" b="0">
                <a:solidFill>
                  <a:srgbClr val="60738B"/>
                </a:solidFill>
                <a:latin typeface="Arial"/>
                <a:ea typeface="Arial"/>
                <a:cs typeface="Arial"/>
              </a:rPr>
              <a:t>Alur kerja dari fokus kebijakan hingga data siap digunakan oleh pimpinan</a:t>
            </a:r>
          </a:p>
        </p:txBody>
      </p:sp>
      <p:sp>
        <p:nvSpPr>
          <p:cNvPr id="5" name="">
            <a:extLst xmlns:a="http://schemas.openxmlformats.org/drawingml/2006/main">
              <a:ext uri="{FF2B5EF4-FFF2-40B4-BE49-F238E27FC236}">
                <a16:creationId xmlns:a16="http://schemas.microsoft.com/office/drawing/2014/main" id="{9FC62E71-E036-421D-AF35-FA3C2B949867}"/>
              </a:ext>
            </a:extLst>
          </p:cNvPr>
          <p:cNvSpPr>
            <a:spLocks xmlns:a="http://schemas.openxmlformats.org/drawingml/2006/main" noGrp="1"/>
          </p:cNvSpPr>
          <p:nvPr/>
        </p:nvSpPr>
        <p:spPr>
          <a:xfrm xmlns:a="http://schemas.openxmlformats.org/drawingml/2006/main">
            <a:off x="495300" y="1685925"/>
            <a:ext cx="165735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D3DEE9"/>
            </a:solidFill>
          </a:ln>
        </p:spPr>
      </p:sp>
      <p:sp>
        <p:nvSpPr>
          <p:cNvPr id="6" name="">
            <a:extLst xmlns:a="http://schemas.openxmlformats.org/drawingml/2006/main">
              <a:ext uri="{FF2B5EF4-FFF2-40B4-BE49-F238E27FC236}">
                <a16:creationId xmlns:a16="http://schemas.microsoft.com/office/drawing/2014/main" id="{5DF628A8-7325-4D92-9497-D3590E5292F1}"/>
              </a:ext>
            </a:extLst>
          </p:cNvPr>
          <p:cNvSpPr>
            <a:spLocks xmlns:a="http://schemas.openxmlformats.org/drawingml/2006/main" noGrp="1"/>
          </p:cNvSpPr>
          <p:nvPr/>
        </p:nvSpPr>
        <p:spPr>
          <a:xfrm xmlns:a="http://schemas.openxmlformats.org/drawingml/2006/main">
            <a:off x="495300" y="1685925"/>
            <a:ext cx="66675" cy="1409700"/>
          </a:xfrm>
          <a:prstGeom xmlns:a="http://schemas.openxmlformats.org/drawingml/2006/main" prst="rect">
            <a:avLst/>
          </a:prstGeom>
          <a:solidFill xmlns:a="http://schemas.openxmlformats.org/drawingml/2006/main">
            <a:srgbClr val="16A7A1"/>
          </a:solidFill>
          <a:ln xmlns:a="http://schemas.openxmlformats.org/drawingml/2006/main" w="9525">
            <a:solidFill>
              <a:srgbClr val="16A7A1"/>
            </a:solidFill>
          </a:ln>
        </p:spPr>
      </p:sp>
      <p:sp>
        <p:nvSpPr>
          <p:cNvPr id="7" name="">
            <a:extLst xmlns:a="http://schemas.openxmlformats.org/drawingml/2006/main">
              <a:ext uri="{FF2B5EF4-FFF2-40B4-BE49-F238E27FC236}">
                <a16:creationId xmlns:a16="http://schemas.microsoft.com/office/drawing/2014/main" id="{4A62225B-AFC1-4E08-9E77-D047A7F7F42B}"/>
              </a:ext>
            </a:extLst>
          </p:cNvPr>
          <p:cNvSpPr>
            <a:spLocks xmlns:a="http://schemas.openxmlformats.org/drawingml/2006/main" noGrp="1"/>
          </p:cNvSpPr>
          <p:nvPr/>
        </p:nvSpPr>
        <p:spPr>
          <a:xfrm xmlns:a="http://schemas.openxmlformats.org/drawingml/2006/main">
            <a:off x="676275" y="18192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16A7A1"/>
                </a:solidFill>
                <a:latin typeface="Arial"/>
                <a:ea typeface="Arial"/>
                <a:cs typeface="Arial"/>
              </a:defRPr>
            </a:pPr>
            <a:r>
              <a:rPr sz="900" b="1">
                <a:solidFill>
                  <a:srgbClr val="16A7A1"/>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B3B370E8-18FF-478B-B337-F98636E8A151}"/>
              </a:ext>
            </a:extLst>
          </p:cNvPr>
          <p:cNvSpPr>
            <a:spLocks xmlns:a="http://schemas.openxmlformats.org/drawingml/2006/main" noGrp="1"/>
          </p:cNvSpPr>
          <p:nvPr/>
        </p:nvSpPr>
        <p:spPr>
          <a:xfrm xmlns:a="http://schemas.openxmlformats.org/drawingml/2006/main">
            <a:off x="676275" y="2095500"/>
            <a:ext cx="1323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625"/>
          </a:bodyPr>
          <a:lstStyle xmlns:a="http://schemas.openxmlformats.org/drawingml/2006/main"/>
          <a:p xmlns:a="http://schemas.openxmlformats.org/drawingml/2006/main">
            <a:pPr algn="l">
              <a:defRPr sz="1350" b="1">
                <a:solidFill>
                  <a:srgbClr val="102A4C"/>
                </a:solidFill>
                <a:latin typeface="Arial"/>
                <a:ea typeface="Arial"/>
                <a:cs typeface="Arial"/>
              </a:defRPr>
            </a:pPr>
            <a:r>
              <a:rPr sz="1350" b="1">
                <a:solidFill>
                  <a:srgbClr val="102A4C"/>
                </a:solidFill>
                <a:latin typeface="Arial"/>
                <a:ea typeface="Arial"/>
                <a:cs typeface="Arial"/>
              </a:rPr>
              <a:t>Fokus kebijakan</a:t>
            </a:r>
          </a:p>
        </p:txBody>
      </p:sp>
      <p:sp>
        <p:nvSpPr>
          <p:cNvPr id="9" name="">
            <a:extLst xmlns:a="http://schemas.openxmlformats.org/drawingml/2006/main">
              <a:ext uri="{FF2B5EF4-FFF2-40B4-BE49-F238E27FC236}">
                <a16:creationId xmlns:a16="http://schemas.microsoft.com/office/drawing/2014/main" id="{27D391E7-8AF3-45A8-A137-E0DF1B3B9176}"/>
              </a:ext>
            </a:extLst>
          </p:cNvPr>
          <p:cNvSpPr>
            <a:spLocks xmlns:a="http://schemas.openxmlformats.org/drawingml/2006/main" noGrp="1"/>
          </p:cNvSpPr>
          <p:nvPr/>
        </p:nvSpPr>
        <p:spPr>
          <a:xfrm xmlns:a="http://schemas.openxmlformats.org/drawingml/2006/main">
            <a:off x="676275" y="2466975"/>
            <a:ext cx="1323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62748A"/>
                </a:solidFill>
                <a:latin typeface="Arial"/>
                <a:ea typeface="Arial"/>
                <a:cs typeface="Arial"/>
              </a:defRPr>
            </a:pPr>
            <a:r>
              <a:rPr sz="900" b="0">
                <a:solidFill>
                  <a:srgbClr val="62748A"/>
                </a:solidFill>
                <a:latin typeface="Arial"/>
                <a:ea typeface="Arial"/>
                <a:cs typeface="Arial"/>
              </a:rPr>
              <a:t>Arah dan kebutuhan keputusan Bupati</a:t>
            </a:r>
          </a:p>
        </p:txBody>
      </p:sp>
      <p:sp>
        <p:nvSpPr>
          <p:cNvPr id="10" name="">
            <a:extLst xmlns:a="http://schemas.openxmlformats.org/drawingml/2006/main">
              <a:ext uri="{FF2B5EF4-FFF2-40B4-BE49-F238E27FC236}">
                <a16:creationId xmlns:a16="http://schemas.microsoft.com/office/drawing/2014/main" id="{17DD78F5-FACF-4888-B957-5BB01D526C6B}"/>
              </a:ext>
            </a:extLst>
          </p:cNvPr>
          <p:cNvSpPr>
            <a:spLocks xmlns:a="http://schemas.openxmlformats.org/drawingml/2006/main" noGrp="1"/>
          </p:cNvSpPr>
          <p:nvPr/>
        </p:nvSpPr>
        <p:spPr>
          <a:xfrm xmlns:a="http://schemas.openxmlformats.org/drawingml/2006/main">
            <a:off x="2190750" y="2171700"/>
            <a:ext cx="219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7485"/>
          </a:bodyPr>
          <a:lstStyle xmlns:a="http://schemas.openxmlformats.org/drawingml/2006/main"/>
          <a:p xmlns:a="http://schemas.openxmlformats.org/drawingml/2006/main">
            <a:pPr algn="ctr">
              <a:defRPr sz="2250" b="1">
                <a:solidFill>
                  <a:srgbClr val="7890A8"/>
                </a:solidFill>
                <a:latin typeface="Arial"/>
                <a:ea typeface="Arial"/>
                <a:cs typeface="Arial"/>
              </a:defRPr>
            </a:pPr>
            <a:r>
              <a:rPr sz="2250" b="1">
                <a:solidFill>
                  <a:srgbClr val="7890A8"/>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EC0FD62D-A4EB-4DAD-9437-719ED93EB767}"/>
              </a:ext>
            </a:extLst>
          </p:cNvPr>
          <p:cNvSpPr>
            <a:spLocks xmlns:a="http://schemas.openxmlformats.org/drawingml/2006/main" noGrp="1"/>
          </p:cNvSpPr>
          <p:nvPr/>
        </p:nvSpPr>
        <p:spPr>
          <a:xfrm xmlns:a="http://schemas.openxmlformats.org/drawingml/2006/main">
            <a:off x="2447925" y="1685925"/>
            <a:ext cx="165735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D3DEE9"/>
            </a:solidFill>
          </a:ln>
        </p:spPr>
      </p:sp>
      <p:sp>
        <p:nvSpPr>
          <p:cNvPr id="12" name="">
            <a:extLst xmlns:a="http://schemas.openxmlformats.org/drawingml/2006/main">
              <a:ext uri="{FF2B5EF4-FFF2-40B4-BE49-F238E27FC236}">
                <a16:creationId xmlns:a16="http://schemas.microsoft.com/office/drawing/2014/main" id="{6DBFE4E5-D159-4D36-92BE-6FAE56F171E1}"/>
              </a:ext>
            </a:extLst>
          </p:cNvPr>
          <p:cNvSpPr>
            <a:spLocks xmlns:a="http://schemas.openxmlformats.org/drawingml/2006/main" noGrp="1"/>
          </p:cNvSpPr>
          <p:nvPr/>
        </p:nvSpPr>
        <p:spPr>
          <a:xfrm xmlns:a="http://schemas.openxmlformats.org/drawingml/2006/main">
            <a:off x="2447925" y="1685925"/>
            <a:ext cx="66675" cy="1409700"/>
          </a:xfrm>
          <a:prstGeom xmlns:a="http://schemas.openxmlformats.org/drawingml/2006/main" prst="rect">
            <a:avLst/>
          </a:prstGeom>
          <a:solidFill xmlns:a="http://schemas.openxmlformats.org/drawingml/2006/main">
            <a:srgbClr val="2868B2"/>
          </a:solidFill>
          <a:ln xmlns:a="http://schemas.openxmlformats.org/drawingml/2006/main" w="9525">
            <a:solidFill>
              <a:srgbClr val="2868B2"/>
            </a:solidFill>
          </a:ln>
        </p:spPr>
      </p:sp>
      <p:sp>
        <p:nvSpPr>
          <p:cNvPr id="13" name="">
            <a:extLst xmlns:a="http://schemas.openxmlformats.org/drawingml/2006/main">
              <a:ext uri="{FF2B5EF4-FFF2-40B4-BE49-F238E27FC236}">
                <a16:creationId xmlns:a16="http://schemas.microsoft.com/office/drawing/2014/main" id="{DA079E37-753A-490C-AF2C-7F561FEE2A84}"/>
              </a:ext>
            </a:extLst>
          </p:cNvPr>
          <p:cNvSpPr>
            <a:spLocks xmlns:a="http://schemas.openxmlformats.org/drawingml/2006/main" noGrp="1"/>
          </p:cNvSpPr>
          <p:nvPr/>
        </p:nvSpPr>
        <p:spPr>
          <a:xfrm xmlns:a="http://schemas.openxmlformats.org/drawingml/2006/main">
            <a:off x="2628900" y="18192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868B2"/>
                </a:solidFill>
                <a:latin typeface="Arial"/>
                <a:ea typeface="Arial"/>
                <a:cs typeface="Arial"/>
              </a:defRPr>
            </a:pPr>
            <a:r>
              <a:rPr sz="900" b="1">
                <a:solidFill>
                  <a:srgbClr val="2868B2"/>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E76FB88E-E8D5-44B8-ADF4-8DB720DF29DC}"/>
              </a:ext>
            </a:extLst>
          </p:cNvPr>
          <p:cNvSpPr>
            <a:spLocks xmlns:a="http://schemas.openxmlformats.org/drawingml/2006/main" noGrp="1"/>
          </p:cNvSpPr>
          <p:nvPr/>
        </p:nvSpPr>
        <p:spPr>
          <a:xfrm xmlns:a="http://schemas.openxmlformats.org/drawingml/2006/main">
            <a:off x="2628900" y="2095500"/>
            <a:ext cx="1323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281"/>
          </a:bodyPr>
          <a:lstStyle xmlns:a="http://schemas.openxmlformats.org/drawingml/2006/main"/>
          <a:p xmlns:a="http://schemas.openxmlformats.org/drawingml/2006/main">
            <a:pPr algn="l">
              <a:defRPr sz="1350" b="1">
                <a:solidFill>
                  <a:srgbClr val="102A4C"/>
                </a:solidFill>
                <a:latin typeface="Arial"/>
                <a:ea typeface="Arial"/>
                <a:cs typeface="Arial"/>
              </a:defRPr>
            </a:pPr>
            <a:r>
              <a:rPr sz="1350" b="1">
                <a:solidFill>
                  <a:srgbClr val="102A4C"/>
                </a:solidFill>
                <a:latin typeface="Arial"/>
                <a:ea typeface="Arial"/>
                <a:cs typeface="Arial"/>
              </a:rPr>
              <a:t>Kategori strategis</a:t>
            </a:r>
          </a:p>
        </p:txBody>
      </p:sp>
      <p:sp>
        <p:nvSpPr>
          <p:cNvPr id="15" name="">
            <a:extLst xmlns:a="http://schemas.openxmlformats.org/drawingml/2006/main">
              <a:ext uri="{FF2B5EF4-FFF2-40B4-BE49-F238E27FC236}">
                <a16:creationId xmlns:a16="http://schemas.microsoft.com/office/drawing/2014/main" id="{2AFF9FE8-E89D-44D0-9F55-665B79C3564C}"/>
              </a:ext>
            </a:extLst>
          </p:cNvPr>
          <p:cNvSpPr>
            <a:spLocks xmlns:a="http://schemas.openxmlformats.org/drawingml/2006/main" noGrp="1"/>
          </p:cNvSpPr>
          <p:nvPr/>
        </p:nvSpPr>
        <p:spPr>
          <a:xfrm xmlns:a="http://schemas.openxmlformats.org/drawingml/2006/main">
            <a:off x="2628900" y="2466975"/>
            <a:ext cx="1323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204"/>
          </a:bodyPr>
          <a:lstStyle xmlns:a="http://schemas.openxmlformats.org/drawingml/2006/main"/>
          <a:p xmlns:a="http://schemas.openxmlformats.org/drawingml/2006/main">
            <a:pPr algn="l">
              <a:defRPr sz="900" b="0">
                <a:solidFill>
                  <a:srgbClr val="62748A"/>
                </a:solidFill>
                <a:latin typeface="Arial"/>
                <a:ea typeface="Arial"/>
                <a:cs typeface="Arial"/>
              </a:defRPr>
            </a:pPr>
            <a:r>
              <a:rPr sz="900" b="0">
                <a:solidFill>
                  <a:srgbClr val="62748A"/>
                </a:solidFill>
                <a:latin typeface="Arial"/>
                <a:ea typeface="Arial"/>
                <a:cs typeface="Arial"/>
              </a:rPr>
              <a:t>Kelompok isu pembangunan lintas OPD</a:t>
            </a:r>
          </a:p>
        </p:txBody>
      </p:sp>
      <p:sp>
        <p:nvSpPr>
          <p:cNvPr id="16" name="">
            <a:extLst xmlns:a="http://schemas.openxmlformats.org/drawingml/2006/main">
              <a:ext uri="{FF2B5EF4-FFF2-40B4-BE49-F238E27FC236}">
                <a16:creationId xmlns:a16="http://schemas.microsoft.com/office/drawing/2014/main" id="{41BBC73D-05B8-401C-B3EC-A812B40BC6A4}"/>
              </a:ext>
            </a:extLst>
          </p:cNvPr>
          <p:cNvSpPr>
            <a:spLocks xmlns:a="http://schemas.openxmlformats.org/drawingml/2006/main" noGrp="1"/>
          </p:cNvSpPr>
          <p:nvPr/>
        </p:nvSpPr>
        <p:spPr>
          <a:xfrm xmlns:a="http://schemas.openxmlformats.org/drawingml/2006/main">
            <a:off x="4143375" y="2171700"/>
            <a:ext cx="219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7485"/>
          </a:bodyPr>
          <a:lstStyle xmlns:a="http://schemas.openxmlformats.org/drawingml/2006/main"/>
          <a:p xmlns:a="http://schemas.openxmlformats.org/drawingml/2006/main">
            <a:pPr algn="ctr">
              <a:defRPr sz="2250" b="1">
                <a:solidFill>
                  <a:srgbClr val="7890A8"/>
                </a:solidFill>
                <a:latin typeface="Arial"/>
                <a:ea typeface="Arial"/>
                <a:cs typeface="Arial"/>
              </a:defRPr>
            </a:pPr>
            <a:r>
              <a:rPr sz="2250" b="1">
                <a:solidFill>
                  <a:srgbClr val="7890A8"/>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363E3489-12B9-43C3-9704-CE427D7BF488}"/>
              </a:ext>
            </a:extLst>
          </p:cNvPr>
          <p:cNvSpPr>
            <a:spLocks xmlns:a="http://schemas.openxmlformats.org/drawingml/2006/main" noGrp="1"/>
          </p:cNvSpPr>
          <p:nvPr/>
        </p:nvSpPr>
        <p:spPr>
          <a:xfrm xmlns:a="http://schemas.openxmlformats.org/drawingml/2006/main">
            <a:off x="4400550" y="1685925"/>
            <a:ext cx="165735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D3DEE9"/>
            </a:solidFill>
          </a:ln>
        </p:spPr>
      </p:sp>
      <p:sp>
        <p:nvSpPr>
          <p:cNvPr id="18" name="">
            <a:extLst xmlns:a="http://schemas.openxmlformats.org/drawingml/2006/main">
              <a:ext uri="{FF2B5EF4-FFF2-40B4-BE49-F238E27FC236}">
                <a16:creationId xmlns:a16="http://schemas.microsoft.com/office/drawing/2014/main" id="{BB398B0A-7192-4C89-A520-4FEBA602D090}"/>
              </a:ext>
            </a:extLst>
          </p:cNvPr>
          <p:cNvSpPr>
            <a:spLocks xmlns:a="http://schemas.openxmlformats.org/drawingml/2006/main" noGrp="1"/>
          </p:cNvSpPr>
          <p:nvPr/>
        </p:nvSpPr>
        <p:spPr>
          <a:xfrm xmlns:a="http://schemas.openxmlformats.org/drawingml/2006/main">
            <a:off x="4400550" y="1685925"/>
            <a:ext cx="66675" cy="1409700"/>
          </a:xfrm>
          <a:prstGeom xmlns:a="http://schemas.openxmlformats.org/drawingml/2006/main" prst="rect">
            <a:avLst/>
          </a:prstGeom>
          <a:solidFill xmlns:a="http://schemas.openxmlformats.org/drawingml/2006/main">
            <a:srgbClr val="F0A000"/>
          </a:solidFill>
          <a:ln xmlns:a="http://schemas.openxmlformats.org/drawingml/2006/main" w="9525">
            <a:solidFill>
              <a:srgbClr val="F0A000"/>
            </a:solidFill>
          </a:ln>
        </p:spPr>
      </p:sp>
      <p:sp>
        <p:nvSpPr>
          <p:cNvPr id="19" name="">
            <a:extLst xmlns:a="http://schemas.openxmlformats.org/drawingml/2006/main">
              <a:ext uri="{FF2B5EF4-FFF2-40B4-BE49-F238E27FC236}">
                <a16:creationId xmlns:a16="http://schemas.microsoft.com/office/drawing/2014/main" id="{DA8C09B2-1B97-43EA-91D6-A699D15CB199}"/>
              </a:ext>
            </a:extLst>
          </p:cNvPr>
          <p:cNvSpPr>
            <a:spLocks xmlns:a="http://schemas.openxmlformats.org/drawingml/2006/main" noGrp="1"/>
          </p:cNvSpPr>
          <p:nvPr/>
        </p:nvSpPr>
        <p:spPr>
          <a:xfrm xmlns:a="http://schemas.openxmlformats.org/drawingml/2006/main">
            <a:off x="4581525" y="18192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F0A000"/>
                </a:solidFill>
                <a:latin typeface="Arial"/>
                <a:ea typeface="Arial"/>
                <a:cs typeface="Arial"/>
              </a:defRPr>
            </a:pPr>
            <a:r>
              <a:rPr sz="900" b="1">
                <a:solidFill>
                  <a:srgbClr val="F0A000"/>
                </a:solidFill>
                <a:latin typeface="Arial"/>
                <a:ea typeface="Arial"/>
                <a:cs typeface="Arial"/>
              </a:rPr>
              <a:t>03</a:t>
            </a:r>
          </a:p>
        </p:txBody>
      </p:sp>
      <p:sp>
        <p:nvSpPr>
          <p:cNvPr id="20" name="">
            <a:extLst xmlns:a="http://schemas.openxmlformats.org/drawingml/2006/main">
              <a:ext uri="{FF2B5EF4-FFF2-40B4-BE49-F238E27FC236}">
                <a16:creationId xmlns:a16="http://schemas.microsoft.com/office/drawing/2014/main" id="{79EBE234-CC9C-4E00-81D5-1ED0E00F3F65}"/>
              </a:ext>
            </a:extLst>
          </p:cNvPr>
          <p:cNvSpPr>
            <a:spLocks xmlns:a="http://schemas.openxmlformats.org/drawingml/2006/main" noGrp="1"/>
          </p:cNvSpPr>
          <p:nvPr/>
        </p:nvSpPr>
        <p:spPr>
          <a:xfrm xmlns:a="http://schemas.openxmlformats.org/drawingml/2006/main">
            <a:off x="4581525" y="2095500"/>
            <a:ext cx="1323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02A4C"/>
                </a:solidFill>
                <a:latin typeface="Arial"/>
                <a:ea typeface="Arial"/>
                <a:cs typeface="Arial"/>
              </a:defRPr>
            </a:pPr>
            <a:r>
              <a:rPr sz="1350" b="1">
                <a:solidFill>
                  <a:srgbClr val="102A4C"/>
                </a:solidFill>
                <a:latin typeface="Arial"/>
                <a:ea typeface="Arial"/>
                <a:cs typeface="Arial"/>
              </a:rPr>
              <a:t>Indikator</a:t>
            </a:r>
          </a:p>
        </p:txBody>
      </p:sp>
      <p:sp>
        <p:nvSpPr>
          <p:cNvPr id="21" name="">
            <a:extLst xmlns:a="http://schemas.openxmlformats.org/drawingml/2006/main">
              <a:ext uri="{FF2B5EF4-FFF2-40B4-BE49-F238E27FC236}">
                <a16:creationId xmlns:a16="http://schemas.microsoft.com/office/drawing/2014/main" id="{ABD13BE7-F998-4450-9A57-49AE7BD53D1A}"/>
              </a:ext>
            </a:extLst>
          </p:cNvPr>
          <p:cNvSpPr>
            <a:spLocks xmlns:a="http://schemas.openxmlformats.org/drawingml/2006/main" noGrp="1"/>
          </p:cNvSpPr>
          <p:nvPr/>
        </p:nvSpPr>
        <p:spPr>
          <a:xfrm xmlns:a="http://schemas.openxmlformats.org/drawingml/2006/main">
            <a:off x="4581525" y="2466975"/>
            <a:ext cx="1323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629"/>
          </a:bodyPr>
          <a:lstStyle xmlns:a="http://schemas.openxmlformats.org/drawingml/2006/main"/>
          <a:p xmlns:a="http://schemas.openxmlformats.org/drawingml/2006/main">
            <a:pPr algn="l">
              <a:defRPr sz="900" b="0">
                <a:solidFill>
                  <a:srgbClr val="62748A"/>
                </a:solidFill>
                <a:latin typeface="Arial"/>
                <a:ea typeface="Arial"/>
                <a:cs typeface="Arial"/>
              </a:defRPr>
            </a:pPr>
            <a:r>
              <a:rPr sz="900" b="0">
                <a:solidFill>
                  <a:srgbClr val="62748A"/>
                </a:solidFill>
                <a:latin typeface="Arial"/>
                <a:ea typeface="Arial"/>
                <a:cs typeface="Arial"/>
              </a:rPr>
              <a:t>Definisi, target, periode, wilayah, dan PIC</a:t>
            </a:r>
          </a:p>
        </p:txBody>
      </p:sp>
      <p:sp>
        <p:nvSpPr>
          <p:cNvPr id="22" name="">
            <a:extLst xmlns:a="http://schemas.openxmlformats.org/drawingml/2006/main">
              <a:ext uri="{FF2B5EF4-FFF2-40B4-BE49-F238E27FC236}">
                <a16:creationId xmlns:a16="http://schemas.microsoft.com/office/drawing/2014/main" id="{D995041A-D06E-4234-BA72-2E39E80967CA}"/>
              </a:ext>
            </a:extLst>
          </p:cNvPr>
          <p:cNvSpPr>
            <a:spLocks xmlns:a="http://schemas.openxmlformats.org/drawingml/2006/main" noGrp="1"/>
          </p:cNvSpPr>
          <p:nvPr/>
        </p:nvSpPr>
        <p:spPr>
          <a:xfrm xmlns:a="http://schemas.openxmlformats.org/drawingml/2006/main">
            <a:off x="6096000" y="2171700"/>
            <a:ext cx="219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7485"/>
          </a:bodyPr>
          <a:lstStyle xmlns:a="http://schemas.openxmlformats.org/drawingml/2006/main"/>
          <a:p xmlns:a="http://schemas.openxmlformats.org/drawingml/2006/main">
            <a:pPr algn="ctr">
              <a:defRPr sz="2250" b="1">
                <a:solidFill>
                  <a:srgbClr val="7890A8"/>
                </a:solidFill>
                <a:latin typeface="Arial"/>
                <a:ea typeface="Arial"/>
                <a:cs typeface="Arial"/>
              </a:defRPr>
            </a:pPr>
            <a:r>
              <a:rPr sz="2250" b="1">
                <a:solidFill>
                  <a:srgbClr val="7890A8"/>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39E963D1-0F9E-4E0C-A8F8-D9E545C2EE5A}"/>
              </a:ext>
            </a:extLst>
          </p:cNvPr>
          <p:cNvSpPr>
            <a:spLocks xmlns:a="http://schemas.openxmlformats.org/drawingml/2006/main" noGrp="1"/>
          </p:cNvSpPr>
          <p:nvPr/>
        </p:nvSpPr>
        <p:spPr>
          <a:xfrm xmlns:a="http://schemas.openxmlformats.org/drawingml/2006/main">
            <a:off x="6353175" y="1685925"/>
            <a:ext cx="165735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D3DEE9"/>
            </a:solidFill>
          </a:ln>
        </p:spPr>
      </p:sp>
      <p:sp>
        <p:nvSpPr>
          <p:cNvPr id="24" name="">
            <a:extLst xmlns:a="http://schemas.openxmlformats.org/drawingml/2006/main">
              <a:ext uri="{FF2B5EF4-FFF2-40B4-BE49-F238E27FC236}">
                <a16:creationId xmlns:a16="http://schemas.microsoft.com/office/drawing/2014/main" id="{ED1704DF-09DD-4B76-858C-B74EAFCB2D7F}"/>
              </a:ext>
            </a:extLst>
          </p:cNvPr>
          <p:cNvSpPr>
            <a:spLocks xmlns:a="http://schemas.openxmlformats.org/drawingml/2006/main" noGrp="1"/>
          </p:cNvSpPr>
          <p:nvPr/>
        </p:nvSpPr>
        <p:spPr>
          <a:xfrm xmlns:a="http://schemas.openxmlformats.org/drawingml/2006/main">
            <a:off x="6353175" y="1685925"/>
            <a:ext cx="66675" cy="1409700"/>
          </a:xfrm>
          <a:prstGeom xmlns:a="http://schemas.openxmlformats.org/drawingml/2006/main" prst="rect">
            <a:avLst/>
          </a:prstGeom>
          <a:solidFill xmlns:a="http://schemas.openxmlformats.org/drawingml/2006/main">
            <a:srgbClr val="526D89"/>
          </a:solidFill>
          <a:ln xmlns:a="http://schemas.openxmlformats.org/drawingml/2006/main" w="9525">
            <a:solidFill>
              <a:srgbClr val="526D89"/>
            </a:solidFill>
          </a:ln>
        </p:spPr>
      </p:sp>
      <p:sp>
        <p:nvSpPr>
          <p:cNvPr id="25" name="">
            <a:extLst xmlns:a="http://schemas.openxmlformats.org/drawingml/2006/main">
              <a:ext uri="{FF2B5EF4-FFF2-40B4-BE49-F238E27FC236}">
                <a16:creationId xmlns:a16="http://schemas.microsoft.com/office/drawing/2014/main" id="{87957939-16FA-4172-A4E6-4B02B991CA9F}"/>
              </a:ext>
            </a:extLst>
          </p:cNvPr>
          <p:cNvSpPr>
            <a:spLocks xmlns:a="http://schemas.openxmlformats.org/drawingml/2006/main" noGrp="1"/>
          </p:cNvSpPr>
          <p:nvPr/>
        </p:nvSpPr>
        <p:spPr>
          <a:xfrm xmlns:a="http://schemas.openxmlformats.org/drawingml/2006/main">
            <a:off x="6534150" y="18192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526D89"/>
                </a:solidFill>
                <a:latin typeface="Arial"/>
                <a:ea typeface="Arial"/>
                <a:cs typeface="Arial"/>
              </a:defRPr>
            </a:pPr>
            <a:r>
              <a:rPr sz="900" b="1">
                <a:solidFill>
                  <a:srgbClr val="526D89"/>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C320B4BD-CF3F-4385-8D2C-2133B187B62A}"/>
              </a:ext>
            </a:extLst>
          </p:cNvPr>
          <p:cNvSpPr>
            <a:spLocks xmlns:a="http://schemas.openxmlformats.org/drawingml/2006/main" noGrp="1"/>
          </p:cNvSpPr>
          <p:nvPr/>
        </p:nvSpPr>
        <p:spPr>
          <a:xfrm xmlns:a="http://schemas.openxmlformats.org/drawingml/2006/main">
            <a:off x="6534150" y="2095500"/>
            <a:ext cx="1323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02A4C"/>
                </a:solidFill>
                <a:latin typeface="Arial"/>
                <a:ea typeface="Arial"/>
                <a:cs typeface="Arial"/>
              </a:defRPr>
            </a:pPr>
            <a:r>
              <a:rPr sz="1350" b="1">
                <a:solidFill>
                  <a:srgbClr val="102A4C"/>
                </a:solidFill>
                <a:latin typeface="Arial"/>
                <a:ea typeface="Arial"/>
                <a:cs typeface="Arial"/>
              </a:rPr>
              <a:t>Sumber data</a:t>
            </a:r>
          </a:p>
        </p:txBody>
      </p:sp>
      <p:sp>
        <p:nvSpPr>
          <p:cNvPr id="27" name="">
            <a:extLst xmlns:a="http://schemas.openxmlformats.org/drawingml/2006/main">
              <a:ext uri="{FF2B5EF4-FFF2-40B4-BE49-F238E27FC236}">
                <a16:creationId xmlns:a16="http://schemas.microsoft.com/office/drawing/2014/main" id="{82480813-AAAD-46B9-980A-860DE70308C2}"/>
              </a:ext>
            </a:extLst>
          </p:cNvPr>
          <p:cNvSpPr>
            <a:spLocks xmlns:a="http://schemas.openxmlformats.org/drawingml/2006/main" noGrp="1"/>
          </p:cNvSpPr>
          <p:nvPr/>
        </p:nvSpPr>
        <p:spPr>
          <a:xfrm xmlns:a="http://schemas.openxmlformats.org/drawingml/2006/main">
            <a:off x="6534150" y="2466975"/>
            <a:ext cx="1323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62748A"/>
                </a:solidFill>
                <a:latin typeface="Arial"/>
                <a:ea typeface="Arial"/>
                <a:cs typeface="Arial"/>
              </a:defRPr>
            </a:pPr>
            <a:r>
              <a:rPr sz="900" b="0">
                <a:solidFill>
                  <a:srgbClr val="62748A"/>
                </a:solidFill>
                <a:latin typeface="Arial"/>
                <a:ea typeface="Arial"/>
                <a:cs typeface="Arial"/>
              </a:rPr>
              <a:t>Satu Data, BPS, lalu sistem atau situs OPD</a:t>
            </a:r>
          </a:p>
        </p:txBody>
      </p:sp>
      <p:sp>
        <p:nvSpPr>
          <p:cNvPr id="28" name="">
            <a:extLst xmlns:a="http://schemas.openxmlformats.org/drawingml/2006/main">
              <a:ext uri="{FF2B5EF4-FFF2-40B4-BE49-F238E27FC236}">
                <a16:creationId xmlns:a16="http://schemas.microsoft.com/office/drawing/2014/main" id="{8E25921A-D5C2-451F-B753-A25694670C5F}"/>
              </a:ext>
            </a:extLst>
          </p:cNvPr>
          <p:cNvSpPr>
            <a:spLocks xmlns:a="http://schemas.openxmlformats.org/drawingml/2006/main" noGrp="1"/>
          </p:cNvSpPr>
          <p:nvPr/>
        </p:nvSpPr>
        <p:spPr>
          <a:xfrm xmlns:a="http://schemas.openxmlformats.org/drawingml/2006/main">
            <a:off x="8048625" y="2171700"/>
            <a:ext cx="219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7485"/>
          </a:bodyPr>
          <a:lstStyle xmlns:a="http://schemas.openxmlformats.org/drawingml/2006/main"/>
          <a:p xmlns:a="http://schemas.openxmlformats.org/drawingml/2006/main">
            <a:pPr algn="ctr">
              <a:defRPr sz="2250" b="1">
                <a:solidFill>
                  <a:srgbClr val="7890A8"/>
                </a:solidFill>
                <a:latin typeface="Arial"/>
                <a:ea typeface="Arial"/>
                <a:cs typeface="Arial"/>
              </a:defRPr>
            </a:pPr>
            <a:r>
              <a:rPr sz="2250" b="1">
                <a:solidFill>
                  <a:srgbClr val="7890A8"/>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CF33708D-AA97-4B46-8DA4-553DB58C6329}"/>
              </a:ext>
            </a:extLst>
          </p:cNvPr>
          <p:cNvSpPr>
            <a:spLocks xmlns:a="http://schemas.openxmlformats.org/drawingml/2006/main" noGrp="1"/>
          </p:cNvSpPr>
          <p:nvPr/>
        </p:nvSpPr>
        <p:spPr>
          <a:xfrm xmlns:a="http://schemas.openxmlformats.org/drawingml/2006/main">
            <a:off x="8305800" y="1685925"/>
            <a:ext cx="165735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D3DEE9"/>
            </a:solidFill>
          </a:ln>
        </p:spPr>
      </p:sp>
      <p:sp>
        <p:nvSpPr>
          <p:cNvPr id="30" name="">
            <a:extLst xmlns:a="http://schemas.openxmlformats.org/drawingml/2006/main">
              <a:ext uri="{FF2B5EF4-FFF2-40B4-BE49-F238E27FC236}">
                <a16:creationId xmlns:a16="http://schemas.microsoft.com/office/drawing/2014/main" id="{D41BBD0C-7859-414E-8597-74910D2FE317}"/>
              </a:ext>
            </a:extLst>
          </p:cNvPr>
          <p:cNvSpPr>
            <a:spLocks xmlns:a="http://schemas.openxmlformats.org/drawingml/2006/main" noGrp="1"/>
          </p:cNvSpPr>
          <p:nvPr/>
        </p:nvSpPr>
        <p:spPr>
          <a:xfrm xmlns:a="http://schemas.openxmlformats.org/drawingml/2006/main">
            <a:off x="8305800" y="1685925"/>
            <a:ext cx="66675" cy="1409700"/>
          </a:xfrm>
          <a:prstGeom xmlns:a="http://schemas.openxmlformats.org/drawingml/2006/main" prst="rect">
            <a:avLst/>
          </a:prstGeom>
          <a:solidFill xmlns:a="http://schemas.openxmlformats.org/drawingml/2006/main">
            <a:srgbClr val="14A39C"/>
          </a:solidFill>
          <a:ln xmlns:a="http://schemas.openxmlformats.org/drawingml/2006/main" w="9525">
            <a:solidFill>
              <a:srgbClr val="14A39C"/>
            </a:solidFill>
          </a:ln>
        </p:spPr>
      </p:sp>
      <p:sp>
        <p:nvSpPr>
          <p:cNvPr id="31" name="">
            <a:extLst xmlns:a="http://schemas.openxmlformats.org/drawingml/2006/main">
              <a:ext uri="{FF2B5EF4-FFF2-40B4-BE49-F238E27FC236}">
                <a16:creationId xmlns:a16="http://schemas.microsoft.com/office/drawing/2014/main" id="{BE161B8F-A210-40A0-9170-D2C99A6C8E0C}"/>
              </a:ext>
            </a:extLst>
          </p:cNvPr>
          <p:cNvSpPr>
            <a:spLocks xmlns:a="http://schemas.openxmlformats.org/drawingml/2006/main" noGrp="1"/>
          </p:cNvSpPr>
          <p:nvPr/>
        </p:nvSpPr>
        <p:spPr>
          <a:xfrm xmlns:a="http://schemas.openxmlformats.org/drawingml/2006/main">
            <a:off x="8486775" y="18192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14A39C"/>
                </a:solidFill>
                <a:latin typeface="Arial"/>
                <a:ea typeface="Arial"/>
                <a:cs typeface="Arial"/>
              </a:defRPr>
            </a:pPr>
            <a:r>
              <a:rPr sz="900" b="1">
                <a:solidFill>
                  <a:srgbClr val="14A39C"/>
                </a:solidFill>
                <a:latin typeface="Arial"/>
                <a:ea typeface="Arial"/>
                <a:cs typeface="Arial"/>
              </a:rPr>
              <a:t>05</a:t>
            </a:r>
          </a:p>
        </p:txBody>
      </p:sp>
      <p:sp>
        <p:nvSpPr>
          <p:cNvPr id="32" name="">
            <a:extLst xmlns:a="http://schemas.openxmlformats.org/drawingml/2006/main">
              <a:ext uri="{FF2B5EF4-FFF2-40B4-BE49-F238E27FC236}">
                <a16:creationId xmlns:a16="http://schemas.microsoft.com/office/drawing/2014/main" id="{FF1DAC6B-C3ED-4FEA-9D42-15F8C6848DA8}"/>
              </a:ext>
            </a:extLst>
          </p:cNvPr>
          <p:cNvSpPr>
            <a:spLocks xmlns:a="http://schemas.openxmlformats.org/drawingml/2006/main" noGrp="1"/>
          </p:cNvSpPr>
          <p:nvPr/>
        </p:nvSpPr>
        <p:spPr>
          <a:xfrm xmlns:a="http://schemas.openxmlformats.org/drawingml/2006/main">
            <a:off x="8486775" y="2095500"/>
            <a:ext cx="1323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02A4C"/>
                </a:solidFill>
                <a:latin typeface="Arial"/>
                <a:ea typeface="Arial"/>
                <a:cs typeface="Arial"/>
              </a:defRPr>
            </a:pPr>
            <a:r>
              <a:rPr sz="1350" b="1">
                <a:solidFill>
                  <a:srgbClr val="102A4C"/>
                </a:solidFill>
                <a:latin typeface="Arial"/>
                <a:ea typeface="Arial"/>
                <a:cs typeface="Arial"/>
              </a:rPr>
              <a:t>Kurasi data</a:t>
            </a:r>
          </a:p>
        </p:txBody>
      </p:sp>
      <p:sp>
        <p:nvSpPr>
          <p:cNvPr id="33" name="">
            <a:extLst xmlns:a="http://schemas.openxmlformats.org/drawingml/2006/main">
              <a:ext uri="{FF2B5EF4-FFF2-40B4-BE49-F238E27FC236}">
                <a16:creationId xmlns:a16="http://schemas.microsoft.com/office/drawing/2014/main" id="{025F36A0-6032-4A5B-B5D7-BB9D68CEF9C5}"/>
              </a:ext>
            </a:extLst>
          </p:cNvPr>
          <p:cNvSpPr>
            <a:spLocks xmlns:a="http://schemas.openxmlformats.org/drawingml/2006/main" noGrp="1"/>
          </p:cNvSpPr>
          <p:nvPr/>
        </p:nvSpPr>
        <p:spPr>
          <a:xfrm xmlns:a="http://schemas.openxmlformats.org/drawingml/2006/main">
            <a:off x="8486775" y="2466975"/>
            <a:ext cx="1323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204"/>
          </a:bodyPr>
          <a:lstStyle xmlns:a="http://schemas.openxmlformats.org/drawingml/2006/main"/>
          <a:p xmlns:a="http://schemas.openxmlformats.org/drawingml/2006/main">
            <a:pPr algn="l">
              <a:defRPr sz="900" b="0">
                <a:solidFill>
                  <a:srgbClr val="62748A"/>
                </a:solidFill>
                <a:latin typeface="Arial"/>
                <a:ea typeface="Arial"/>
                <a:cs typeface="Arial"/>
              </a:defRPr>
            </a:pPr>
            <a:r>
              <a:rPr sz="900" b="0">
                <a:solidFill>
                  <a:srgbClr val="62748A"/>
                </a:solidFill>
                <a:latin typeface="Arial"/>
                <a:ea typeface="Arial"/>
                <a:cs typeface="Arial"/>
              </a:rPr>
              <a:t>Konfirmasi OPD dan rekonsiliasi BAPPERIDA</a:t>
            </a:r>
          </a:p>
        </p:txBody>
      </p:sp>
      <p:sp>
        <p:nvSpPr>
          <p:cNvPr id="34" name="">
            <a:extLst xmlns:a="http://schemas.openxmlformats.org/drawingml/2006/main">
              <a:ext uri="{FF2B5EF4-FFF2-40B4-BE49-F238E27FC236}">
                <a16:creationId xmlns:a16="http://schemas.microsoft.com/office/drawing/2014/main" id="{E970C2AC-CBE5-4F0A-AD0B-0B7A21DD9F45}"/>
              </a:ext>
            </a:extLst>
          </p:cNvPr>
          <p:cNvSpPr>
            <a:spLocks xmlns:a="http://schemas.openxmlformats.org/drawingml/2006/main" noGrp="1"/>
          </p:cNvSpPr>
          <p:nvPr/>
        </p:nvSpPr>
        <p:spPr>
          <a:xfrm xmlns:a="http://schemas.openxmlformats.org/drawingml/2006/main">
            <a:off x="10001250" y="2171700"/>
            <a:ext cx="219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7485"/>
          </a:bodyPr>
          <a:lstStyle xmlns:a="http://schemas.openxmlformats.org/drawingml/2006/main"/>
          <a:p xmlns:a="http://schemas.openxmlformats.org/drawingml/2006/main">
            <a:pPr algn="ctr">
              <a:defRPr sz="2250" b="1">
                <a:solidFill>
                  <a:srgbClr val="7890A8"/>
                </a:solidFill>
                <a:latin typeface="Arial"/>
                <a:ea typeface="Arial"/>
                <a:cs typeface="Arial"/>
              </a:defRPr>
            </a:pPr>
            <a:r>
              <a:rPr sz="2250" b="1">
                <a:solidFill>
                  <a:srgbClr val="7890A8"/>
                </a:solidFill>
                <a:latin typeface="Arial"/>
                <a:ea typeface="Arial"/>
                <a:cs typeface="Arial"/>
              </a:rPr>
              <a:t>›</a:t>
            </a:r>
          </a:p>
        </p:txBody>
      </p:sp>
      <p:sp>
        <p:nvSpPr>
          <p:cNvPr id="35" name="">
            <a:extLst xmlns:a="http://schemas.openxmlformats.org/drawingml/2006/main">
              <a:ext uri="{FF2B5EF4-FFF2-40B4-BE49-F238E27FC236}">
                <a16:creationId xmlns:a16="http://schemas.microsoft.com/office/drawing/2014/main" id="{81FAE84C-7363-494C-A323-1D165938AD96}"/>
              </a:ext>
            </a:extLst>
          </p:cNvPr>
          <p:cNvSpPr>
            <a:spLocks xmlns:a="http://schemas.openxmlformats.org/drawingml/2006/main" noGrp="1"/>
          </p:cNvSpPr>
          <p:nvPr/>
        </p:nvSpPr>
        <p:spPr>
          <a:xfrm xmlns:a="http://schemas.openxmlformats.org/drawingml/2006/main">
            <a:off x="10258425" y="1685925"/>
            <a:ext cx="165735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D3DEE9"/>
            </a:solidFill>
          </a:ln>
        </p:spPr>
      </p:sp>
      <p:sp>
        <p:nvSpPr>
          <p:cNvPr id="36" name="">
            <a:extLst xmlns:a="http://schemas.openxmlformats.org/drawingml/2006/main">
              <a:ext uri="{FF2B5EF4-FFF2-40B4-BE49-F238E27FC236}">
                <a16:creationId xmlns:a16="http://schemas.microsoft.com/office/drawing/2014/main" id="{DCF71127-AD0B-497C-BB72-DB416FD9D760}"/>
              </a:ext>
            </a:extLst>
          </p:cNvPr>
          <p:cNvSpPr>
            <a:spLocks xmlns:a="http://schemas.openxmlformats.org/drawingml/2006/main" noGrp="1"/>
          </p:cNvSpPr>
          <p:nvPr/>
        </p:nvSpPr>
        <p:spPr>
          <a:xfrm xmlns:a="http://schemas.openxmlformats.org/drawingml/2006/main">
            <a:off x="10258425" y="1685925"/>
            <a:ext cx="66675" cy="1409700"/>
          </a:xfrm>
          <a:prstGeom xmlns:a="http://schemas.openxmlformats.org/drawingml/2006/main" prst="rect">
            <a:avLst/>
          </a:prstGeom>
          <a:solidFill xmlns:a="http://schemas.openxmlformats.org/drawingml/2006/main">
            <a:srgbClr val="249B50"/>
          </a:solidFill>
          <a:ln xmlns:a="http://schemas.openxmlformats.org/drawingml/2006/main" w="9525">
            <a:solidFill>
              <a:srgbClr val="249B50"/>
            </a:solidFill>
          </a:ln>
        </p:spPr>
      </p:sp>
      <p:sp>
        <p:nvSpPr>
          <p:cNvPr id="37" name="">
            <a:extLst xmlns:a="http://schemas.openxmlformats.org/drawingml/2006/main">
              <a:ext uri="{FF2B5EF4-FFF2-40B4-BE49-F238E27FC236}">
                <a16:creationId xmlns:a16="http://schemas.microsoft.com/office/drawing/2014/main" id="{D577960B-3117-4141-90CE-E9C57076AE3B}"/>
              </a:ext>
            </a:extLst>
          </p:cNvPr>
          <p:cNvSpPr>
            <a:spLocks xmlns:a="http://schemas.openxmlformats.org/drawingml/2006/main" noGrp="1"/>
          </p:cNvSpPr>
          <p:nvPr/>
        </p:nvSpPr>
        <p:spPr>
          <a:xfrm xmlns:a="http://schemas.openxmlformats.org/drawingml/2006/main">
            <a:off x="10439400" y="18192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249B50"/>
                </a:solidFill>
                <a:latin typeface="Arial"/>
                <a:ea typeface="Arial"/>
                <a:cs typeface="Arial"/>
              </a:defRPr>
            </a:pPr>
            <a:r>
              <a:rPr sz="900" b="1">
                <a:solidFill>
                  <a:srgbClr val="249B50"/>
                </a:solidFill>
                <a:latin typeface="Arial"/>
                <a:ea typeface="Arial"/>
                <a:cs typeface="Arial"/>
              </a:rPr>
              <a:t>06</a:t>
            </a:r>
          </a:p>
        </p:txBody>
      </p:sp>
      <p:sp>
        <p:nvSpPr>
          <p:cNvPr id="38" name="">
            <a:extLst xmlns:a="http://schemas.openxmlformats.org/drawingml/2006/main">
              <a:ext uri="{FF2B5EF4-FFF2-40B4-BE49-F238E27FC236}">
                <a16:creationId xmlns:a16="http://schemas.microsoft.com/office/drawing/2014/main" id="{FF809DD0-E8B3-4DD9-AA89-DB9D9228A372}"/>
              </a:ext>
            </a:extLst>
          </p:cNvPr>
          <p:cNvSpPr>
            <a:spLocks xmlns:a="http://schemas.openxmlformats.org/drawingml/2006/main" noGrp="1"/>
          </p:cNvSpPr>
          <p:nvPr/>
        </p:nvSpPr>
        <p:spPr>
          <a:xfrm xmlns:a="http://schemas.openxmlformats.org/drawingml/2006/main">
            <a:off x="10439400" y="2095500"/>
            <a:ext cx="1323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753"/>
          </a:bodyPr>
          <a:lstStyle xmlns:a="http://schemas.openxmlformats.org/drawingml/2006/main"/>
          <a:p xmlns:a="http://schemas.openxmlformats.org/drawingml/2006/main">
            <a:pPr algn="l">
              <a:defRPr sz="1350" b="1">
                <a:solidFill>
                  <a:srgbClr val="102A4C"/>
                </a:solidFill>
                <a:latin typeface="Arial"/>
                <a:ea typeface="Arial"/>
                <a:cs typeface="Arial"/>
              </a:defRPr>
            </a:pPr>
            <a:r>
              <a:rPr sz="1350" b="1">
                <a:solidFill>
                  <a:srgbClr val="102A4C"/>
                </a:solidFill>
                <a:latin typeface="Arial"/>
                <a:ea typeface="Arial"/>
                <a:cs typeface="Arial"/>
              </a:rPr>
              <a:t>Output pimpinan</a:t>
            </a:r>
          </a:p>
        </p:txBody>
      </p:sp>
      <p:sp>
        <p:nvSpPr>
          <p:cNvPr id="39" name="">
            <a:extLst xmlns:a="http://schemas.openxmlformats.org/drawingml/2006/main">
              <a:ext uri="{FF2B5EF4-FFF2-40B4-BE49-F238E27FC236}">
                <a16:creationId xmlns:a16="http://schemas.microsoft.com/office/drawing/2014/main" id="{CA8B0A18-467E-4639-836A-10E46AE8B3E3}"/>
              </a:ext>
            </a:extLst>
          </p:cNvPr>
          <p:cNvSpPr>
            <a:spLocks xmlns:a="http://schemas.openxmlformats.org/drawingml/2006/main" noGrp="1"/>
          </p:cNvSpPr>
          <p:nvPr/>
        </p:nvSpPr>
        <p:spPr>
          <a:xfrm xmlns:a="http://schemas.openxmlformats.org/drawingml/2006/main">
            <a:off x="10439400" y="2466975"/>
            <a:ext cx="1323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204"/>
          </a:bodyPr>
          <a:lstStyle xmlns:a="http://schemas.openxmlformats.org/drawingml/2006/main"/>
          <a:p xmlns:a="http://schemas.openxmlformats.org/drawingml/2006/main">
            <a:pPr algn="l">
              <a:defRPr sz="900" b="0">
                <a:solidFill>
                  <a:srgbClr val="62748A"/>
                </a:solidFill>
                <a:latin typeface="Arial"/>
                <a:ea typeface="Arial"/>
                <a:cs typeface="Arial"/>
              </a:defRPr>
            </a:pPr>
            <a:r>
              <a:rPr sz="900" b="0">
                <a:solidFill>
                  <a:srgbClr val="62748A"/>
                </a:solidFill>
                <a:latin typeface="Arial"/>
                <a:ea typeface="Arial"/>
                <a:cs typeface="Arial"/>
              </a:rPr>
              <a:t>Grafik, peta, insight, peringatan, dan rekomendasi</a:t>
            </a:r>
          </a:p>
        </p:txBody>
      </p:sp>
      <p:sp>
        <p:nvSpPr>
          <p:cNvPr id="40" name="">
            <a:extLst xmlns:a="http://schemas.openxmlformats.org/drawingml/2006/main">
              <a:ext uri="{FF2B5EF4-FFF2-40B4-BE49-F238E27FC236}">
                <a16:creationId xmlns:a16="http://schemas.microsoft.com/office/drawing/2014/main" id="{D3BC2F64-DE15-48F5-A0B0-AA04FAAF0955}"/>
              </a:ext>
            </a:extLst>
          </p:cNvPr>
          <p:cNvSpPr>
            <a:spLocks xmlns:a="http://schemas.openxmlformats.org/drawingml/2006/main" noGrp="1"/>
          </p:cNvSpPr>
          <p:nvPr/>
        </p:nvSpPr>
        <p:spPr>
          <a:xfrm xmlns:a="http://schemas.openxmlformats.org/drawingml/2006/main">
            <a:off x="495300" y="3333750"/>
            <a:ext cx="2333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102A4C"/>
                </a:solidFill>
                <a:latin typeface="Arial"/>
                <a:ea typeface="Arial"/>
                <a:cs typeface="Arial"/>
              </a:defRPr>
            </a:pPr>
            <a:r>
              <a:rPr sz="825" b="1">
                <a:solidFill>
                  <a:srgbClr val="102A4C"/>
                </a:solidFill>
                <a:latin typeface="Arial"/>
                <a:ea typeface="Arial"/>
                <a:cs typeface="Arial"/>
              </a:rPr>
              <a:t>PRIORITAS PENGAMBILAN DATA</a:t>
            </a:r>
          </a:p>
        </p:txBody>
      </p:sp>
      <p:sp>
        <p:nvSpPr>
          <p:cNvPr id="41" name="">
            <a:extLst xmlns:a="http://schemas.openxmlformats.org/drawingml/2006/main">
              <a:ext uri="{FF2B5EF4-FFF2-40B4-BE49-F238E27FC236}">
                <a16:creationId xmlns:a16="http://schemas.microsoft.com/office/drawing/2014/main" id="{B66AA5CB-DF78-42B7-894D-968ACEF61921}"/>
              </a:ext>
            </a:extLst>
          </p:cNvPr>
          <p:cNvSpPr>
            <a:spLocks xmlns:a="http://schemas.openxmlformats.org/drawingml/2006/main" noGrp="1"/>
          </p:cNvSpPr>
          <p:nvPr/>
        </p:nvSpPr>
        <p:spPr>
          <a:xfrm xmlns:a="http://schemas.openxmlformats.org/drawingml/2006/main">
            <a:off x="495300" y="3600450"/>
            <a:ext cx="11201400" cy="504825"/>
          </a:xfrm>
          <a:prstGeom xmlns:a="http://schemas.openxmlformats.org/drawingml/2006/main" prst="roundRect">
            <a:avLst>
              <a:gd name="adj" fmla="val 15094"/>
            </a:avLst>
          </a:prstGeom>
          <a:solidFill xmlns:a="http://schemas.openxmlformats.org/drawingml/2006/main">
            <a:srgbClr val="EAF3FC"/>
          </a:solidFill>
          <a:ln xmlns:a="http://schemas.openxmlformats.org/drawingml/2006/main" w="9525">
            <a:solidFill>
              <a:srgbClr val="BDD6ED"/>
            </a:solidFill>
          </a:ln>
        </p:spPr>
      </p:sp>
      <p:sp>
        <p:nvSpPr>
          <p:cNvPr id="42" name="">
            <a:extLst xmlns:a="http://schemas.openxmlformats.org/drawingml/2006/main">
              <a:ext uri="{FF2B5EF4-FFF2-40B4-BE49-F238E27FC236}">
                <a16:creationId xmlns:a16="http://schemas.microsoft.com/office/drawing/2014/main" id="{D0EE06C0-763E-4A0D-9DBC-3C7D43631A5A}"/>
              </a:ext>
            </a:extLst>
          </p:cNvPr>
          <p:cNvSpPr>
            <a:spLocks xmlns:a="http://schemas.openxmlformats.org/drawingml/2006/main" noGrp="1"/>
          </p:cNvSpPr>
          <p:nvPr/>
        </p:nvSpPr>
        <p:spPr>
          <a:xfrm xmlns:a="http://schemas.openxmlformats.org/drawingml/2006/main">
            <a:off x="685800" y="3714750"/>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0B6B69"/>
                </a:solidFill>
                <a:latin typeface="Arial"/>
                <a:ea typeface="Arial"/>
                <a:cs typeface="Arial"/>
              </a:defRPr>
            </a:pPr>
            <a:r>
              <a:rPr sz="975" b="1">
                <a:solidFill>
                  <a:srgbClr val="0B6B69"/>
                </a:solidFill>
                <a:latin typeface="Arial"/>
                <a:ea typeface="Arial"/>
                <a:cs typeface="Arial"/>
              </a:rPr>
              <a:t>1  Satu Data Kapuas</a:t>
            </a:r>
          </a:p>
        </p:txBody>
      </p:sp>
      <p:sp>
        <p:nvSpPr>
          <p:cNvPr id="43" name="">
            <a:extLst xmlns:a="http://schemas.openxmlformats.org/drawingml/2006/main">
              <a:ext uri="{FF2B5EF4-FFF2-40B4-BE49-F238E27FC236}">
                <a16:creationId xmlns:a16="http://schemas.microsoft.com/office/drawing/2014/main" id="{09F72829-FE9B-4C61-A054-FFB51E5DA34F}"/>
              </a:ext>
            </a:extLst>
          </p:cNvPr>
          <p:cNvSpPr>
            <a:spLocks xmlns:a="http://schemas.openxmlformats.org/drawingml/2006/main" noGrp="1"/>
          </p:cNvSpPr>
          <p:nvPr/>
        </p:nvSpPr>
        <p:spPr>
          <a:xfrm xmlns:a="http://schemas.openxmlformats.org/drawingml/2006/main">
            <a:off x="3067050" y="37052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1217"/>
          </a:bodyPr>
          <a:lstStyle xmlns:a="http://schemas.openxmlformats.org/drawingml/2006/main"/>
          <a:p xmlns:a="http://schemas.openxmlformats.org/drawingml/2006/main">
            <a:pPr algn="ctr">
              <a:defRPr sz="1500" b="1">
                <a:solidFill>
                  <a:srgbClr val="7890A8"/>
                </a:solidFill>
                <a:latin typeface="Arial"/>
                <a:ea typeface="Arial"/>
                <a:cs typeface="Arial"/>
              </a:defRPr>
            </a:pPr>
            <a:r>
              <a:rPr sz="1500" b="1">
                <a:solidFill>
                  <a:srgbClr val="7890A8"/>
                </a:solidFill>
                <a:latin typeface="Arial"/>
                <a:ea typeface="Arial"/>
                <a:cs typeface="Arial"/>
              </a:rPr>
              <a:t>›</a:t>
            </a:r>
          </a:p>
        </p:txBody>
      </p:sp>
      <p:sp>
        <p:nvSpPr>
          <p:cNvPr id="44" name="">
            <a:extLst xmlns:a="http://schemas.openxmlformats.org/drawingml/2006/main">
              <a:ext uri="{FF2B5EF4-FFF2-40B4-BE49-F238E27FC236}">
                <a16:creationId xmlns:a16="http://schemas.microsoft.com/office/drawing/2014/main" id="{887CE725-CC54-46D8-A4B4-580CCB9EE212}"/>
              </a:ext>
            </a:extLst>
          </p:cNvPr>
          <p:cNvSpPr>
            <a:spLocks xmlns:a="http://schemas.openxmlformats.org/drawingml/2006/main" noGrp="1"/>
          </p:cNvSpPr>
          <p:nvPr/>
        </p:nvSpPr>
        <p:spPr>
          <a:xfrm xmlns:a="http://schemas.openxmlformats.org/drawingml/2006/main">
            <a:off x="3419475" y="3714750"/>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234F7A"/>
                </a:solidFill>
                <a:latin typeface="Arial"/>
                <a:ea typeface="Arial"/>
                <a:cs typeface="Arial"/>
              </a:defRPr>
            </a:pPr>
            <a:r>
              <a:rPr sz="975" b="1">
                <a:solidFill>
                  <a:srgbClr val="234F7A"/>
                </a:solidFill>
                <a:latin typeface="Arial"/>
                <a:ea typeface="Arial"/>
                <a:cs typeface="Arial"/>
              </a:rPr>
              <a:t>2  BPS / Susenas</a:t>
            </a:r>
          </a:p>
        </p:txBody>
      </p:sp>
      <p:sp>
        <p:nvSpPr>
          <p:cNvPr id="45" name="">
            <a:extLst xmlns:a="http://schemas.openxmlformats.org/drawingml/2006/main">
              <a:ext uri="{FF2B5EF4-FFF2-40B4-BE49-F238E27FC236}">
                <a16:creationId xmlns:a16="http://schemas.microsoft.com/office/drawing/2014/main" id="{E5F049EE-716B-4FFE-A9B6-BCF167BA3AB8}"/>
              </a:ext>
            </a:extLst>
          </p:cNvPr>
          <p:cNvSpPr>
            <a:spLocks xmlns:a="http://schemas.openxmlformats.org/drawingml/2006/main" noGrp="1"/>
          </p:cNvSpPr>
          <p:nvPr/>
        </p:nvSpPr>
        <p:spPr>
          <a:xfrm xmlns:a="http://schemas.openxmlformats.org/drawingml/2006/main">
            <a:off x="5800725" y="37052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1217"/>
          </a:bodyPr>
          <a:lstStyle xmlns:a="http://schemas.openxmlformats.org/drawingml/2006/main"/>
          <a:p xmlns:a="http://schemas.openxmlformats.org/drawingml/2006/main">
            <a:pPr algn="ctr">
              <a:defRPr sz="1500" b="1">
                <a:solidFill>
                  <a:srgbClr val="7890A8"/>
                </a:solidFill>
                <a:latin typeface="Arial"/>
                <a:ea typeface="Arial"/>
                <a:cs typeface="Arial"/>
              </a:defRPr>
            </a:pPr>
            <a:r>
              <a:rPr sz="1500" b="1">
                <a:solidFill>
                  <a:srgbClr val="7890A8"/>
                </a:solidFill>
                <a:latin typeface="Arial"/>
                <a:ea typeface="Arial"/>
                <a:cs typeface="Arial"/>
              </a:rPr>
              <a:t>›</a:t>
            </a:r>
          </a:p>
        </p:txBody>
      </p:sp>
      <p:sp>
        <p:nvSpPr>
          <p:cNvPr id="46" name="">
            <a:extLst xmlns:a="http://schemas.openxmlformats.org/drawingml/2006/main">
              <a:ext uri="{FF2B5EF4-FFF2-40B4-BE49-F238E27FC236}">
                <a16:creationId xmlns:a16="http://schemas.microsoft.com/office/drawing/2014/main" id="{BBAD69EC-5C19-478F-9730-A177DAF79DDB}"/>
              </a:ext>
            </a:extLst>
          </p:cNvPr>
          <p:cNvSpPr>
            <a:spLocks xmlns:a="http://schemas.openxmlformats.org/drawingml/2006/main" noGrp="1"/>
          </p:cNvSpPr>
          <p:nvPr/>
        </p:nvSpPr>
        <p:spPr>
          <a:xfrm xmlns:a="http://schemas.openxmlformats.org/drawingml/2006/main">
            <a:off x="6153150" y="3714750"/>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234F7A"/>
                </a:solidFill>
                <a:latin typeface="Arial"/>
                <a:ea typeface="Arial"/>
                <a:cs typeface="Arial"/>
              </a:defRPr>
            </a:pPr>
            <a:r>
              <a:rPr sz="975" b="1">
                <a:solidFill>
                  <a:srgbClr val="234F7A"/>
                </a:solidFill>
                <a:latin typeface="Arial"/>
                <a:ea typeface="Arial"/>
                <a:cs typeface="Arial"/>
              </a:rPr>
              <a:t>3  Sistem atau situs OPD</a:t>
            </a:r>
          </a:p>
        </p:txBody>
      </p:sp>
      <p:sp>
        <p:nvSpPr>
          <p:cNvPr id="47" name="">
            <a:extLst xmlns:a="http://schemas.openxmlformats.org/drawingml/2006/main">
              <a:ext uri="{FF2B5EF4-FFF2-40B4-BE49-F238E27FC236}">
                <a16:creationId xmlns:a16="http://schemas.microsoft.com/office/drawing/2014/main" id="{34A1936B-7DAA-4F40-AF12-62B7F6552D0A}"/>
              </a:ext>
            </a:extLst>
          </p:cNvPr>
          <p:cNvSpPr>
            <a:spLocks xmlns:a="http://schemas.openxmlformats.org/drawingml/2006/main" noGrp="1"/>
          </p:cNvSpPr>
          <p:nvPr/>
        </p:nvSpPr>
        <p:spPr>
          <a:xfrm xmlns:a="http://schemas.openxmlformats.org/drawingml/2006/main">
            <a:off x="8534400" y="37052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1217"/>
          </a:bodyPr>
          <a:lstStyle xmlns:a="http://schemas.openxmlformats.org/drawingml/2006/main"/>
          <a:p xmlns:a="http://schemas.openxmlformats.org/drawingml/2006/main">
            <a:pPr algn="ctr">
              <a:defRPr sz="1500" b="1">
                <a:solidFill>
                  <a:srgbClr val="7890A8"/>
                </a:solidFill>
                <a:latin typeface="Arial"/>
                <a:ea typeface="Arial"/>
                <a:cs typeface="Arial"/>
              </a:defRPr>
            </a:pPr>
            <a:r>
              <a:rPr sz="1500" b="1">
                <a:solidFill>
                  <a:srgbClr val="7890A8"/>
                </a:solidFill>
                <a:latin typeface="Arial"/>
                <a:ea typeface="Arial"/>
                <a:cs typeface="Arial"/>
              </a:rPr>
              <a:t>›</a:t>
            </a:r>
          </a:p>
        </p:txBody>
      </p:sp>
      <p:sp>
        <p:nvSpPr>
          <p:cNvPr id="48" name="">
            <a:extLst xmlns:a="http://schemas.openxmlformats.org/drawingml/2006/main">
              <a:ext uri="{FF2B5EF4-FFF2-40B4-BE49-F238E27FC236}">
                <a16:creationId xmlns:a16="http://schemas.microsoft.com/office/drawing/2014/main" id="{665E035A-A9D5-4998-9432-EA27E7844DC3}"/>
              </a:ext>
            </a:extLst>
          </p:cNvPr>
          <p:cNvSpPr>
            <a:spLocks xmlns:a="http://schemas.openxmlformats.org/drawingml/2006/main" noGrp="1"/>
          </p:cNvSpPr>
          <p:nvPr/>
        </p:nvSpPr>
        <p:spPr>
          <a:xfrm xmlns:a="http://schemas.openxmlformats.org/drawingml/2006/main">
            <a:off x="8886825" y="3714750"/>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234F7A"/>
                </a:solidFill>
                <a:latin typeface="Arial"/>
                <a:ea typeface="Arial"/>
                <a:cs typeface="Arial"/>
              </a:defRPr>
            </a:pPr>
            <a:r>
              <a:rPr sz="975" b="1">
                <a:solidFill>
                  <a:srgbClr val="234F7A"/>
                </a:solidFill>
                <a:latin typeface="Arial"/>
                <a:ea typeface="Arial"/>
                <a:cs typeface="Arial"/>
              </a:rPr>
              <a:t>4  Berkas resmi sementara</a:t>
            </a:r>
          </a:p>
        </p:txBody>
      </p:sp>
      <p:sp>
        <p:nvSpPr>
          <p:cNvPr id="49" name="">
            <a:extLst xmlns:a="http://schemas.openxmlformats.org/drawingml/2006/main">
              <a:ext uri="{FF2B5EF4-FFF2-40B4-BE49-F238E27FC236}">
                <a16:creationId xmlns:a16="http://schemas.microsoft.com/office/drawing/2014/main" id="{BA3EC764-A61B-40CC-91E2-376E068608F0}"/>
              </a:ext>
            </a:extLst>
          </p:cNvPr>
          <p:cNvSpPr>
            <a:spLocks xmlns:a="http://schemas.openxmlformats.org/drawingml/2006/main" noGrp="1"/>
          </p:cNvSpPr>
          <p:nvPr/>
        </p:nvSpPr>
        <p:spPr>
          <a:xfrm xmlns:a="http://schemas.openxmlformats.org/drawingml/2006/main">
            <a:off x="495300" y="4371975"/>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102A4C"/>
                </a:solidFill>
                <a:latin typeface="Arial"/>
                <a:ea typeface="Arial"/>
                <a:cs typeface="Arial"/>
              </a:defRPr>
            </a:pPr>
            <a:r>
              <a:rPr sz="825" b="1">
                <a:solidFill>
                  <a:srgbClr val="102A4C"/>
                </a:solidFill>
                <a:latin typeface="Arial"/>
                <a:ea typeface="Arial"/>
                <a:cs typeface="Arial"/>
              </a:rPr>
              <a:t>PEMBAGIAN PERAN</a:t>
            </a:r>
          </a:p>
        </p:txBody>
      </p:sp>
      <p:sp>
        <p:nvSpPr>
          <p:cNvPr id="50" name="">
            <a:extLst xmlns:a="http://schemas.openxmlformats.org/drawingml/2006/main">
              <a:ext uri="{FF2B5EF4-FFF2-40B4-BE49-F238E27FC236}">
                <a16:creationId xmlns:a16="http://schemas.microsoft.com/office/drawing/2014/main" id="{45D71B81-8CAB-4AF6-A6C9-5D74A6F416DD}"/>
              </a:ext>
            </a:extLst>
          </p:cNvPr>
          <p:cNvSpPr>
            <a:spLocks xmlns:a="http://schemas.openxmlformats.org/drawingml/2006/main" noGrp="1"/>
          </p:cNvSpPr>
          <p:nvPr/>
        </p:nvSpPr>
        <p:spPr>
          <a:xfrm xmlns:a="http://schemas.openxmlformats.org/drawingml/2006/main">
            <a:off x="495300" y="4657725"/>
            <a:ext cx="2609850" cy="885825"/>
          </a:xfrm>
          <a:prstGeom xmlns:a="http://schemas.openxmlformats.org/drawingml/2006/main" prst="roundRect">
            <a:avLst>
              <a:gd name="adj" fmla="val 8602"/>
            </a:avLst>
          </a:prstGeom>
          <a:solidFill xmlns:a="http://schemas.openxmlformats.org/drawingml/2006/main">
            <a:srgbClr val="FFFFFF"/>
          </a:solidFill>
          <a:ln xmlns:a="http://schemas.openxmlformats.org/drawingml/2006/main" w="9525">
            <a:solidFill>
              <a:srgbClr val="D7E0EA"/>
            </a:solidFill>
          </a:ln>
        </p:spPr>
      </p:sp>
      <p:sp>
        <p:nvSpPr>
          <p:cNvPr id="51" name="">
            <a:extLst xmlns:a="http://schemas.openxmlformats.org/drawingml/2006/main">
              <a:ext uri="{FF2B5EF4-FFF2-40B4-BE49-F238E27FC236}">
                <a16:creationId xmlns:a16="http://schemas.microsoft.com/office/drawing/2014/main" id="{CC64FC63-967A-4DFF-BBC4-D6675B735C6E}"/>
              </a:ext>
            </a:extLst>
          </p:cNvPr>
          <p:cNvSpPr>
            <a:spLocks xmlns:a="http://schemas.openxmlformats.org/drawingml/2006/main" noGrp="1"/>
          </p:cNvSpPr>
          <p:nvPr/>
        </p:nvSpPr>
        <p:spPr>
          <a:xfrm xmlns:a="http://schemas.openxmlformats.org/drawingml/2006/main">
            <a:off x="495300" y="4657725"/>
            <a:ext cx="2609850" cy="57150"/>
          </a:xfrm>
          <a:prstGeom xmlns:a="http://schemas.openxmlformats.org/drawingml/2006/main" prst="rect">
            <a:avLst/>
          </a:prstGeom>
          <a:solidFill xmlns:a="http://schemas.openxmlformats.org/drawingml/2006/main">
            <a:srgbClr val="2868B2"/>
          </a:solidFill>
          <a:ln xmlns:a="http://schemas.openxmlformats.org/drawingml/2006/main" w="9525">
            <a:solidFill>
              <a:srgbClr val="2868B2"/>
            </a:solidFill>
          </a:ln>
        </p:spPr>
      </p:sp>
      <p:sp>
        <p:nvSpPr>
          <p:cNvPr id="52" name="">
            <a:extLst xmlns:a="http://schemas.openxmlformats.org/drawingml/2006/main">
              <a:ext uri="{FF2B5EF4-FFF2-40B4-BE49-F238E27FC236}">
                <a16:creationId xmlns:a16="http://schemas.microsoft.com/office/drawing/2014/main" id="{0E9D2A99-A35E-49F4-BCBA-828CA5086EB7}"/>
              </a:ext>
            </a:extLst>
          </p:cNvPr>
          <p:cNvSpPr>
            <a:spLocks xmlns:a="http://schemas.openxmlformats.org/drawingml/2006/main" noGrp="1"/>
          </p:cNvSpPr>
          <p:nvPr/>
        </p:nvSpPr>
        <p:spPr>
          <a:xfrm xmlns:a="http://schemas.openxmlformats.org/drawingml/2006/main">
            <a:off x="638175" y="479107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556"/>
          </a:bodyPr>
          <a:lstStyle xmlns:a="http://schemas.openxmlformats.org/drawingml/2006/main"/>
          <a:p xmlns:a="http://schemas.openxmlformats.org/drawingml/2006/main">
            <a:pPr algn="l">
              <a:defRPr sz="1125" b="1">
                <a:solidFill>
                  <a:srgbClr val="2868B2"/>
                </a:solidFill>
                <a:latin typeface="Arial"/>
                <a:ea typeface="Arial"/>
                <a:cs typeface="Arial"/>
              </a:defRPr>
            </a:pPr>
            <a:r>
              <a:rPr sz="1125" b="1">
                <a:solidFill>
                  <a:srgbClr val="2868B2"/>
                </a:solidFill>
                <a:latin typeface="Arial"/>
                <a:ea typeface="Arial"/>
                <a:cs typeface="Arial"/>
              </a:rPr>
              <a:t>OPD</a:t>
            </a:r>
          </a:p>
        </p:txBody>
      </p:sp>
      <p:sp>
        <p:nvSpPr>
          <p:cNvPr id="53" name="">
            <a:extLst xmlns:a="http://schemas.openxmlformats.org/drawingml/2006/main">
              <a:ext uri="{FF2B5EF4-FFF2-40B4-BE49-F238E27FC236}">
                <a16:creationId xmlns:a16="http://schemas.microsoft.com/office/drawing/2014/main" id="{5F791828-03F2-4E17-BD7D-4711F748486A}"/>
              </a:ext>
            </a:extLst>
          </p:cNvPr>
          <p:cNvSpPr>
            <a:spLocks xmlns:a="http://schemas.openxmlformats.org/drawingml/2006/main" noGrp="1"/>
          </p:cNvSpPr>
          <p:nvPr/>
        </p:nvSpPr>
        <p:spPr>
          <a:xfrm xmlns:a="http://schemas.openxmlformats.org/drawingml/2006/main">
            <a:off x="638175" y="5057775"/>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25" b="0">
                <a:solidFill>
                  <a:srgbClr val="5E7086"/>
                </a:solidFill>
                <a:latin typeface="Arial"/>
                <a:ea typeface="Arial"/>
                <a:cs typeface="Arial"/>
              </a:defRPr>
            </a:pPr>
            <a:r>
              <a:rPr sz="825" b="0">
                <a:solidFill>
                  <a:srgbClr val="5E7086"/>
                </a:solidFill>
                <a:latin typeface="Arial"/>
                <a:ea typeface="Arial"/>
                <a:cs typeface="Arial"/>
              </a:rPr>
              <a:t>Menjaga definisi dan mengonfirmasi substansi data</a:t>
            </a:r>
          </a:p>
        </p:txBody>
      </p:sp>
      <p:sp>
        <p:nvSpPr>
          <p:cNvPr id="54" name="">
            <a:extLst xmlns:a="http://schemas.openxmlformats.org/drawingml/2006/main">
              <a:ext uri="{FF2B5EF4-FFF2-40B4-BE49-F238E27FC236}">
                <a16:creationId xmlns:a16="http://schemas.microsoft.com/office/drawing/2014/main" id="{9440ADE5-FEAF-4D32-965C-12257B8CFBD3}"/>
              </a:ext>
            </a:extLst>
          </p:cNvPr>
          <p:cNvSpPr>
            <a:spLocks xmlns:a="http://schemas.openxmlformats.org/drawingml/2006/main" noGrp="1"/>
          </p:cNvSpPr>
          <p:nvPr/>
        </p:nvSpPr>
        <p:spPr>
          <a:xfrm xmlns:a="http://schemas.openxmlformats.org/drawingml/2006/main">
            <a:off x="3295650" y="4657725"/>
            <a:ext cx="2609850" cy="885825"/>
          </a:xfrm>
          <a:prstGeom xmlns:a="http://schemas.openxmlformats.org/drawingml/2006/main" prst="roundRect">
            <a:avLst>
              <a:gd name="adj" fmla="val 8602"/>
            </a:avLst>
          </a:prstGeom>
          <a:solidFill xmlns:a="http://schemas.openxmlformats.org/drawingml/2006/main">
            <a:srgbClr val="FFFFFF"/>
          </a:solidFill>
          <a:ln xmlns:a="http://schemas.openxmlformats.org/drawingml/2006/main" w="9525">
            <a:solidFill>
              <a:srgbClr val="D7E0EA"/>
            </a:solidFill>
          </a:ln>
        </p:spPr>
      </p:sp>
      <p:sp>
        <p:nvSpPr>
          <p:cNvPr id="55" name="">
            <a:extLst xmlns:a="http://schemas.openxmlformats.org/drawingml/2006/main">
              <a:ext uri="{FF2B5EF4-FFF2-40B4-BE49-F238E27FC236}">
                <a16:creationId xmlns:a16="http://schemas.microsoft.com/office/drawing/2014/main" id="{A1286CC5-ABA2-485D-BEC9-621F923FC5BB}"/>
              </a:ext>
            </a:extLst>
          </p:cNvPr>
          <p:cNvSpPr>
            <a:spLocks xmlns:a="http://schemas.openxmlformats.org/drawingml/2006/main" noGrp="1"/>
          </p:cNvSpPr>
          <p:nvPr/>
        </p:nvSpPr>
        <p:spPr>
          <a:xfrm xmlns:a="http://schemas.openxmlformats.org/drawingml/2006/main">
            <a:off x="3295650" y="4657725"/>
            <a:ext cx="2609850" cy="57150"/>
          </a:xfrm>
          <a:prstGeom xmlns:a="http://schemas.openxmlformats.org/drawingml/2006/main" prst="rect">
            <a:avLst/>
          </a:prstGeom>
          <a:solidFill xmlns:a="http://schemas.openxmlformats.org/drawingml/2006/main">
            <a:srgbClr val="16A7A1"/>
          </a:solidFill>
          <a:ln xmlns:a="http://schemas.openxmlformats.org/drawingml/2006/main" w="9525">
            <a:solidFill>
              <a:srgbClr val="16A7A1"/>
            </a:solidFill>
          </a:ln>
        </p:spPr>
      </p:sp>
      <p:sp>
        <p:nvSpPr>
          <p:cNvPr id="56" name="">
            <a:extLst xmlns:a="http://schemas.openxmlformats.org/drawingml/2006/main">
              <a:ext uri="{FF2B5EF4-FFF2-40B4-BE49-F238E27FC236}">
                <a16:creationId xmlns:a16="http://schemas.microsoft.com/office/drawing/2014/main" id="{EE198811-56CF-4601-9D3F-E686363C0AE8}"/>
              </a:ext>
            </a:extLst>
          </p:cNvPr>
          <p:cNvSpPr>
            <a:spLocks xmlns:a="http://schemas.openxmlformats.org/drawingml/2006/main" noGrp="1"/>
          </p:cNvSpPr>
          <p:nvPr/>
        </p:nvSpPr>
        <p:spPr>
          <a:xfrm xmlns:a="http://schemas.openxmlformats.org/drawingml/2006/main">
            <a:off x="3438525" y="479107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556"/>
          </a:bodyPr>
          <a:lstStyle xmlns:a="http://schemas.openxmlformats.org/drawingml/2006/main"/>
          <a:p xmlns:a="http://schemas.openxmlformats.org/drawingml/2006/main">
            <a:pPr algn="l">
              <a:defRPr sz="1125" b="1">
                <a:solidFill>
                  <a:srgbClr val="16A7A1"/>
                </a:solidFill>
                <a:latin typeface="Arial"/>
                <a:ea typeface="Arial"/>
                <a:cs typeface="Arial"/>
              </a:defRPr>
            </a:pPr>
            <a:r>
              <a:rPr sz="1125" b="1">
                <a:solidFill>
                  <a:srgbClr val="16A7A1"/>
                </a:solidFill>
                <a:latin typeface="Arial"/>
                <a:ea typeface="Arial"/>
                <a:cs typeface="Arial"/>
              </a:rPr>
              <a:t>Diskominfosantik</a:t>
            </a:r>
          </a:p>
        </p:txBody>
      </p:sp>
      <p:sp>
        <p:nvSpPr>
          <p:cNvPr id="57" name="">
            <a:extLst xmlns:a="http://schemas.openxmlformats.org/drawingml/2006/main">
              <a:ext uri="{FF2B5EF4-FFF2-40B4-BE49-F238E27FC236}">
                <a16:creationId xmlns:a16="http://schemas.microsoft.com/office/drawing/2014/main" id="{2314D964-955E-4878-9EEB-4AC0B943B4AD}"/>
              </a:ext>
            </a:extLst>
          </p:cNvPr>
          <p:cNvSpPr>
            <a:spLocks xmlns:a="http://schemas.openxmlformats.org/drawingml/2006/main" noGrp="1"/>
          </p:cNvSpPr>
          <p:nvPr/>
        </p:nvSpPr>
        <p:spPr>
          <a:xfrm xmlns:a="http://schemas.openxmlformats.org/drawingml/2006/main">
            <a:off x="3438525" y="5057775"/>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25" b="0">
                <a:solidFill>
                  <a:srgbClr val="5E7086"/>
                </a:solidFill>
                <a:latin typeface="Arial"/>
                <a:ea typeface="Arial"/>
                <a:cs typeface="Arial"/>
              </a:defRPr>
            </a:pPr>
            <a:r>
              <a:rPr sz="825" b="0">
                <a:solidFill>
                  <a:srgbClr val="5E7086"/>
                </a:solidFill>
                <a:latin typeface="Arial"/>
                <a:ea typeface="Arial"/>
                <a:cs typeface="Arial"/>
              </a:rPr>
              <a:t>Menjaga koneksi, metadata, keamanan, dan log</a:t>
            </a:r>
          </a:p>
        </p:txBody>
      </p:sp>
      <p:sp>
        <p:nvSpPr>
          <p:cNvPr id="58" name="">
            <a:extLst xmlns:a="http://schemas.openxmlformats.org/drawingml/2006/main">
              <a:ext uri="{FF2B5EF4-FFF2-40B4-BE49-F238E27FC236}">
                <a16:creationId xmlns:a16="http://schemas.microsoft.com/office/drawing/2014/main" id="{755CEEBC-1000-453F-A1F3-23B20FBD0CC4}"/>
              </a:ext>
            </a:extLst>
          </p:cNvPr>
          <p:cNvSpPr>
            <a:spLocks xmlns:a="http://schemas.openxmlformats.org/drawingml/2006/main" noGrp="1"/>
          </p:cNvSpPr>
          <p:nvPr/>
        </p:nvSpPr>
        <p:spPr>
          <a:xfrm xmlns:a="http://schemas.openxmlformats.org/drawingml/2006/main">
            <a:off x="6096000" y="4657725"/>
            <a:ext cx="2609850" cy="885825"/>
          </a:xfrm>
          <a:prstGeom xmlns:a="http://schemas.openxmlformats.org/drawingml/2006/main" prst="roundRect">
            <a:avLst>
              <a:gd name="adj" fmla="val 8602"/>
            </a:avLst>
          </a:prstGeom>
          <a:solidFill xmlns:a="http://schemas.openxmlformats.org/drawingml/2006/main">
            <a:srgbClr val="FFFFFF"/>
          </a:solidFill>
          <a:ln xmlns:a="http://schemas.openxmlformats.org/drawingml/2006/main" w="9525">
            <a:solidFill>
              <a:srgbClr val="D7E0EA"/>
            </a:solidFill>
          </a:ln>
        </p:spPr>
      </p:sp>
      <p:sp>
        <p:nvSpPr>
          <p:cNvPr id="59" name="">
            <a:extLst xmlns:a="http://schemas.openxmlformats.org/drawingml/2006/main">
              <a:ext uri="{FF2B5EF4-FFF2-40B4-BE49-F238E27FC236}">
                <a16:creationId xmlns:a16="http://schemas.microsoft.com/office/drawing/2014/main" id="{21A3AF78-30FF-4212-80AA-4FDE7DD6EA39}"/>
              </a:ext>
            </a:extLst>
          </p:cNvPr>
          <p:cNvSpPr>
            <a:spLocks xmlns:a="http://schemas.openxmlformats.org/drawingml/2006/main" noGrp="1"/>
          </p:cNvSpPr>
          <p:nvPr/>
        </p:nvSpPr>
        <p:spPr>
          <a:xfrm xmlns:a="http://schemas.openxmlformats.org/drawingml/2006/main">
            <a:off x="6096000" y="4657725"/>
            <a:ext cx="2609850" cy="57150"/>
          </a:xfrm>
          <a:prstGeom xmlns:a="http://schemas.openxmlformats.org/drawingml/2006/main" prst="rect">
            <a:avLst/>
          </a:prstGeom>
          <a:solidFill xmlns:a="http://schemas.openxmlformats.org/drawingml/2006/main">
            <a:srgbClr val="F0A000"/>
          </a:solidFill>
          <a:ln xmlns:a="http://schemas.openxmlformats.org/drawingml/2006/main" w="9525">
            <a:solidFill>
              <a:srgbClr val="F0A000"/>
            </a:solidFill>
          </a:ln>
        </p:spPr>
      </p:sp>
      <p:sp>
        <p:nvSpPr>
          <p:cNvPr id="60" name="">
            <a:extLst xmlns:a="http://schemas.openxmlformats.org/drawingml/2006/main">
              <a:ext uri="{FF2B5EF4-FFF2-40B4-BE49-F238E27FC236}">
                <a16:creationId xmlns:a16="http://schemas.microsoft.com/office/drawing/2014/main" id="{AD85443A-8B1F-4AD8-BFED-116681DB8BA8}"/>
              </a:ext>
            </a:extLst>
          </p:cNvPr>
          <p:cNvSpPr>
            <a:spLocks xmlns:a="http://schemas.openxmlformats.org/drawingml/2006/main" noGrp="1"/>
          </p:cNvSpPr>
          <p:nvPr/>
        </p:nvSpPr>
        <p:spPr>
          <a:xfrm xmlns:a="http://schemas.openxmlformats.org/drawingml/2006/main">
            <a:off x="6238875" y="479107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556"/>
          </a:bodyPr>
          <a:lstStyle xmlns:a="http://schemas.openxmlformats.org/drawingml/2006/main"/>
          <a:p xmlns:a="http://schemas.openxmlformats.org/drawingml/2006/main">
            <a:pPr algn="l">
              <a:defRPr sz="1125" b="1">
                <a:solidFill>
                  <a:srgbClr val="F0A000"/>
                </a:solidFill>
                <a:latin typeface="Arial"/>
                <a:ea typeface="Arial"/>
                <a:cs typeface="Arial"/>
              </a:defRPr>
            </a:pPr>
            <a:r>
              <a:rPr sz="1125" b="1">
                <a:solidFill>
                  <a:srgbClr val="F0A000"/>
                </a:solidFill>
                <a:latin typeface="Arial"/>
                <a:ea typeface="Arial"/>
                <a:cs typeface="Arial"/>
              </a:rPr>
              <a:t>BAPPERIDA</a:t>
            </a:r>
          </a:p>
        </p:txBody>
      </p:sp>
      <p:sp>
        <p:nvSpPr>
          <p:cNvPr id="61" name="">
            <a:extLst xmlns:a="http://schemas.openxmlformats.org/drawingml/2006/main">
              <a:ext uri="{FF2B5EF4-FFF2-40B4-BE49-F238E27FC236}">
                <a16:creationId xmlns:a16="http://schemas.microsoft.com/office/drawing/2014/main" id="{94B56FC7-F3D6-48C1-937D-1ED12A26684D}"/>
              </a:ext>
            </a:extLst>
          </p:cNvPr>
          <p:cNvSpPr>
            <a:spLocks xmlns:a="http://schemas.openxmlformats.org/drawingml/2006/main" noGrp="1"/>
          </p:cNvSpPr>
          <p:nvPr/>
        </p:nvSpPr>
        <p:spPr>
          <a:xfrm xmlns:a="http://schemas.openxmlformats.org/drawingml/2006/main">
            <a:off x="6238875" y="5057775"/>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25" b="0">
                <a:solidFill>
                  <a:srgbClr val="5E7086"/>
                </a:solidFill>
                <a:latin typeface="Arial"/>
                <a:ea typeface="Arial"/>
                <a:cs typeface="Arial"/>
              </a:defRPr>
            </a:pPr>
            <a:r>
              <a:rPr sz="825" b="0">
                <a:solidFill>
                  <a:srgbClr val="5E7086"/>
                </a:solidFill>
                <a:latin typeface="Arial"/>
                <a:ea typeface="Arial"/>
                <a:cs typeface="Arial"/>
              </a:rPr>
              <a:t>Menetapkan kebutuhan, merekonsiliasi, dan menyetujui tayang</a:t>
            </a:r>
          </a:p>
        </p:txBody>
      </p:sp>
      <p:sp>
        <p:nvSpPr>
          <p:cNvPr id="62" name="">
            <a:extLst xmlns:a="http://schemas.openxmlformats.org/drawingml/2006/main">
              <a:ext uri="{FF2B5EF4-FFF2-40B4-BE49-F238E27FC236}">
                <a16:creationId xmlns:a16="http://schemas.microsoft.com/office/drawing/2014/main" id="{21172AF4-CA75-4666-BDF1-0A08663B49EB}"/>
              </a:ext>
            </a:extLst>
          </p:cNvPr>
          <p:cNvSpPr>
            <a:spLocks xmlns:a="http://schemas.openxmlformats.org/drawingml/2006/main" noGrp="1"/>
          </p:cNvSpPr>
          <p:nvPr/>
        </p:nvSpPr>
        <p:spPr>
          <a:xfrm xmlns:a="http://schemas.openxmlformats.org/drawingml/2006/main">
            <a:off x="8896350" y="4657725"/>
            <a:ext cx="2609850" cy="885825"/>
          </a:xfrm>
          <a:prstGeom xmlns:a="http://schemas.openxmlformats.org/drawingml/2006/main" prst="roundRect">
            <a:avLst>
              <a:gd name="adj" fmla="val 8602"/>
            </a:avLst>
          </a:prstGeom>
          <a:solidFill xmlns:a="http://schemas.openxmlformats.org/drawingml/2006/main">
            <a:srgbClr val="FFFFFF"/>
          </a:solidFill>
          <a:ln xmlns:a="http://schemas.openxmlformats.org/drawingml/2006/main" w="9525">
            <a:solidFill>
              <a:srgbClr val="D7E0EA"/>
            </a:solidFill>
          </a:ln>
        </p:spPr>
      </p:sp>
      <p:sp>
        <p:nvSpPr>
          <p:cNvPr id="63" name="">
            <a:extLst xmlns:a="http://schemas.openxmlformats.org/drawingml/2006/main">
              <a:ext uri="{FF2B5EF4-FFF2-40B4-BE49-F238E27FC236}">
                <a16:creationId xmlns:a16="http://schemas.microsoft.com/office/drawing/2014/main" id="{CCD7738F-9ED1-4D21-9F50-5709C94D00CE}"/>
              </a:ext>
            </a:extLst>
          </p:cNvPr>
          <p:cNvSpPr>
            <a:spLocks xmlns:a="http://schemas.openxmlformats.org/drawingml/2006/main" noGrp="1"/>
          </p:cNvSpPr>
          <p:nvPr/>
        </p:nvSpPr>
        <p:spPr>
          <a:xfrm xmlns:a="http://schemas.openxmlformats.org/drawingml/2006/main">
            <a:off x="8896350" y="4657725"/>
            <a:ext cx="2609850" cy="57150"/>
          </a:xfrm>
          <a:prstGeom xmlns:a="http://schemas.openxmlformats.org/drawingml/2006/main" prst="rect">
            <a:avLst/>
          </a:prstGeom>
          <a:solidFill xmlns:a="http://schemas.openxmlformats.org/drawingml/2006/main">
            <a:srgbClr val="249B50"/>
          </a:solidFill>
          <a:ln xmlns:a="http://schemas.openxmlformats.org/drawingml/2006/main" w="9525">
            <a:solidFill>
              <a:srgbClr val="249B50"/>
            </a:solidFill>
          </a:ln>
        </p:spPr>
      </p:sp>
      <p:sp>
        <p:nvSpPr>
          <p:cNvPr id="64" name="">
            <a:extLst xmlns:a="http://schemas.openxmlformats.org/drawingml/2006/main">
              <a:ext uri="{FF2B5EF4-FFF2-40B4-BE49-F238E27FC236}">
                <a16:creationId xmlns:a16="http://schemas.microsoft.com/office/drawing/2014/main" id="{2D409B5E-EAEF-426A-B8B0-85EB04EDCF4E}"/>
              </a:ext>
            </a:extLst>
          </p:cNvPr>
          <p:cNvSpPr>
            <a:spLocks xmlns:a="http://schemas.openxmlformats.org/drawingml/2006/main" noGrp="1"/>
          </p:cNvSpPr>
          <p:nvPr/>
        </p:nvSpPr>
        <p:spPr>
          <a:xfrm xmlns:a="http://schemas.openxmlformats.org/drawingml/2006/main">
            <a:off x="9039225" y="4791075"/>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556"/>
          </a:bodyPr>
          <a:lstStyle xmlns:a="http://schemas.openxmlformats.org/drawingml/2006/main"/>
          <a:p xmlns:a="http://schemas.openxmlformats.org/drawingml/2006/main">
            <a:pPr algn="l">
              <a:defRPr sz="1125" b="1">
                <a:solidFill>
                  <a:srgbClr val="249B50"/>
                </a:solidFill>
                <a:latin typeface="Arial"/>
                <a:ea typeface="Arial"/>
                <a:cs typeface="Arial"/>
              </a:defRPr>
            </a:pPr>
            <a:r>
              <a:rPr sz="1125" b="1">
                <a:solidFill>
                  <a:srgbClr val="249B50"/>
                </a:solidFill>
                <a:latin typeface="Arial"/>
                <a:ea typeface="Arial"/>
                <a:cs typeface="Arial"/>
              </a:rPr>
              <a:t>Bupati</a:t>
            </a:r>
          </a:p>
        </p:txBody>
      </p:sp>
      <p:sp>
        <p:nvSpPr>
          <p:cNvPr id="65" name="">
            <a:extLst xmlns:a="http://schemas.openxmlformats.org/drawingml/2006/main">
              <a:ext uri="{FF2B5EF4-FFF2-40B4-BE49-F238E27FC236}">
                <a16:creationId xmlns:a16="http://schemas.microsoft.com/office/drawing/2014/main" id="{57BA5E61-A792-4B4C-885F-51ABF07DC5D6}"/>
              </a:ext>
            </a:extLst>
          </p:cNvPr>
          <p:cNvSpPr>
            <a:spLocks xmlns:a="http://schemas.openxmlformats.org/drawingml/2006/main" noGrp="1"/>
          </p:cNvSpPr>
          <p:nvPr/>
        </p:nvSpPr>
        <p:spPr>
          <a:xfrm xmlns:a="http://schemas.openxmlformats.org/drawingml/2006/main">
            <a:off x="9039225" y="5057775"/>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25" b="0">
                <a:solidFill>
                  <a:srgbClr val="5E7086"/>
                </a:solidFill>
                <a:latin typeface="Arial"/>
                <a:ea typeface="Arial"/>
                <a:cs typeface="Arial"/>
              </a:defRPr>
            </a:pPr>
            <a:r>
              <a:rPr sz="825" b="0">
                <a:solidFill>
                  <a:srgbClr val="5E7086"/>
                </a:solidFill>
                <a:latin typeface="Arial"/>
                <a:ea typeface="Arial"/>
                <a:cs typeface="Arial"/>
              </a:rPr>
              <a:t>Membaca data final untuk arah kebijakan dan tindak lanjut</a:t>
            </a:r>
          </a:p>
        </p:txBody>
      </p:sp>
      <p:sp>
        <p:nvSpPr>
          <p:cNvPr id="66" name="">
            <a:extLst xmlns:a="http://schemas.openxmlformats.org/drawingml/2006/main">
              <a:ext uri="{FF2B5EF4-FFF2-40B4-BE49-F238E27FC236}">
                <a16:creationId xmlns:a16="http://schemas.microsoft.com/office/drawing/2014/main" id="{7604FB1C-53B1-4677-8762-8E5E9F4357FA}"/>
              </a:ext>
            </a:extLst>
          </p:cNvPr>
          <p:cNvSpPr>
            <a:spLocks xmlns:a="http://schemas.openxmlformats.org/drawingml/2006/main" noGrp="1"/>
          </p:cNvSpPr>
          <p:nvPr/>
        </p:nvSpPr>
        <p:spPr>
          <a:xfrm xmlns:a="http://schemas.openxmlformats.org/drawingml/2006/main">
            <a:off x="495300" y="5857875"/>
            <a:ext cx="11201400" cy="590550"/>
          </a:xfrm>
          <a:prstGeom xmlns:a="http://schemas.openxmlformats.org/drawingml/2006/main" prst="roundRect">
            <a:avLst>
              <a:gd name="adj" fmla="val 12903"/>
            </a:avLst>
          </a:prstGeom>
          <a:solidFill xmlns:a="http://schemas.openxmlformats.org/drawingml/2006/main">
            <a:srgbClr val="102E50"/>
          </a:solidFill>
          <a:ln xmlns:a="http://schemas.openxmlformats.org/drawingml/2006/main" w="9525">
            <a:solidFill>
              <a:srgbClr val="102E50"/>
            </a:solidFill>
          </a:ln>
        </p:spPr>
      </p:sp>
      <p:sp>
        <p:nvSpPr>
          <p:cNvPr id="67" name="">
            <a:extLst xmlns:a="http://schemas.openxmlformats.org/drawingml/2006/main">
              <a:ext uri="{FF2B5EF4-FFF2-40B4-BE49-F238E27FC236}">
                <a16:creationId xmlns:a16="http://schemas.microsoft.com/office/drawing/2014/main" id="{3254589F-D0DC-4CE1-974E-C9A9DF2E3016}"/>
              </a:ext>
            </a:extLst>
          </p:cNvPr>
          <p:cNvSpPr>
            <a:spLocks xmlns:a="http://schemas.openxmlformats.org/drawingml/2006/main" noGrp="1"/>
          </p:cNvSpPr>
          <p:nvPr/>
        </p:nvSpPr>
        <p:spPr>
          <a:xfrm xmlns:a="http://schemas.openxmlformats.org/drawingml/2006/main">
            <a:off x="685800" y="5972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25" b="1">
                <a:solidFill>
                  <a:srgbClr val="8FD5D1"/>
                </a:solidFill>
                <a:latin typeface="Arial"/>
                <a:ea typeface="Arial"/>
                <a:cs typeface="Arial"/>
              </a:defRPr>
            </a:pPr>
            <a:r>
              <a:rPr sz="825" b="1">
                <a:solidFill>
                  <a:srgbClr val="8FD5D1"/>
                </a:solidFill>
                <a:latin typeface="Arial"/>
                <a:ea typeface="Arial"/>
                <a:cs typeface="Arial"/>
              </a:rPr>
              <a:t>Prinsip utama</a:t>
            </a:r>
          </a:p>
        </p:txBody>
      </p:sp>
      <p:sp>
        <p:nvSpPr>
          <p:cNvPr id="68" name="">
            <a:extLst xmlns:a="http://schemas.openxmlformats.org/drawingml/2006/main">
              <a:ext uri="{FF2B5EF4-FFF2-40B4-BE49-F238E27FC236}">
                <a16:creationId xmlns:a16="http://schemas.microsoft.com/office/drawing/2014/main" id="{3CF2FA77-53B6-4444-96FA-2A3D98492AD8}"/>
              </a:ext>
            </a:extLst>
          </p:cNvPr>
          <p:cNvSpPr>
            <a:spLocks xmlns:a="http://schemas.openxmlformats.org/drawingml/2006/main" noGrp="1"/>
          </p:cNvSpPr>
          <p:nvPr/>
        </p:nvSpPr>
        <p:spPr>
          <a:xfrm xmlns:a="http://schemas.openxmlformats.org/drawingml/2006/main">
            <a:off x="1924050" y="5924550"/>
            <a:ext cx="9467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023"/>
          </a:bodyPr>
          <a:lstStyle xmlns:a="http://schemas.openxmlformats.org/drawingml/2006/main"/>
          <a:p xmlns:a="http://schemas.openxmlformats.org/drawingml/2006/main">
            <a:pPr algn="l">
              <a:defRPr sz="1125" b="1">
                <a:solidFill>
                  <a:srgbClr val="FFFFFF"/>
                </a:solidFill>
                <a:latin typeface="Arial"/>
                <a:ea typeface="Arial"/>
                <a:cs typeface="Arial"/>
              </a:defRPr>
            </a:pPr>
            <a:r>
              <a:rPr sz="1125" b="1">
                <a:solidFill>
                  <a:srgbClr val="FFFFFF"/>
                </a:solidFill>
                <a:latin typeface="Arial"/>
                <a:ea typeface="Arial"/>
                <a:cs typeface="Arial"/>
              </a:rPr>
              <a:t>SABABUKA tidak mengganti sistem OPD. Sistem ini menyatukan sumber, menjaga jejak data, dan meneruskan hanya data yang layak ke Ringkasan Pimpinan.</a:t>
            </a:r>
          </a:p>
        </p:txBody>
      </p:sp>
      <p:sp>
        <p:nvSpPr>
          <p:cNvPr id="69" name="">
            <a:extLst xmlns:a="http://schemas.openxmlformats.org/drawingml/2006/main">
              <a:ext uri="{FF2B5EF4-FFF2-40B4-BE49-F238E27FC236}">
                <a16:creationId xmlns:a16="http://schemas.microsoft.com/office/drawing/2014/main" id="{209FF05D-B965-4DEC-899B-6E841FE842EB}"/>
              </a:ext>
            </a:extLst>
          </p:cNvPr>
          <p:cNvSpPr>
            <a:spLocks xmlns:a="http://schemas.openxmlformats.org/drawingml/2006/main" noGrp="1"/>
          </p:cNvSpPr>
          <p:nvPr/>
        </p:nvSpPr>
        <p:spPr>
          <a:xfrm xmlns:a="http://schemas.openxmlformats.org/drawingml/2006/main">
            <a:off x="495300" y="65341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lgn="l">
              <a:defRPr sz="675" b="0">
                <a:solidFill>
                  <a:srgbClr val="7B8CA0"/>
                </a:solidFill>
                <a:latin typeface="Arial"/>
                <a:ea typeface="Arial"/>
                <a:cs typeface="Arial"/>
              </a:defRPr>
            </a:pPr>
            <a:r>
              <a:rPr sz="675" b="0">
                <a:solidFill>
                  <a:srgbClr val="7B8CA0"/>
                </a:solidFill>
                <a:latin typeface="Arial"/>
                <a:ea typeface="Arial"/>
                <a:cs typeface="Arial"/>
              </a:rPr>
              <a:t>Roadmap internal pengembangan SABABUKA</a:t>
            </a:r>
          </a:p>
        </p:txBody>
      </p:sp>
      <p:sp>
        <p:nvSpPr>
          <p:cNvPr id="70" name="">
            <a:extLst xmlns:a="http://schemas.openxmlformats.org/drawingml/2006/main">
              <a:ext uri="{FF2B5EF4-FFF2-40B4-BE49-F238E27FC236}">
                <a16:creationId xmlns:a16="http://schemas.microsoft.com/office/drawing/2014/main" id="{E47E02C5-80A0-4B3A-B7A4-9B6AA83F92C6}"/>
              </a:ext>
            </a:extLst>
          </p:cNvPr>
          <p:cNvSpPr>
            <a:spLocks xmlns:a="http://schemas.openxmlformats.org/drawingml/2006/main" noGrp="1"/>
          </p:cNvSpPr>
          <p:nvPr/>
        </p:nvSpPr>
        <p:spPr>
          <a:xfrm xmlns:a="http://schemas.openxmlformats.org/drawingml/2006/main">
            <a:off x="9906000" y="6534150"/>
            <a:ext cx="1790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lgn="r">
              <a:defRPr sz="675" b="0">
                <a:solidFill>
                  <a:srgbClr val="7B8CA0"/>
                </a:solidFill>
                <a:latin typeface="Arial"/>
                <a:ea typeface="Arial"/>
                <a:cs typeface="Arial"/>
              </a:defRPr>
            </a:pPr>
            <a:r>
              <a:rPr sz="675" b="0">
                <a:solidFill>
                  <a:srgbClr val="7B8CA0"/>
                </a:solidFill>
                <a:latin typeface="Arial"/>
                <a:ea typeface="Arial"/>
                <a:cs typeface="Arial"/>
              </a:rPr>
              <a:t>Kabupaten Kapuas</a:t>
            </a:r>
          </a:p>
        </p:txBody>
      </p:sp>
    </p:spTree>
    <p:extLst>
      <p:ext uri="{BB962C8B-B14F-4D97-AF65-F5344CB8AC3E}">
        <p14:creationId xmlns:p14="http://schemas.microsoft.com/office/powerpoint/2010/main" val="18602886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2026-09-25T00:40:46.0030000Z</dcterms:created>
  <dcterms:modified xsi:type="dcterms:W3CDTF">2026-09-25T00:40:46.0040000Z</dcterms:modified>
</coreProperties>
</file>