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b1fc0e287914f5d" /><Relationship Type="http://schemas.openxmlformats.org/officeDocument/2006/relationships/extended-properties" Target="/docProps/app.xml" Id="Rd4aaf8112ef54a10" /><Relationship Type="http://schemas.openxmlformats.org/officeDocument/2006/relationships/officeDocument" Target="/ppt/presentation.xml" Id="R17a0a930bc6d4674" /></Relationships>
</file>

<file path=ppt/presentation.xml><?xml version="1.0" encoding="utf-8"?>
<p:presentation xmlns:p="http://schemas.openxmlformats.org/presentationml/2006/main">
  <p:sldMasterIdLst>
    <p:sldMasterId xmlns:r="http://schemas.openxmlformats.org/officeDocument/2006/relationships" id="2147483648" r:id="R6b5608c486454e6b"/>
  </p:sldMasterIdLst>
  <p:notesMasterIdLst>
    <p:notesMasterId xmlns:r="http://schemas.openxmlformats.org/officeDocument/2006/relationships" r:id="R5dea58fe8a20480d"/>
  </p:notesMasterIdLst>
  <p:sldIdLst>
    <p:sldId xmlns:r="http://schemas.openxmlformats.org/officeDocument/2006/relationships" id="256" r:id="R0d84612382b14a38"/>
    <p:sldId xmlns:r="http://schemas.openxmlformats.org/officeDocument/2006/relationships" id="257" r:id="R584b436aa7bd49e2"/>
    <p:sldId xmlns:r="http://schemas.openxmlformats.org/officeDocument/2006/relationships" id="258" r:id="R4028b2f11e1b45b5"/>
    <p:sldId xmlns:r="http://schemas.openxmlformats.org/officeDocument/2006/relationships" id="259" r:id="R9dffe3c694594ba6"/>
    <p:sldId xmlns:r="http://schemas.openxmlformats.org/officeDocument/2006/relationships" id="260" r:id="R68dbb830c7b845e6"/>
    <p:sldId xmlns:r="http://schemas.openxmlformats.org/officeDocument/2006/relationships" id="261" r:id="R90807af208b94ed7"/>
    <p:sldId xmlns:r="http://schemas.openxmlformats.org/officeDocument/2006/relationships" id="262" r:id="Rcd388b69c4d442c6"/>
    <p:sldId xmlns:r="http://schemas.openxmlformats.org/officeDocument/2006/relationships" id="263" r:id="R5e5bc2bdf09d440f"/>
    <p:sldId xmlns:r="http://schemas.openxmlformats.org/officeDocument/2006/relationships" id="264" r:id="R702044c38c3040a1"/>
    <p:sldId xmlns:r="http://schemas.openxmlformats.org/officeDocument/2006/relationships" id="265" r:id="R17acac93ba4f4dc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12e8925624a47a6" /><Relationship Type="http://schemas.openxmlformats.org/officeDocument/2006/relationships/slideMaster" Target="/ppt/slideMasters/slideMaster1.xml" Id="R6b5608c486454e6b" /><Relationship Type="http://schemas.openxmlformats.org/officeDocument/2006/relationships/notesMaster" Target="/ppt/notesMasters/notesMaster1.xml" Id="R5dea58fe8a20480d" /><Relationship Type="http://schemas.openxmlformats.org/officeDocument/2006/relationships/presProps" Target="/ppt/presProps.xml" Id="R86cb573ea35844aa" /><Relationship Type="http://schemas.openxmlformats.org/officeDocument/2006/relationships/tableStyles" Target="/ppt/tableStyles.xml" Id="R8accbfa95f294fce" /><Relationship Type="http://schemas.openxmlformats.org/officeDocument/2006/relationships/slide" Target="/ppt/slides/slide1.xml" Id="R0d84612382b14a38" /><Relationship Type="http://schemas.openxmlformats.org/officeDocument/2006/relationships/slide" Target="/ppt/slides/slide2.xml" Id="R584b436aa7bd49e2" /><Relationship Type="http://schemas.openxmlformats.org/officeDocument/2006/relationships/slide" Target="/ppt/slides/slide3.xml" Id="R4028b2f11e1b45b5" /><Relationship Type="http://schemas.openxmlformats.org/officeDocument/2006/relationships/slide" Target="/ppt/slides/slide4.xml" Id="R9dffe3c694594ba6" /><Relationship Type="http://schemas.openxmlformats.org/officeDocument/2006/relationships/slide" Target="/ppt/slides/slide5.xml" Id="R68dbb830c7b845e6" /><Relationship Type="http://schemas.openxmlformats.org/officeDocument/2006/relationships/slide" Target="/ppt/slides/slide6.xml" Id="R90807af208b94ed7" /><Relationship Type="http://schemas.openxmlformats.org/officeDocument/2006/relationships/slide" Target="/ppt/slides/slide7.xml" Id="Rcd388b69c4d442c6" /><Relationship Type="http://schemas.openxmlformats.org/officeDocument/2006/relationships/slide" Target="/ppt/slides/slide8.xml" Id="R5e5bc2bdf09d440f" /><Relationship Type="http://schemas.openxmlformats.org/officeDocument/2006/relationships/slide" Target="/ppt/slides/slide9.xml" Id="R702044c38c3040a1" /><Relationship Type="http://schemas.openxmlformats.org/officeDocument/2006/relationships/slide" Target="/ppt/slides/slide10.xml" Id="R17acac93ba4f4dc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201a599aa764cb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41d314ec1f547fa" /><Relationship Type="http://schemas.openxmlformats.org/officeDocument/2006/relationships/notesMaster" Target="/ppt/notesMasters/notesMaster1.xml" Id="R0dc0e207f53947be" /></Relationships>
</file>

<file path=ppt/notesSlides/_rels/notesSlide2.xml.rels>&#65279;<?xml version="1.0" encoding="utf-8"?><Relationships xmlns="http://schemas.openxmlformats.org/package/2006/relationships"><Relationship Type="http://schemas.openxmlformats.org/officeDocument/2006/relationships/slide" Target="/ppt/slides/slide2.xml" Id="R3eb0dced778a43ff" /><Relationship Type="http://schemas.openxmlformats.org/officeDocument/2006/relationships/notesMaster" Target="/ppt/notesMasters/notesMaster1.xml" Id="R280decdadc7c408c" /></Relationships>
</file>

<file path=ppt/notesSlides/_rels/notesSlide3.xml.rels>&#65279;<?xml version="1.0" encoding="utf-8"?><Relationships xmlns="http://schemas.openxmlformats.org/package/2006/relationships"><Relationship Type="http://schemas.openxmlformats.org/officeDocument/2006/relationships/slide" Target="/ppt/slides/slide3.xml" Id="R9d9bd5bc4bc34828" /><Relationship Type="http://schemas.openxmlformats.org/officeDocument/2006/relationships/notesMaster" Target="/ppt/notesMasters/notesMaster1.xml" Id="Rda2bbe6e2091423d" /></Relationships>
</file>

<file path=ppt/notesSlides/_rels/notesSlide4.xml.rels>&#65279;<?xml version="1.0" encoding="utf-8"?><Relationships xmlns="http://schemas.openxmlformats.org/package/2006/relationships"><Relationship Type="http://schemas.openxmlformats.org/officeDocument/2006/relationships/slide" Target="/ppt/slides/slide4.xml" Id="R734cf59794d44c7a" /><Relationship Type="http://schemas.openxmlformats.org/officeDocument/2006/relationships/notesMaster" Target="/ppt/notesMasters/notesMaster1.xml" Id="R72d1906c0cf54127" /></Relationships>
</file>

<file path=ppt/notesSlides/_rels/notesSlide5.xml.rels>&#65279;<?xml version="1.0" encoding="utf-8"?><Relationships xmlns="http://schemas.openxmlformats.org/package/2006/relationships"><Relationship Type="http://schemas.openxmlformats.org/officeDocument/2006/relationships/slide" Target="/ppt/slides/slide5.xml" Id="R065ab412abea44fd" /><Relationship Type="http://schemas.openxmlformats.org/officeDocument/2006/relationships/notesMaster" Target="/ppt/notesMasters/notesMaster1.xml" Id="R1605f3cbffdc478b" /></Relationships>
</file>

<file path=ppt/notesSlides/_rels/notesSlide6.xml.rels>&#65279;<?xml version="1.0" encoding="utf-8"?><Relationships xmlns="http://schemas.openxmlformats.org/package/2006/relationships"><Relationship Type="http://schemas.openxmlformats.org/officeDocument/2006/relationships/slide" Target="/ppt/slides/slide6.xml" Id="Rda5b2d6d73a74838" /><Relationship Type="http://schemas.openxmlformats.org/officeDocument/2006/relationships/notesMaster" Target="/ppt/notesMasters/notesMaster1.xml" Id="R8261fe1571f2464c" /></Relationships>
</file>

<file path=ppt/notesSlides/_rels/notesSlide7.xml.rels>&#65279;<?xml version="1.0" encoding="utf-8"?><Relationships xmlns="http://schemas.openxmlformats.org/package/2006/relationships"><Relationship Type="http://schemas.openxmlformats.org/officeDocument/2006/relationships/slide" Target="/ppt/slides/slide7.xml" Id="Rc8a0b88871734a15" /><Relationship Type="http://schemas.openxmlformats.org/officeDocument/2006/relationships/notesMaster" Target="/ppt/notesMasters/notesMaster1.xml" Id="Ra27f92f04fa54f2e" /></Relationships>
</file>

<file path=ppt/notesSlides/_rels/notesSlide8.xml.rels>&#65279;<?xml version="1.0" encoding="utf-8"?><Relationships xmlns="http://schemas.openxmlformats.org/package/2006/relationships"><Relationship Type="http://schemas.openxmlformats.org/officeDocument/2006/relationships/slide" Target="/ppt/slides/slide8.xml" Id="Rf7cca116d9d04b5a" /><Relationship Type="http://schemas.openxmlformats.org/officeDocument/2006/relationships/notesMaster" Target="/ppt/notesMasters/notesMaster1.xml" Id="Rc3bbc5bf031e4c15" /></Relationships>
</file>

<file path=ppt/notesSlides/_rels/notesSlide9.xml.rels>&#65279;<?xml version="1.0" encoding="utf-8"?><Relationships xmlns="http://schemas.openxmlformats.org/package/2006/relationships"><Relationship Type="http://schemas.openxmlformats.org/officeDocument/2006/relationships/slide" Target="/ppt/slides/slide9.xml" Id="Rf6f828edbd13465b" /><Relationship Type="http://schemas.openxmlformats.org/officeDocument/2006/relationships/notesMaster" Target="/ppt/notesMasters/notesMaster1.xml" Id="R78bee57ca56e436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d5d1d9a43bf41b3" /><Relationship Type="http://schemas.openxmlformats.org/officeDocument/2006/relationships/notesMaster" Target="/ppt/notesMasters/notesMaster1.xml" Id="Raeaf4b91eb3e4e7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Pegangan bicara: SABABUKA merupakan rancangan ruang kerja data untuk membantu pimpinan membaca kondisi daerah, menelusuri sumber angka, dan mengarahkan tindak lanjut. Pertemuan ini menguji kesesuaian alur tersebut dengan kebutuhan BAPPERIDA dan menyiapkan FGD. Hindari istilah teknis pada pembukaan.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Pegangan bicara: sebut empat bagian ini tanpa membacakan uraian. Kalimat transisi: 'Saya mulai dari kebutuhan kerja, lalu menunjukkan bagaimana prototipe merespons kebutuhan tersebut. Setelah itu kita bahas apa yang perlu diputuskan melalui FGD.'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Jangan menyatakan empat poin ini sebagai fakta. Minta koreksi. Posisi BAPPERIDA menurut Perbup Kapuas Nomor 13 Tahun 2025 mencakup perencanaan pembangunan, riset, dan inovasi daerah. Sumber: https://jdih.kapuaskab.go.id/dokumen/view?id=613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Pegangan bicara: jelaskan alur dari kiri ke kanan. Data masuk dari perangkat daerah, sistem menyamakan konteksnya, pejabat berwenang memvalidasi, lalu pimpinan menggunakan hasilnya. Jika ditanya teknologi, jawab bahwa arsitektur final mengikuti keputusan integrasi, keamanan, dan kewenangan data pada FGD.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Pegangan bicara: fitur kiri benar-benar dapat ditunjukkan pada demo. Poin kanan merupakan agenda keputusan. Jika ditanya apakah chatbot sudah AI, jawab: 'Saat ini simulasi lokal agar alur interaksi dapat diuji. Integrasi model AI baru layak dilakukan setelah sumber data, hak akses, dan audit jawaban disepakati.'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Urutan klik: Ringkasan Eksekutif, ubah tahun 2026 ke 2023 lalu kembali ke 2026, buka Peta Wilayah, Kinerja OPD, Keuangan Daerah, Pusat Peringatan, Validasi Data, lalu Asisten Data. Pada Asisten Data pilih pertanyaan cepat tentang tren stunting atau indikator kritis. Jangan membuka semua menu. Kalimat pengaman jika angka dipersoalkan: 'Angka ini data dummy. Yang kami uji hari ini adalah cara membaca perubahan, jejak sumber, dan alur tindak lanjut.'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Tanyakan apakah satu hari realistis. Bila peserta banyak, tawarkan pra-FGD teknis untuk menyaring indikator dan FGD utama untuk keputusan lintas perangkat daerah.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Pegangan bicara: jangan jelaskan fitur sebagai daftar menu. Gunakan empat kelompok manfaat ini. Jika diminta membuka fitur tertentu, jelaskan hubungan fitur tersebut dengan keputusan, sumber data, dan penanggung jawabnya.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Pegangan bicara: angka 10–15 indikator dan tenggat 3–5 hari merupakan usulan agar lingkup awal terkendali. Jika BAPPERIDA mengusulkan ruang lingkup lebih besar, arahkan pembahasan pada prioritas pilot dan kesiapan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Teknik penutup: rangkum setiap keputusan, sebut PIC, dan konfirmasi tenggat. Kirim notulen maksimal 1 x 24 jam setelah pertemuan.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26c9b0d46a145b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8471aa2c6e34a02" /><Relationship Type="http://schemas.openxmlformats.org/officeDocument/2006/relationships/slideLayout" Target="/ppt/slideLayouts/slideLayout1.xml" Id="Re4bba045ed6c43a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4bba045ed6c43a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b4ec195546947a4" /><Relationship Type="http://schemas.openxmlformats.org/officeDocument/2006/relationships/notesSlide" Target="/ppt/notesSlides/notesSlide1.xml" Id="Re496091b6ea7440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8a43a6fb32a40dd" /><Relationship Type="http://schemas.openxmlformats.org/officeDocument/2006/relationships/notesSlide" Target="/ppt/notesSlides/notesSlide2.xml" Id="R66e708746a97465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57f313992f14805" /><Relationship Type="http://schemas.openxmlformats.org/officeDocument/2006/relationships/notesSlide" Target="/ppt/notesSlides/notesSlide3.xml" Id="R09f431cfdb01451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88c79c54f3d46e9" /><Relationship Type="http://schemas.openxmlformats.org/officeDocument/2006/relationships/notesSlide" Target="/ppt/notesSlides/notesSlide4.xml" Id="R09ffb950941d46a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0afce3cd4854db7" /><Relationship Type="http://schemas.openxmlformats.org/officeDocument/2006/relationships/notesSlide" Target="/ppt/notesSlides/notesSlide5.xml" Id="Rf7f68e45b84f4d8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7b7d05bce474518" /><Relationship Type="http://schemas.openxmlformats.org/officeDocument/2006/relationships/notesSlide" Target="/ppt/notesSlides/notesSlide6.xml" Id="Rca53a321a71345e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13f2c7de9144a0a" /><Relationship Type="http://schemas.openxmlformats.org/officeDocument/2006/relationships/notesSlide" Target="/ppt/notesSlides/notesSlide7.xml" Id="Rb069b7412515443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fe541249eb14d0a" /><Relationship Type="http://schemas.openxmlformats.org/officeDocument/2006/relationships/notesSlide" Target="/ppt/notesSlides/notesSlide8.xml" Id="R5b24e8d742254f8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cb9717cd1d544a2" /><Relationship Type="http://schemas.openxmlformats.org/officeDocument/2006/relationships/notesSlide" Target="/ppt/notesSlides/notesSlide9.xml" Id="R4d07d811ec0241d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020afc90b6a4bc7" /><Relationship Type="http://schemas.openxmlformats.org/officeDocument/2006/relationships/notesSlide" Target="/ppt/notesSlides/notesSlide10.xml" Id="R64353c92509943fb" /></Relationships>
</file>

<file path=ppt/slides/slide1.xml><?xml version="1.0" encoding="utf-8"?>
<p:sld xmlns:p="http://schemas.openxmlformats.org/presentationml/2006/main">
  <p:cSld>
    <p:bg>
      <p:bgPr>
        <a:solidFill xmlns:a="http://schemas.openxmlformats.org/drawingml/2006/main">
          <a:srgbClr val="0B2545"/>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C47D823-B8C3-4A84-8C46-985C1ADC8488}"/>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5DA9E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8457F91-264D-454A-9A72-E156E3BF55B5}"/>
              </a:ext>
            </a:extLst>
          </p:cNvPr>
          <p:cNvSpPr>
            <a:spLocks xmlns:a="http://schemas.openxmlformats.org/drawingml/2006/main" noGrp="1"/>
          </p:cNvSpPr>
          <p:nvPr/>
        </p:nvSpPr>
        <p:spPr>
          <a:xfrm xmlns:a="http://schemas.openxmlformats.org/drawingml/2006/main">
            <a:off x="8286750" y="0"/>
            <a:ext cx="3905250" cy="6858000"/>
          </a:xfrm>
          <a:prstGeom xmlns:a="http://schemas.openxmlformats.org/drawingml/2006/main" prst="rect">
            <a:avLst/>
          </a:prstGeom>
          <a:solidFill xmlns:a="http://schemas.openxmlformats.org/drawingml/2006/main">
            <a:srgbClr val="12365D"/>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9DB4919-AA9F-4191-B991-BDA7897FD4CA}"/>
              </a:ext>
            </a:extLst>
          </p:cNvPr>
          <p:cNvSpPr>
            <a:spLocks xmlns:a="http://schemas.openxmlformats.org/drawingml/2006/main" noGrp="1"/>
          </p:cNvSpPr>
          <p:nvPr/>
        </p:nvSpPr>
        <p:spPr>
          <a:xfrm xmlns:a="http://schemas.openxmlformats.org/drawingml/2006/main">
            <a:off x="9001125" y="1104900"/>
            <a:ext cx="1714500" cy="1714500"/>
          </a:xfrm>
          <a:prstGeom xmlns:a="http://schemas.openxmlformats.org/drawingml/2006/main" prst="roundRect">
            <a:avLst>
              <a:gd name="adj" fmla="val 4444"/>
            </a:avLst>
          </a:prstGeom>
          <a:solidFill xmlns:a="http://schemas.openxmlformats.org/drawingml/2006/main">
            <a:srgbClr val="163F6D"/>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DD31F3B-2365-4BDC-B0A8-4A7FABA4FEF0}"/>
              </a:ext>
            </a:extLst>
          </p:cNvPr>
          <p:cNvSpPr>
            <a:spLocks xmlns:a="http://schemas.openxmlformats.org/drawingml/2006/main" noGrp="1"/>
          </p:cNvSpPr>
          <p:nvPr/>
        </p:nvSpPr>
        <p:spPr>
          <a:xfrm xmlns:a="http://schemas.openxmlformats.org/drawingml/2006/main">
            <a:off x="9001125" y="1066800"/>
            <a:ext cx="1714500"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6900" b="1">
                <a:solidFill>
                  <a:srgbClr val="E4A72C"/>
                </a:solidFill>
                <a:latin typeface="Aptos"/>
                <a:ea typeface="Aptos"/>
                <a:cs typeface="Aptos"/>
              </a:defRPr>
            </a:pPr>
            <a:r>
              <a:rPr sz="6900" b="1">
                <a:solidFill>
                  <a:srgbClr val="E4A72C"/>
                </a:solidFill>
                <a:latin typeface="Aptos"/>
                <a:ea typeface="Aptos"/>
                <a:cs typeface="Aptos"/>
              </a:rPr>
              <a:t>S</a:t>
            </a:r>
          </a:p>
        </p:txBody>
      </p:sp>
      <p:sp>
        <p:nvSpPr>
          <p:cNvPr id="5" name="">
            <a:extLst xmlns:a="http://schemas.openxmlformats.org/drawingml/2006/main">
              <a:ext uri="{FF2B5EF4-FFF2-40B4-BE49-F238E27FC236}">
                <a16:creationId xmlns:a16="http://schemas.microsoft.com/office/drawing/2014/main" id="{1F34A686-3E3E-4267-9610-435AA30EE852}"/>
              </a:ext>
            </a:extLst>
          </p:cNvPr>
          <p:cNvSpPr>
            <a:spLocks xmlns:a="http://schemas.openxmlformats.org/drawingml/2006/main" noGrp="1"/>
          </p:cNvSpPr>
          <p:nvPr/>
        </p:nvSpPr>
        <p:spPr>
          <a:xfrm xmlns:a="http://schemas.openxmlformats.org/drawingml/2006/main">
            <a:off x="742950" y="1219200"/>
            <a:ext cx="68580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050" b="1">
                <a:solidFill>
                  <a:srgbClr val="FFFFFF"/>
                </a:solidFill>
                <a:latin typeface="Aptos"/>
                <a:ea typeface="Aptos"/>
                <a:cs typeface="Aptos"/>
              </a:defRPr>
            </a:pPr>
            <a:r>
              <a:rPr sz="4050" b="1">
                <a:solidFill>
                  <a:srgbClr val="FFFFFF"/>
                </a:solidFill>
                <a:latin typeface="Aptos"/>
                <a:ea typeface="Aptos"/>
                <a:cs typeface="Aptos"/>
              </a:rPr>
              <a:t>SABABUKA</a:t>
            </a:r>
          </a:p>
          <a:p xmlns:a="http://schemas.openxmlformats.org/drawingml/2006/main">
            <a:pPr>
              <a:defRPr sz="4050" b="1">
                <a:solidFill>
                  <a:srgbClr val="FFFFFF"/>
                </a:solidFill>
                <a:latin typeface="Aptos"/>
                <a:ea typeface="Aptos"/>
                <a:cs typeface="Aptos"/>
              </a:defRPr>
            </a:pPr>
            <a:r>
              <a:rPr sz="4050" b="1">
                <a:solidFill>
                  <a:srgbClr val="FFFFFF"/>
                </a:solidFill>
                <a:latin typeface="Aptos"/>
                <a:ea typeface="Aptos"/>
                <a:cs typeface="Aptos"/>
              </a:rPr>
              <a:t>BERSINAR</a:t>
            </a:r>
          </a:p>
        </p:txBody>
      </p:sp>
      <p:sp>
        <p:nvSpPr>
          <p:cNvPr id="6" name="">
            <a:extLst xmlns:a="http://schemas.openxmlformats.org/drawingml/2006/main">
              <a:ext uri="{FF2B5EF4-FFF2-40B4-BE49-F238E27FC236}">
                <a16:creationId xmlns:a16="http://schemas.microsoft.com/office/drawing/2014/main" id="{5A975F67-343A-4FD1-B58E-3F1E0CC46953}"/>
              </a:ext>
            </a:extLst>
          </p:cNvPr>
          <p:cNvSpPr>
            <a:spLocks xmlns:a="http://schemas.openxmlformats.org/drawingml/2006/main" noGrp="1"/>
          </p:cNvSpPr>
          <p:nvPr/>
        </p:nvSpPr>
        <p:spPr>
          <a:xfrm xmlns:a="http://schemas.openxmlformats.org/drawingml/2006/main">
            <a:off x="781050" y="3028950"/>
            <a:ext cx="676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75" b="0">
                <a:solidFill>
                  <a:srgbClr val="C7D8E8"/>
                </a:solidFill>
                <a:latin typeface="Aptos"/>
                <a:ea typeface="Aptos"/>
                <a:cs typeface="Aptos"/>
              </a:defRPr>
            </a:pPr>
            <a:r>
              <a:rPr sz="1875" b="0">
                <a:solidFill>
                  <a:srgbClr val="C7D8E8"/>
                </a:solidFill>
                <a:latin typeface="Aptos"/>
                <a:ea typeface="Aptos"/>
                <a:cs typeface="Aptos"/>
              </a:rPr>
              <a:t>Paparan demo dan diskusi kebutuhan data</a:t>
            </a:r>
          </a:p>
          <a:p xmlns:a="http://schemas.openxmlformats.org/drawingml/2006/main">
            <a:pPr>
              <a:defRPr sz="1875" b="0">
                <a:solidFill>
                  <a:srgbClr val="C7D8E8"/>
                </a:solidFill>
                <a:latin typeface="Aptos"/>
                <a:ea typeface="Aptos"/>
                <a:cs typeface="Aptos"/>
              </a:defRPr>
            </a:pPr>
            <a:r>
              <a:rPr sz="1875" b="0">
                <a:solidFill>
                  <a:srgbClr val="C7D8E8"/>
                </a:solidFill>
                <a:latin typeface="Aptos"/>
                <a:ea typeface="Aptos"/>
                <a:cs typeface="Aptos"/>
              </a:rPr>
              <a:t>untuk perencanaan dan pengendalian pembangunan</a:t>
            </a:r>
          </a:p>
        </p:txBody>
      </p:sp>
      <p:sp>
        <p:nvSpPr>
          <p:cNvPr id="7" name="">
            <a:extLst xmlns:a="http://schemas.openxmlformats.org/drawingml/2006/main">
              <a:ext uri="{FF2B5EF4-FFF2-40B4-BE49-F238E27FC236}">
                <a16:creationId xmlns:a16="http://schemas.microsoft.com/office/drawing/2014/main" id="{CF0166A9-884B-4B25-96C2-CBA057A52529}"/>
              </a:ext>
            </a:extLst>
          </p:cNvPr>
          <p:cNvSpPr>
            <a:spLocks xmlns:a="http://schemas.openxmlformats.org/drawingml/2006/main" noGrp="1"/>
          </p:cNvSpPr>
          <p:nvPr/>
        </p:nvSpPr>
        <p:spPr>
          <a:xfrm xmlns:a="http://schemas.openxmlformats.org/drawingml/2006/main">
            <a:off x="781050" y="4267200"/>
            <a:ext cx="5715000" cy="19050"/>
          </a:xfrm>
          <a:prstGeom xmlns:a="http://schemas.openxmlformats.org/drawingml/2006/main" prst="rect">
            <a:avLst/>
          </a:prstGeom>
          <a:solidFill xmlns:a="http://schemas.openxmlformats.org/drawingml/2006/main">
            <a:srgbClr val="3A5D7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91D1874-0E0D-4CA5-AF32-6FC2135B1411}"/>
              </a:ext>
            </a:extLst>
          </p:cNvPr>
          <p:cNvSpPr>
            <a:spLocks xmlns:a="http://schemas.openxmlformats.org/drawingml/2006/main" noGrp="1"/>
          </p:cNvSpPr>
          <p:nvPr/>
        </p:nvSpPr>
        <p:spPr>
          <a:xfrm xmlns:a="http://schemas.openxmlformats.org/drawingml/2006/main">
            <a:off x="781050" y="4524375"/>
            <a:ext cx="676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FFFFFF"/>
                </a:solidFill>
                <a:latin typeface="Aptos"/>
                <a:ea typeface="Aptos"/>
                <a:cs typeface="Aptos"/>
              </a:defRPr>
            </a:pPr>
            <a:r>
              <a:rPr sz="1500" b="1">
                <a:solidFill>
                  <a:srgbClr val="FFFFFF"/>
                </a:solidFill>
                <a:latin typeface="Aptos"/>
                <a:ea typeface="Aptos"/>
                <a:cs typeface="Aptos"/>
              </a:rPr>
              <a:t>Persiapan FGD bersama BAPPERIDA Kabupaten Kapuas</a:t>
            </a:r>
          </a:p>
        </p:txBody>
      </p:sp>
      <p:sp>
        <p:nvSpPr>
          <p:cNvPr id="9" name="">
            <a:extLst xmlns:a="http://schemas.openxmlformats.org/drawingml/2006/main">
              <a:ext uri="{FF2B5EF4-FFF2-40B4-BE49-F238E27FC236}">
                <a16:creationId xmlns:a16="http://schemas.microsoft.com/office/drawing/2014/main" id="{90D385A8-E70E-4F54-8A42-B94FAFCF072D}"/>
              </a:ext>
            </a:extLst>
          </p:cNvPr>
          <p:cNvSpPr>
            <a:spLocks xmlns:a="http://schemas.openxmlformats.org/drawingml/2006/main" noGrp="1"/>
          </p:cNvSpPr>
          <p:nvPr/>
        </p:nvSpPr>
        <p:spPr>
          <a:xfrm xmlns:a="http://schemas.openxmlformats.org/drawingml/2006/main">
            <a:off x="781050" y="5048250"/>
            <a:ext cx="676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AFC4D7"/>
                </a:solidFill>
                <a:latin typeface="Aptos"/>
                <a:ea typeface="Aptos"/>
                <a:cs typeface="Aptos"/>
              </a:defRPr>
            </a:pPr>
            <a:r>
              <a:rPr sz="1275" b="0">
                <a:solidFill>
                  <a:srgbClr val="AFC4D7"/>
                </a:solidFill>
                <a:latin typeface="Aptos"/>
                <a:ea typeface="Aptos"/>
                <a:cs typeface="Aptos"/>
              </a:rPr>
              <a:t>11 September 2026  •  Kuala Kapuas</a:t>
            </a:r>
          </a:p>
        </p:txBody>
      </p:sp>
      <p:sp>
        <p:nvSpPr>
          <p:cNvPr id="10" name="">
            <a:extLst xmlns:a="http://schemas.openxmlformats.org/drawingml/2006/main">
              <a:ext uri="{FF2B5EF4-FFF2-40B4-BE49-F238E27FC236}">
                <a16:creationId xmlns:a16="http://schemas.microsoft.com/office/drawing/2014/main" id="{72D1168C-975D-478D-8BDD-23EC3EDCBB86}"/>
              </a:ext>
            </a:extLst>
          </p:cNvPr>
          <p:cNvSpPr>
            <a:spLocks xmlns:a="http://schemas.openxmlformats.org/drawingml/2006/main" noGrp="1"/>
          </p:cNvSpPr>
          <p:nvPr/>
        </p:nvSpPr>
        <p:spPr>
          <a:xfrm xmlns:a="http://schemas.openxmlformats.org/drawingml/2006/main">
            <a:off x="9029700" y="3190875"/>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defRPr sz="1050" b="1">
                <a:solidFill>
                  <a:srgbClr val="5DA9E9"/>
                </a:solidFill>
                <a:latin typeface="Aptos"/>
                <a:ea typeface="Aptos"/>
                <a:cs typeface="Aptos"/>
              </a:defRPr>
            </a:pPr>
            <a:r>
              <a:rPr sz="1050" b="1">
                <a:solidFill>
                  <a:srgbClr val="5DA9E9"/>
                </a:solidFill>
                <a:latin typeface="Aptos"/>
                <a:ea typeface="Aptos"/>
                <a:cs typeface="Aptos"/>
              </a:rPr>
              <a:t>BAHAN DISKUSI</a:t>
            </a:r>
          </a:p>
        </p:txBody>
      </p:sp>
    </p:spTree>
    <p:extLst>
      <p:ext uri="{BB962C8B-B14F-4D97-AF65-F5344CB8AC3E}">
        <p14:creationId xmlns:p14="http://schemas.microsoft.com/office/powerpoint/2010/main" val="43789818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3B858C61-0A68-48C9-B54A-B1C72B4EEC7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5DA9E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B247B78-8C4F-43C5-95C0-35EA4ADF8DF4}"/>
              </a:ext>
            </a:extLst>
          </p:cNvPr>
          <p:cNvSpPr>
            <a:spLocks xmlns:a="http://schemas.openxmlformats.org/drawingml/2006/main" noGrp="1"/>
          </p:cNvSpPr>
          <p:nvPr/>
        </p:nvSpPr>
        <p:spPr>
          <a:xfrm xmlns:a="http://schemas.openxmlformats.org/drawingml/2006/main">
            <a:off x="590550" y="361950"/>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400" b="1">
                <a:solidFill>
                  <a:srgbClr val="0B2545"/>
                </a:solidFill>
                <a:latin typeface="Aptos"/>
                <a:ea typeface="Aptos"/>
                <a:cs typeface="Aptos"/>
              </a:defRPr>
            </a:pPr>
            <a:r>
              <a:rPr sz="2400" b="1">
                <a:solidFill>
                  <a:srgbClr val="0B2545"/>
                </a:solidFill>
                <a:latin typeface="Aptos"/>
                <a:ea typeface="Aptos"/>
                <a:cs typeface="Aptos"/>
              </a:rPr>
              <a:t>Alur pembahasan</a:t>
            </a:r>
          </a:p>
        </p:txBody>
      </p:sp>
      <p:sp>
        <p:nvSpPr>
          <p:cNvPr id="3" name="">
            <a:extLst xmlns:a="http://schemas.openxmlformats.org/drawingml/2006/main">
              <a:ext uri="{FF2B5EF4-FFF2-40B4-BE49-F238E27FC236}">
                <a16:creationId xmlns:a16="http://schemas.microsoft.com/office/drawing/2014/main" id="{B6191F85-9C16-47CC-BB83-A196DA26BF54}"/>
              </a:ext>
            </a:extLst>
          </p:cNvPr>
          <p:cNvSpPr>
            <a:spLocks xmlns:a="http://schemas.openxmlformats.org/drawingml/2006/main" noGrp="1"/>
          </p:cNvSpPr>
          <p:nvPr/>
        </p:nvSpPr>
        <p:spPr>
          <a:xfrm xmlns:a="http://schemas.openxmlformats.org/drawingml/2006/main">
            <a:off x="609600" y="857250"/>
            <a:ext cx="1028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506274"/>
                </a:solidFill>
                <a:latin typeface="Aptos"/>
                <a:ea typeface="Aptos"/>
                <a:cs typeface="Aptos"/>
              </a:defRPr>
            </a:pPr>
            <a:r>
              <a:rPr sz="1275" b="0">
                <a:solidFill>
                  <a:srgbClr val="506274"/>
                </a:solidFill>
                <a:latin typeface="Aptos"/>
                <a:ea typeface="Aptos"/>
                <a:cs typeface="Aptos"/>
              </a:rPr>
              <a:t>Masalah kerja, kemampuan demo, dan keputusan menuju FGD</a:t>
            </a:r>
          </a:p>
        </p:txBody>
      </p:sp>
      <p:sp>
        <p:nvSpPr>
          <p:cNvPr id="4" name="">
            <a:extLst xmlns:a="http://schemas.openxmlformats.org/drawingml/2006/main">
              <a:ext uri="{FF2B5EF4-FFF2-40B4-BE49-F238E27FC236}">
                <a16:creationId xmlns:a16="http://schemas.microsoft.com/office/drawing/2014/main" id="{9661B27A-1AB1-4808-9A0D-1F45BDDDB56C}"/>
              </a:ext>
            </a:extLst>
          </p:cNvPr>
          <p:cNvSpPr>
            <a:spLocks xmlns:a="http://schemas.openxmlformats.org/drawingml/2006/main" noGrp="1"/>
          </p:cNvSpPr>
          <p:nvPr/>
        </p:nvSpPr>
        <p:spPr>
          <a:xfrm xmlns:a="http://schemas.openxmlformats.org/drawingml/2006/main">
            <a:off x="590550" y="1219200"/>
            <a:ext cx="10953750" cy="19050"/>
          </a:xfrm>
          <a:prstGeom xmlns:a="http://schemas.openxmlformats.org/drawingml/2006/main" prst="rect">
            <a:avLst/>
          </a:prstGeom>
          <a:solidFill xmlns:a="http://schemas.openxmlformats.org/drawingml/2006/main">
            <a:srgbClr val="CBD8E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F1FFD6C-CD14-4AA3-8AC5-D76075F374C0}"/>
              </a:ext>
            </a:extLst>
          </p:cNvPr>
          <p:cNvSpPr>
            <a:spLocks xmlns:a="http://schemas.openxmlformats.org/drawingml/2006/main" noGrp="1"/>
          </p:cNvSpPr>
          <p:nvPr/>
        </p:nvSpPr>
        <p:spPr>
          <a:xfrm xmlns:a="http://schemas.openxmlformats.org/drawingml/2006/main">
            <a:off x="11096625" y="400050"/>
            <a:ext cx="438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506274"/>
                </a:solidFill>
                <a:latin typeface="Aptos"/>
                <a:ea typeface="Aptos"/>
                <a:cs typeface="Aptos"/>
              </a:defRPr>
            </a:pPr>
            <a:r>
              <a:rPr sz="1125" b="1">
                <a:solidFill>
                  <a:srgbClr val="506274"/>
                </a:solidFill>
                <a:latin typeface="Aptos"/>
                <a:ea typeface="Aptos"/>
                <a:cs typeface="Aptos"/>
              </a:rPr>
              <a:t>02</a:t>
            </a:r>
          </a:p>
        </p:txBody>
      </p:sp>
      <p:sp>
        <p:nvSpPr>
          <p:cNvPr id="6" name="">
            <a:extLst xmlns:a="http://schemas.openxmlformats.org/drawingml/2006/main">
              <a:ext uri="{FF2B5EF4-FFF2-40B4-BE49-F238E27FC236}">
                <a16:creationId xmlns:a16="http://schemas.microsoft.com/office/drawing/2014/main" id="{0505813A-3DF6-48CA-B26A-1B52110DCE81}"/>
              </a:ext>
            </a:extLst>
          </p:cNvPr>
          <p:cNvSpPr>
            <a:spLocks xmlns:a="http://schemas.openxmlformats.org/drawingml/2006/main" noGrp="1"/>
          </p:cNvSpPr>
          <p:nvPr/>
        </p:nvSpPr>
        <p:spPr>
          <a:xfrm xmlns:a="http://schemas.openxmlformats.org/drawingml/2006/main">
            <a:off x="685800" y="177165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950" b="1">
                <a:solidFill>
                  <a:srgbClr val="5DA9E9"/>
                </a:solidFill>
                <a:latin typeface="Aptos"/>
                <a:ea typeface="Aptos"/>
                <a:cs typeface="Aptos"/>
              </a:defRPr>
            </a:pPr>
            <a:r>
              <a:rPr sz="1950" b="1">
                <a:solidFill>
                  <a:srgbClr val="5DA9E9"/>
                </a:solidFill>
                <a:latin typeface="Aptos"/>
                <a:ea typeface="Aptos"/>
                <a:cs typeface="Aptos"/>
              </a:rPr>
              <a:t>01</a:t>
            </a:r>
          </a:p>
        </p:txBody>
      </p:sp>
      <p:sp>
        <p:nvSpPr>
          <p:cNvPr id="7" name="">
            <a:extLst xmlns:a="http://schemas.openxmlformats.org/drawingml/2006/main">
              <a:ext uri="{FF2B5EF4-FFF2-40B4-BE49-F238E27FC236}">
                <a16:creationId xmlns:a16="http://schemas.microsoft.com/office/drawing/2014/main" id="{75FA9371-6BE5-4BC2-9BB0-6D7DD7210254}"/>
              </a:ext>
            </a:extLst>
          </p:cNvPr>
          <p:cNvSpPr>
            <a:spLocks xmlns:a="http://schemas.openxmlformats.org/drawingml/2006/main" noGrp="1"/>
          </p:cNvSpPr>
          <p:nvPr/>
        </p:nvSpPr>
        <p:spPr>
          <a:xfrm xmlns:a="http://schemas.openxmlformats.org/drawingml/2006/main">
            <a:off x="1524000" y="1752600"/>
            <a:ext cx="323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1">
                <a:solidFill>
                  <a:srgbClr val="0B2545"/>
                </a:solidFill>
                <a:latin typeface="Aptos"/>
                <a:ea typeface="Aptos"/>
                <a:cs typeface="Aptos"/>
              </a:defRPr>
            </a:pPr>
            <a:r>
              <a:rPr sz="1650" b="1">
                <a:solidFill>
                  <a:srgbClr val="0B2545"/>
                </a:solidFill>
                <a:latin typeface="Aptos"/>
                <a:ea typeface="Aptos"/>
                <a:cs typeface="Aptos"/>
              </a:rPr>
              <a:t>Kebutuhan yang dihadapi</a:t>
            </a:r>
          </a:p>
        </p:txBody>
      </p:sp>
      <p:sp>
        <p:nvSpPr>
          <p:cNvPr id="8" name="">
            <a:extLst xmlns:a="http://schemas.openxmlformats.org/drawingml/2006/main">
              <a:ext uri="{FF2B5EF4-FFF2-40B4-BE49-F238E27FC236}">
                <a16:creationId xmlns:a16="http://schemas.microsoft.com/office/drawing/2014/main" id="{A01DA758-DB01-4FAE-A304-DBDC0C1DF6F7}"/>
              </a:ext>
            </a:extLst>
          </p:cNvPr>
          <p:cNvSpPr>
            <a:spLocks xmlns:a="http://schemas.openxmlformats.org/drawingml/2006/main" noGrp="1"/>
          </p:cNvSpPr>
          <p:nvPr/>
        </p:nvSpPr>
        <p:spPr>
          <a:xfrm xmlns:a="http://schemas.openxmlformats.org/drawingml/2006/main">
            <a:off x="4857750" y="1724025"/>
            <a:ext cx="6238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506274"/>
                </a:solidFill>
                <a:latin typeface="Aptos"/>
                <a:ea typeface="Aptos"/>
                <a:cs typeface="Aptos"/>
              </a:defRPr>
            </a:pPr>
            <a:r>
              <a:rPr sz="1425" b="0">
                <a:solidFill>
                  <a:srgbClr val="506274"/>
                </a:solidFill>
                <a:latin typeface="Aptos"/>
                <a:ea typeface="Aptos"/>
                <a:cs typeface="Aptos"/>
              </a:rPr>
              <a:t>Membaca kondisi daerah dengan cepat tanpa kehilangan jejak sumber data.</a:t>
            </a:r>
          </a:p>
        </p:txBody>
      </p:sp>
      <p:sp>
        <p:nvSpPr>
          <p:cNvPr id="9" name="">
            <a:extLst xmlns:a="http://schemas.openxmlformats.org/drawingml/2006/main">
              <a:ext uri="{FF2B5EF4-FFF2-40B4-BE49-F238E27FC236}">
                <a16:creationId xmlns:a16="http://schemas.microsoft.com/office/drawing/2014/main" id="{DF7B7C4C-4D10-4DF9-A649-91CE9ABB19BB}"/>
              </a:ext>
            </a:extLst>
          </p:cNvPr>
          <p:cNvSpPr>
            <a:spLocks xmlns:a="http://schemas.openxmlformats.org/drawingml/2006/main" noGrp="1"/>
          </p:cNvSpPr>
          <p:nvPr/>
        </p:nvSpPr>
        <p:spPr>
          <a:xfrm xmlns:a="http://schemas.openxmlformats.org/drawingml/2006/main">
            <a:off x="1524000" y="2400300"/>
            <a:ext cx="9572625" cy="9525"/>
          </a:xfrm>
          <a:prstGeom xmlns:a="http://schemas.openxmlformats.org/drawingml/2006/main" prst="rect">
            <a:avLst/>
          </a:prstGeom>
          <a:solidFill xmlns:a="http://schemas.openxmlformats.org/drawingml/2006/main">
            <a:srgbClr val="CBD8E2"/>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0F0BE63-F6ED-4C8A-AE48-EFBE28280C55}"/>
              </a:ext>
            </a:extLst>
          </p:cNvPr>
          <p:cNvSpPr>
            <a:spLocks xmlns:a="http://schemas.openxmlformats.org/drawingml/2006/main" noGrp="1"/>
          </p:cNvSpPr>
          <p:nvPr/>
        </p:nvSpPr>
        <p:spPr>
          <a:xfrm xmlns:a="http://schemas.openxmlformats.org/drawingml/2006/main">
            <a:off x="685800" y="278130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950" b="1">
                <a:solidFill>
                  <a:srgbClr val="5DA9E9"/>
                </a:solidFill>
                <a:latin typeface="Aptos"/>
                <a:ea typeface="Aptos"/>
                <a:cs typeface="Aptos"/>
              </a:defRPr>
            </a:pPr>
            <a:r>
              <a:rPr sz="1950" b="1">
                <a:solidFill>
                  <a:srgbClr val="5DA9E9"/>
                </a:solidFill>
                <a:latin typeface="Aptos"/>
                <a:ea typeface="Aptos"/>
                <a:cs typeface="Aptos"/>
              </a:rPr>
              <a:t>02</a:t>
            </a:r>
          </a:p>
        </p:txBody>
      </p:sp>
      <p:sp>
        <p:nvSpPr>
          <p:cNvPr id="11" name="">
            <a:extLst xmlns:a="http://schemas.openxmlformats.org/drawingml/2006/main">
              <a:ext uri="{FF2B5EF4-FFF2-40B4-BE49-F238E27FC236}">
                <a16:creationId xmlns:a16="http://schemas.microsoft.com/office/drawing/2014/main" id="{A429DB29-991B-4DC9-8044-F053BB5408EA}"/>
              </a:ext>
            </a:extLst>
          </p:cNvPr>
          <p:cNvSpPr>
            <a:spLocks xmlns:a="http://schemas.openxmlformats.org/drawingml/2006/main" noGrp="1"/>
          </p:cNvSpPr>
          <p:nvPr/>
        </p:nvSpPr>
        <p:spPr>
          <a:xfrm xmlns:a="http://schemas.openxmlformats.org/drawingml/2006/main">
            <a:off x="1524000" y="2762250"/>
            <a:ext cx="323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1">
                <a:solidFill>
                  <a:srgbClr val="0B2545"/>
                </a:solidFill>
                <a:latin typeface="Aptos"/>
                <a:ea typeface="Aptos"/>
                <a:cs typeface="Aptos"/>
              </a:defRPr>
            </a:pPr>
            <a:r>
              <a:rPr sz="1650" b="1">
                <a:solidFill>
                  <a:srgbClr val="0B2545"/>
                </a:solidFill>
                <a:latin typeface="Aptos"/>
                <a:ea typeface="Aptos"/>
                <a:cs typeface="Aptos"/>
              </a:rPr>
              <a:t>Cara kerja SABABUKA</a:t>
            </a:r>
          </a:p>
        </p:txBody>
      </p:sp>
      <p:sp>
        <p:nvSpPr>
          <p:cNvPr id="12" name="">
            <a:extLst xmlns:a="http://schemas.openxmlformats.org/drawingml/2006/main">
              <a:ext uri="{FF2B5EF4-FFF2-40B4-BE49-F238E27FC236}">
                <a16:creationId xmlns:a16="http://schemas.microsoft.com/office/drawing/2014/main" id="{F87B85B0-C1FC-4205-A7FC-8FDE085F5170}"/>
              </a:ext>
            </a:extLst>
          </p:cNvPr>
          <p:cNvSpPr>
            <a:spLocks xmlns:a="http://schemas.openxmlformats.org/drawingml/2006/main" noGrp="1"/>
          </p:cNvSpPr>
          <p:nvPr/>
        </p:nvSpPr>
        <p:spPr>
          <a:xfrm xmlns:a="http://schemas.openxmlformats.org/drawingml/2006/main">
            <a:off x="4857750" y="2733675"/>
            <a:ext cx="6238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506274"/>
                </a:solidFill>
                <a:latin typeface="Aptos"/>
                <a:ea typeface="Aptos"/>
                <a:cs typeface="Aptos"/>
              </a:defRPr>
            </a:pPr>
            <a:r>
              <a:rPr sz="1425" b="0">
                <a:solidFill>
                  <a:srgbClr val="506274"/>
                </a:solidFill>
                <a:latin typeface="Aptos"/>
                <a:ea typeface="Aptos"/>
                <a:cs typeface="Aptos"/>
              </a:rPr>
              <a:t>Menghubungkan ringkasan, wilayah, kinerja OPD, keuangan, layanan, dan validasi.</a:t>
            </a:r>
          </a:p>
        </p:txBody>
      </p:sp>
      <p:sp>
        <p:nvSpPr>
          <p:cNvPr id="13" name="">
            <a:extLst xmlns:a="http://schemas.openxmlformats.org/drawingml/2006/main">
              <a:ext uri="{FF2B5EF4-FFF2-40B4-BE49-F238E27FC236}">
                <a16:creationId xmlns:a16="http://schemas.microsoft.com/office/drawing/2014/main" id="{B60C2788-6E22-443A-8C9A-F9AF88915C21}"/>
              </a:ext>
            </a:extLst>
          </p:cNvPr>
          <p:cNvSpPr>
            <a:spLocks xmlns:a="http://schemas.openxmlformats.org/drawingml/2006/main" noGrp="1"/>
          </p:cNvSpPr>
          <p:nvPr/>
        </p:nvSpPr>
        <p:spPr>
          <a:xfrm xmlns:a="http://schemas.openxmlformats.org/drawingml/2006/main">
            <a:off x="1524000" y="3409950"/>
            <a:ext cx="9572625" cy="9525"/>
          </a:xfrm>
          <a:prstGeom xmlns:a="http://schemas.openxmlformats.org/drawingml/2006/main" prst="rect">
            <a:avLst/>
          </a:prstGeom>
          <a:solidFill xmlns:a="http://schemas.openxmlformats.org/drawingml/2006/main">
            <a:srgbClr val="CBD8E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8776F60-E3F2-47FE-885A-4525A9D0E24D}"/>
              </a:ext>
            </a:extLst>
          </p:cNvPr>
          <p:cNvSpPr>
            <a:spLocks xmlns:a="http://schemas.openxmlformats.org/drawingml/2006/main" noGrp="1"/>
          </p:cNvSpPr>
          <p:nvPr/>
        </p:nvSpPr>
        <p:spPr>
          <a:xfrm xmlns:a="http://schemas.openxmlformats.org/drawingml/2006/main">
            <a:off x="685800" y="379095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950" b="1">
                <a:solidFill>
                  <a:srgbClr val="5DA9E9"/>
                </a:solidFill>
                <a:latin typeface="Aptos"/>
                <a:ea typeface="Aptos"/>
                <a:cs typeface="Aptos"/>
              </a:defRPr>
            </a:pPr>
            <a:r>
              <a:rPr sz="1950" b="1">
                <a:solidFill>
                  <a:srgbClr val="5DA9E9"/>
                </a:solidFill>
                <a:latin typeface="Aptos"/>
                <a:ea typeface="Aptos"/>
                <a:cs typeface="Aptos"/>
              </a:rPr>
              <a:t>03</a:t>
            </a:r>
          </a:p>
        </p:txBody>
      </p:sp>
      <p:sp>
        <p:nvSpPr>
          <p:cNvPr id="15" name="">
            <a:extLst xmlns:a="http://schemas.openxmlformats.org/drawingml/2006/main">
              <a:ext uri="{FF2B5EF4-FFF2-40B4-BE49-F238E27FC236}">
                <a16:creationId xmlns:a16="http://schemas.microsoft.com/office/drawing/2014/main" id="{6E1D9EA3-5DFE-40D7-9346-ADC6A378638A}"/>
              </a:ext>
            </a:extLst>
          </p:cNvPr>
          <p:cNvSpPr>
            <a:spLocks xmlns:a="http://schemas.openxmlformats.org/drawingml/2006/main" noGrp="1"/>
          </p:cNvSpPr>
          <p:nvPr/>
        </p:nvSpPr>
        <p:spPr>
          <a:xfrm xmlns:a="http://schemas.openxmlformats.org/drawingml/2006/main">
            <a:off x="1524000" y="3771900"/>
            <a:ext cx="323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1">
                <a:solidFill>
                  <a:srgbClr val="0B2545"/>
                </a:solidFill>
                <a:latin typeface="Aptos"/>
                <a:ea typeface="Aptos"/>
                <a:cs typeface="Aptos"/>
              </a:defRPr>
            </a:pPr>
            <a:r>
              <a:rPr sz="1650" b="1">
                <a:solidFill>
                  <a:srgbClr val="0B2545"/>
                </a:solidFill>
                <a:latin typeface="Aptos"/>
                <a:ea typeface="Aptos"/>
                <a:cs typeface="Aptos"/>
              </a:rPr>
              <a:t>Batas prototipe</a:t>
            </a:r>
          </a:p>
        </p:txBody>
      </p:sp>
      <p:sp>
        <p:nvSpPr>
          <p:cNvPr id="16" name="">
            <a:extLst xmlns:a="http://schemas.openxmlformats.org/drawingml/2006/main">
              <a:ext uri="{FF2B5EF4-FFF2-40B4-BE49-F238E27FC236}">
                <a16:creationId xmlns:a16="http://schemas.microsoft.com/office/drawing/2014/main" id="{DF7263C3-3C44-42A0-A7C0-4E70D1C25C9D}"/>
              </a:ext>
            </a:extLst>
          </p:cNvPr>
          <p:cNvSpPr>
            <a:spLocks xmlns:a="http://schemas.openxmlformats.org/drawingml/2006/main" noGrp="1"/>
          </p:cNvSpPr>
          <p:nvPr/>
        </p:nvSpPr>
        <p:spPr>
          <a:xfrm xmlns:a="http://schemas.openxmlformats.org/drawingml/2006/main">
            <a:off x="4857750" y="3743325"/>
            <a:ext cx="6238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506274"/>
                </a:solidFill>
                <a:latin typeface="Aptos"/>
                <a:ea typeface="Aptos"/>
                <a:cs typeface="Aptos"/>
              </a:defRPr>
            </a:pPr>
            <a:r>
              <a:rPr sz="1425" b="0">
                <a:solidFill>
                  <a:srgbClr val="506274"/>
                </a:solidFill>
                <a:latin typeface="Aptos"/>
                <a:ea typeface="Aptos"/>
                <a:cs typeface="Aptos"/>
              </a:rPr>
              <a:t>Menjelaskan fitur yang sudah dapat diuji serta bagian yang masih memerlukan keputusan bersama.</a:t>
            </a:r>
          </a:p>
        </p:txBody>
      </p:sp>
      <p:sp>
        <p:nvSpPr>
          <p:cNvPr id="17" name="">
            <a:extLst xmlns:a="http://schemas.openxmlformats.org/drawingml/2006/main">
              <a:ext uri="{FF2B5EF4-FFF2-40B4-BE49-F238E27FC236}">
                <a16:creationId xmlns:a16="http://schemas.microsoft.com/office/drawing/2014/main" id="{D9F2EFEE-633D-49B3-AC68-D1871DB57376}"/>
              </a:ext>
            </a:extLst>
          </p:cNvPr>
          <p:cNvSpPr>
            <a:spLocks xmlns:a="http://schemas.openxmlformats.org/drawingml/2006/main" noGrp="1"/>
          </p:cNvSpPr>
          <p:nvPr/>
        </p:nvSpPr>
        <p:spPr>
          <a:xfrm xmlns:a="http://schemas.openxmlformats.org/drawingml/2006/main">
            <a:off x="1524000" y="4419600"/>
            <a:ext cx="9572625" cy="9525"/>
          </a:xfrm>
          <a:prstGeom xmlns:a="http://schemas.openxmlformats.org/drawingml/2006/main" prst="rect">
            <a:avLst/>
          </a:prstGeom>
          <a:solidFill xmlns:a="http://schemas.openxmlformats.org/drawingml/2006/main">
            <a:srgbClr val="CBD8E2"/>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531A9C8F-1D0F-41B0-A759-9AF49B134A51}"/>
              </a:ext>
            </a:extLst>
          </p:cNvPr>
          <p:cNvSpPr>
            <a:spLocks xmlns:a="http://schemas.openxmlformats.org/drawingml/2006/main" noGrp="1"/>
          </p:cNvSpPr>
          <p:nvPr/>
        </p:nvSpPr>
        <p:spPr>
          <a:xfrm xmlns:a="http://schemas.openxmlformats.org/drawingml/2006/main">
            <a:off x="685800" y="480060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950" b="1">
                <a:solidFill>
                  <a:srgbClr val="5DA9E9"/>
                </a:solidFill>
                <a:latin typeface="Aptos"/>
                <a:ea typeface="Aptos"/>
                <a:cs typeface="Aptos"/>
              </a:defRPr>
            </a:pPr>
            <a:r>
              <a:rPr sz="1950" b="1">
                <a:solidFill>
                  <a:srgbClr val="5DA9E9"/>
                </a:solidFill>
                <a:latin typeface="Aptos"/>
                <a:ea typeface="Aptos"/>
                <a:cs typeface="Aptos"/>
              </a:rPr>
              <a:t>04</a:t>
            </a:r>
          </a:p>
        </p:txBody>
      </p:sp>
      <p:sp>
        <p:nvSpPr>
          <p:cNvPr id="19" name="">
            <a:extLst xmlns:a="http://schemas.openxmlformats.org/drawingml/2006/main">
              <a:ext uri="{FF2B5EF4-FFF2-40B4-BE49-F238E27FC236}">
                <a16:creationId xmlns:a16="http://schemas.microsoft.com/office/drawing/2014/main" id="{FC796AFE-6C6C-4A8F-A8CC-868B04775834}"/>
              </a:ext>
            </a:extLst>
          </p:cNvPr>
          <p:cNvSpPr>
            <a:spLocks xmlns:a="http://schemas.openxmlformats.org/drawingml/2006/main" noGrp="1"/>
          </p:cNvSpPr>
          <p:nvPr/>
        </p:nvSpPr>
        <p:spPr>
          <a:xfrm xmlns:a="http://schemas.openxmlformats.org/drawingml/2006/main">
            <a:off x="1524000" y="4781550"/>
            <a:ext cx="323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1">
                <a:solidFill>
                  <a:srgbClr val="0B2545"/>
                </a:solidFill>
                <a:latin typeface="Aptos"/>
                <a:ea typeface="Aptos"/>
                <a:cs typeface="Aptos"/>
              </a:defRPr>
            </a:pPr>
            <a:r>
              <a:rPr sz="1650" b="1">
                <a:solidFill>
                  <a:srgbClr val="0B2545"/>
                </a:solidFill>
                <a:latin typeface="Aptos"/>
                <a:ea typeface="Aptos"/>
                <a:cs typeface="Aptos"/>
              </a:rPr>
              <a:t>Rancangan FGD</a:t>
            </a:r>
          </a:p>
        </p:txBody>
      </p:sp>
      <p:sp>
        <p:nvSpPr>
          <p:cNvPr id="20" name="">
            <a:extLst xmlns:a="http://schemas.openxmlformats.org/drawingml/2006/main">
              <a:ext uri="{FF2B5EF4-FFF2-40B4-BE49-F238E27FC236}">
                <a16:creationId xmlns:a16="http://schemas.microsoft.com/office/drawing/2014/main" id="{DAA62AC7-F98F-468F-BC3F-9146B69E7A2A}"/>
              </a:ext>
            </a:extLst>
          </p:cNvPr>
          <p:cNvSpPr>
            <a:spLocks xmlns:a="http://schemas.openxmlformats.org/drawingml/2006/main" noGrp="1"/>
          </p:cNvSpPr>
          <p:nvPr/>
        </p:nvSpPr>
        <p:spPr>
          <a:xfrm xmlns:a="http://schemas.openxmlformats.org/drawingml/2006/main">
            <a:off x="4857750" y="4752975"/>
            <a:ext cx="6238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506274"/>
                </a:solidFill>
                <a:latin typeface="Aptos"/>
                <a:ea typeface="Aptos"/>
                <a:cs typeface="Aptos"/>
              </a:defRPr>
            </a:pPr>
            <a:r>
              <a:rPr sz="1425" b="0">
                <a:solidFill>
                  <a:srgbClr val="506274"/>
                </a:solidFill>
                <a:latin typeface="Aptos"/>
                <a:ea typeface="Aptos"/>
                <a:cs typeface="Aptos"/>
              </a:rPr>
              <a:t>Menetapkan topik, peserta, bahan, jadwal, dan penanggung jawab kegiatan berikutnya.</a:t>
            </a:r>
          </a:p>
        </p:txBody>
      </p:sp>
      <p:sp>
        <p:nvSpPr>
          <p:cNvPr id="21" name="">
            <a:extLst xmlns:a="http://schemas.openxmlformats.org/drawingml/2006/main">
              <a:ext uri="{FF2B5EF4-FFF2-40B4-BE49-F238E27FC236}">
                <a16:creationId xmlns:a16="http://schemas.microsoft.com/office/drawing/2014/main" id="{BF9E839D-4987-447C-A90A-BE4654A551D6}"/>
              </a:ext>
            </a:extLst>
          </p:cNvPr>
          <p:cNvSpPr>
            <a:spLocks xmlns:a="http://schemas.openxmlformats.org/drawingml/2006/main" noGrp="1"/>
          </p:cNvSpPr>
          <p:nvPr/>
        </p:nvSpPr>
        <p:spPr>
          <a:xfrm xmlns:a="http://schemas.openxmlformats.org/drawingml/2006/main">
            <a:off x="1524000" y="5429250"/>
            <a:ext cx="9572625" cy="9525"/>
          </a:xfrm>
          <a:prstGeom xmlns:a="http://schemas.openxmlformats.org/drawingml/2006/main" prst="rect">
            <a:avLst/>
          </a:prstGeom>
          <a:solidFill xmlns:a="http://schemas.openxmlformats.org/drawingml/2006/main">
            <a:srgbClr val="CBD8E2"/>
          </a:solidFill>
          <a:ln xmlns:a="http://schemas.openxmlformats.org/drawingml/2006/main" w="0">
            <a:noFill/>
          </a:ln>
        </p:spPr>
      </p:sp>
    </p:spTree>
    <p:extLst>
      <p:ext uri="{BB962C8B-B14F-4D97-AF65-F5344CB8AC3E}">
        <p14:creationId xmlns:p14="http://schemas.microsoft.com/office/powerpoint/2010/main" val="10465067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22D9028-CECE-4377-95AD-A4DE91C26740}"/>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5DA9E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645428A-433A-4B81-82D5-66D276D1EBEA}"/>
              </a:ext>
            </a:extLst>
          </p:cNvPr>
          <p:cNvSpPr>
            <a:spLocks xmlns:a="http://schemas.openxmlformats.org/drawingml/2006/main" noGrp="1"/>
          </p:cNvSpPr>
          <p:nvPr/>
        </p:nvSpPr>
        <p:spPr>
          <a:xfrm xmlns:a="http://schemas.openxmlformats.org/drawingml/2006/main">
            <a:off x="590550" y="361950"/>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400" b="1">
                <a:solidFill>
                  <a:srgbClr val="0B2545"/>
                </a:solidFill>
                <a:latin typeface="Aptos"/>
                <a:ea typeface="Aptos"/>
                <a:cs typeface="Aptos"/>
              </a:defRPr>
            </a:pPr>
            <a:r>
              <a:rPr sz="2400" b="1">
                <a:solidFill>
                  <a:srgbClr val="0B2545"/>
                </a:solidFill>
                <a:latin typeface="Aptos"/>
                <a:ea typeface="Aptos"/>
                <a:cs typeface="Aptos"/>
              </a:rPr>
              <a:t>Masalah kerja yang ingin dijawab</a:t>
            </a:r>
          </a:p>
        </p:txBody>
      </p:sp>
      <p:sp>
        <p:nvSpPr>
          <p:cNvPr id="3" name="">
            <a:extLst xmlns:a="http://schemas.openxmlformats.org/drawingml/2006/main">
              <a:ext uri="{FF2B5EF4-FFF2-40B4-BE49-F238E27FC236}">
                <a16:creationId xmlns:a16="http://schemas.microsoft.com/office/drawing/2014/main" id="{D1880819-5AB0-410B-B04D-5966B30F579D}"/>
              </a:ext>
            </a:extLst>
          </p:cNvPr>
          <p:cNvSpPr>
            <a:spLocks xmlns:a="http://schemas.openxmlformats.org/drawingml/2006/main" noGrp="1"/>
          </p:cNvSpPr>
          <p:nvPr/>
        </p:nvSpPr>
        <p:spPr>
          <a:xfrm xmlns:a="http://schemas.openxmlformats.org/drawingml/2006/main">
            <a:off x="609600" y="857250"/>
            <a:ext cx="1028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506274"/>
                </a:solidFill>
                <a:latin typeface="Aptos"/>
                <a:ea typeface="Aptos"/>
                <a:cs typeface="Aptos"/>
              </a:defRPr>
            </a:pPr>
            <a:r>
              <a:rPr sz="1275" b="0">
                <a:solidFill>
                  <a:srgbClr val="506274"/>
                </a:solidFill>
                <a:latin typeface="Aptos"/>
                <a:ea typeface="Aptos"/>
                <a:cs typeface="Aptos"/>
              </a:rPr>
              <a:t>Gambaran awal untuk dikoreksi dan diperdalam bersama BAPPERIDA</a:t>
            </a:r>
          </a:p>
        </p:txBody>
      </p:sp>
      <p:sp>
        <p:nvSpPr>
          <p:cNvPr id="4" name="">
            <a:extLst xmlns:a="http://schemas.openxmlformats.org/drawingml/2006/main">
              <a:ext uri="{FF2B5EF4-FFF2-40B4-BE49-F238E27FC236}">
                <a16:creationId xmlns:a16="http://schemas.microsoft.com/office/drawing/2014/main" id="{01E45929-0AFB-4347-9FA1-CA0714DD0C16}"/>
              </a:ext>
            </a:extLst>
          </p:cNvPr>
          <p:cNvSpPr>
            <a:spLocks xmlns:a="http://schemas.openxmlformats.org/drawingml/2006/main" noGrp="1"/>
          </p:cNvSpPr>
          <p:nvPr/>
        </p:nvSpPr>
        <p:spPr>
          <a:xfrm xmlns:a="http://schemas.openxmlformats.org/drawingml/2006/main">
            <a:off x="590550" y="1219200"/>
            <a:ext cx="10953750" cy="19050"/>
          </a:xfrm>
          <a:prstGeom xmlns:a="http://schemas.openxmlformats.org/drawingml/2006/main" prst="rect">
            <a:avLst/>
          </a:prstGeom>
          <a:solidFill xmlns:a="http://schemas.openxmlformats.org/drawingml/2006/main">
            <a:srgbClr val="CBD8E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E224C8B-39AE-4ED5-9B1B-C86E28F5BD92}"/>
              </a:ext>
            </a:extLst>
          </p:cNvPr>
          <p:cNvSpPr>
            <a:spLocks xmlns:a="http://schemas.openxmlformats.org/drawingml/2006/main" noGrp="1"/>
          </p:cNvSpPr>
          <p:nvPr/>
        </p:nvSpPr>
        <p:spPr>
          <a:xfrm xmlns:a="http://schemas.openxmlformats.org/drawingml/2006/main">
            <a:off x="11096625" y="400050"/>
            <a:ext cx="438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506274"/>
                </a:solidFill>
                <a:latin typeface="Aptos"/>
                <a:ea typeface="Aptos"/>
                <a:cs typeface="Aptos"/>
              </a:defRPr>
            </a:pPr>
            <a:r>
              <a:rPr sz="1125" b="1">
                <a:solidFill>
                  <a:srgbClr val="506274"/>
                </a:solidFill>
                <a:latin typeface="Aptos"/>
                <a:ea typeface="Aptos"/>
                <a:cs typeface="Aptos"/>
              </a:rPr>
              <a:t>03</a:t>
            </a:r>
          </a:p>
        </p:txBody>
      </p:sp>
      <p:sp>
        <p:nvSpPr>
          <p:cNvPr id="6" name="">
            <a:extLst xmlns:a="http://schemas.openxmlformats.org/drawingml/2006/main">
              <a:ext uri="{FF2B5EF4-FFF2-40B4-BE49-F238E27FC236}">
                <a16:creationId xmlns:a16="http://schemas.microsoft.com/office/drawing/2014/main" id="{45E87F66-60F1-4144-A663-09F610C7C7E5}"/>
              </a:ext>
            </a:extLst>
          </p:cNvPr>
          <p:cNvSpPr>
            <a:spLocks xmlns:a="http://schemas.openxmlformats.org/drawingml/2006/main" noGrp="1"/>
          </p:cNvSpPr>
          <p:nvPr/>
        </p:nvSpPr>
        <p:spPr>
          <a:xfrm xmlns:a="http://schemas.openxmlformats.org/drawingml/2006/main">
            <a:off x="685800" y="1714500"/>
            <a:ext cx="95250" cy="742950"/>
          </a:xfrm>
          <a:prstGeom xmlns:a="http://schemas.openxmlformats.org/drawingml/2006/main" prst="rect">
            <a:avLst/>
          </a:prstGeom>
          <a:solidFill xmlns:a="http://schemas.openxmlformats.org/drawingml/2006/main">
            <a:srgbClr val="E4A72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EA7B43F-DD8E-4EF9-BE4D-34DBA2FF7172}"/>
              </a:ext>
            </a:extLst>
          </p:cNvPr>
          <p:cNvSpPr>
            <a:spLocks xmlns:a="http://schemas.openxmlformats.org/drawingml/2006/main" noGrp="1"/>
          </p:cNvSpPr>
          <p:nvPr/>
        </p:nvSpPr>
        <p:spPr>
          <a:xfrm xmlns:a="http://schemas.openxmlformats.org/drawingml/2006/main">
            <a:off x="1066800" y="17145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0B2545"/>
                </a:solidFill>
                <a:latin typeface="Aptos"/>
                <a:ea typeface="Aptos"/>
                <a:cs typeface="Aptos"/>
              </a:defRPr>
            </a:pPr>
            <a:r>
              <a:rPr sz="1650" b="1">
                <a:solidFill>
                  <a:srgbClr val="0B2545"/>
                </a:solidFill>
                <a:latin typeface="Aptos"/>
                <a:ea typeface="Aptos"/>
                <a:cs typeface="Aptos"/>
              </a:rPr>
              <a:t>Data tersebar</a:t>
            </a:r>
          </a:p>
        </p:txBody>
      </p:sp>
      <p:sp>
        <p:nvSpPr>
          <p:cNvPr id="8" name="">
            <a:extLst xmlns:a="http://schemas.openxmlformats.org/drawingml/2006/main">
              <a:ext uri="{FF2B5EF4-FFF2-40B4-BE49-F238E27FC236}">
                <a16:creationId xmlns:a16="http://schemas.microsoft.com/office/drawing/2014/main" id="{AFF5559C-8331-498F-9F9F-EC0950347996}"/>
              </a:ext>
            </a:extLst>
          </p:cNvPr>
          <p:cNvSpPr>
            <a:spLocks xmlns:a="http://schemas.openxmlformats.org/drawingml/2006/main" noGrp="1"/>
          </p:cNvSpPr>
          <p:nvPr/>
        </p:nvSpPr>
        <p:spPr>
          <a:xfrm xmlns:a="http://schemas.openxmlformats.org/drawingml/2006/main">
            <a:off x="3924300" y="1695450"/>
            <a:ext cx="714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506274"/>
                </a:solidFill>
                <a:latin typeface="Aptos"/>
                <a:ea typeface="Aptos"/>
                <a:cs typeface="Aptos"/>
              </a:defRPr>
            </a:pPr>
            <a:r>
              <a:rPr sz="1425" b="0">
                <a:solidFill>
                  <a:srgbClr val="506274"/>
                </a:solidFill>
                <a:latin typeface="Aptos"/>
                <a:ea typeface="Aptos"/>
                <a:cs typeface="Aptos"/>
              </a:rPr>
              <a:t>Indikator penting berada pada beragam file, aplikasi, dan periode pembaruan.</a:t>
            </a:r>
          </a:p>
        </p:txBody>
      </p:sp>
      <p:sp>
        <p:nvSpPr>
          <p:cNvPr id="9" name="">
            <a:extLst xmlns:a="http://schemas.openxmlformats.org/drawingml/2006/main">
              <a:ext uri="{FF2B5EF4-FFF2-40B4-BE49-F238E27FC236}">
                <a16:creationId xmlns:a16="http://schemas.microsoft.com/office/drawing/2014/main" id="{1FBCFF57-EE3C-4FA9-9A9D-BC4C15FB2D32}"/>
              </a:ext>
            </a:extLst>
          </p:cNvPr>
          <p:cNvSpPr>
            <a:spLocks xmlns:a="http://schemas.openxmlformats.org/drawingml/2006/main" noGrp="1"/>
          </p:cNvSpPr>
          <p:nvPr/>
        </p:nvSpPr>
        <p:spPr>
          <a:xfrm xmlns:a="http://schemas.openxmlformats.org/drawingml/2006/main">
            <a:off x="685800" y="2781300"/>
            <a:ext cx="95250" cy="742950"/>
          </a:xfrm>
          <a:prstGeom xmlns:a="http://schemas.openxmlformats.org/drawingml/2006/main" prst="rect">
            <a:avLst/>
          </a:prstGeom>
          <a:solidFill xmlns:a="http://schemas.openxmlformats.org/drawingml/2006/main">
            <a:srgbClr val="5DA9E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5D1EA84-6196-4A1F-AB9A-0D0ECF7E5064}"/>
              </a:ext>
            </a:extLst>
          </p:cNvPr>
          <p:cNvSpPr>
            <a:spLocks xmlns:a="http://schemas.openxmlformats.org/drawingml/2006/main" noGrp="1"/>
          </p:cNvSpPr>
          <p:nvPr/>
        </p:nvSpPr>
        <p:spPr>
          <a:xfrm xmlns:a="http://schemas.openxmlformats.org/drawingml/2006/main">
            <a:off x="1066800" y="27813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0B2545"/>
                </a:solidFill>
                <a:latin typeface="Aptos"/>
                <a:ea typeface="Aptos"/>
                <a:cs typeface="Aptos"/>
              </a:defRPr>
            </a:pPr>
            <a:r>
              <a:rPr sz="1650" b="1">
                <a:solidFill>
                  <a:srgbClr val="0B2545"/>
                </a:solidFill>
                <a:latin typeface="Aptos"/>
                <a:ea typeface="Aptos"/>
                <a:cs typeface="Aptos"/>
              </a:rPr>
              <a:t>Definisi belum seragam</a:t>
            </a:r>
          </a:p>
        </p:txBody>
      </p:sp>
      <p:sp>
        <p:nvSpPr>
          <p:cNvPr id="11" name="">
            <a:extLst xmlns:a="http://schemas.openxmlformats.org/drawingml/2006/main">
              <a:ext uri="{FF2B5EF4-FFF2-40B4-BE49-F238E27FC236}">
                <a16:creationId xmlns:a16="http://schemas.microsoft.com/office/drawing/2014/main" id="{C8C1C979-D5DF-4BF3-86B3-AA45092184AD}"/>
              </a:ext>
            </a:extLst>
          </p:cNvPr>
          <p:cNvSpPr>
            <a:spLocks xmlns:a="http://schemas.openxmlformats.org/drawingml/2006/main" noGrp="1"/>
          </p:cNvSpPr>
          <p:nvPr/>
        </p:nvSpPr>
        <p:spPr>
          <a:xfrm xmlns:a="http://schemas.openxmlformats.org/drawingml/2006/main">
            <a:off x="3924300" y="2762250"/>
            <a:ext cx="714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506274"/>
                </a:solidFill>
                <a:latin typeface="Aptos"/>
                <a:ea typeface="Aptos"/>
                <a:cs typeface="Aptos"/>
              </a:defRPr>
            </a:pPr>
            <a:r>
              <a:rPr sz="1425" b="0">
                <a:solidFill>
                  <a:srgbClr val="506274"/>
                </a:solidFill>
                <a:latin typeface="Aptos"/>
                <a:ea typeface="Aptos"/>
                <a:cs typeface="Aptos"/>
              </a:rPr>
              <a:t>Nama indikator, satuan, wilayah, dan sumber dapat dimaknai berbeda.</a:t>
            </a:r>
          </a:p>
        </p:txBody>
      </p:sp>
      <p:sp>
        <p:nvSpPr>
          <p:cNvPr id="12" name="">
            <a:extLst xmlns:a="http://schemas.openxmlformats.org/drawingml/2006/main">
              <a:ext uri="{FF2B5EF4-FFF2-40B4-BE49-F238E27FC236}">
                <a16:creationId xmlns:a16="http://schemas.microsoft.com/office/drawing/2014/main" id="{8D3D3EC0-4370-416B-A738-A82193ED7C80}"/>
              </a:ext>
            </a:extLst>
          </p:cNvPr>
          <p:cNvSpPr>
            <a:spLocks xmlns:a="http://schemas.openxmlformats.org/drawingml/2006/main" noGrp="1"/>
          </p:cNvSpPr>
          <p:nvPr/>
        </p:nvSpPr>
        <p:spPr>
          <a:xfrm xmlns:a="http://schemas.openxmlformats.org/drawingml/2006/main">
            <a:off x="685800" y="3848100"/>
            <a:ext cx="95250" cy="742950"/>
          </a:xfrm>
          <a:prstGeom xmlns:a="http://schemas.openxmlformats.org/drawingml/2006/main" prst="rect">
            <a:avLst/>
          </a:prstGeom>
          <a:solidFill xmlns:a="http://schemas.openxmlformats.org/drawingml/2006/main">
            <a:srgbClr val="27A7C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04CCB56-7CAB-4D2B-A10F-89FC1A1E4D3F}"/>
              </a:ext>
            </a:extLst>
          </p:cNvPr>
          <p:cNvSpPr>
            <a:spLocks xmlns:a="http://schemas.openxmlformats.org/drawingml/2006/main" noGrp="1"/>
          </p:cNvSpPr>
          <p:nvPr/>
        </p:nvSpPr>
        <p:spPr>
          <a:xfrm xmlns:a="http://schemas.openxmlformats.org/drawingml/2006/main">
            <a:off x="1066800" y="38481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0B2545"/>
                </a:solidFill>
                <a:latin typeface="Aptos"/>
                <a:ea typeface="Aptos"/>
                <a:cs typeface="Aptos"/>
              </a:defRPr>
            </a:pPr>
            <a:r>
              <a:rPr sz="1650" b="1">
                <a:solidFill>
                  <a:srgbClr val="0B2545"/>
                </a:solidFill>
                <a:latin typeface="Aptos"/>
                <a:ea typeface="Aptos"/>
                <a:cs typeface="Aptos"/>
              </a:rPr>
              <a:t>Validasi sulit dilacak</a:t>
            </a:r>
          </a:p>
        </p:txBody>
      </p:sp>
      <p:sp>
        <p:nvSpPr>
          <p:cNvPr id="14" name="">
            <a:extLst xmlns:a="http://schemas.openxmlformats.org/drawingml/2006/main">
              <a:ext uri="{FF2B5EF4-FFF2-40B4-BE49-F238E27FC236}">
                <a16:creationId xmlns:a16="http://schemas.microsoft.com/office/drawing/2014/main" id="{F43BD3DB-8796-4BBA-A448-EB1355EE4EFE}"/>
              </a:ext>
            </a:extLst>
          </p:cNvPr>
          <p:cNvSpPr>
            <a:spLocks xmlns:a="http://schemas.openxmlformats.org/drawingml/2006/main" noGrp="1"/>
          </p:cNvSpPr>
          <p:nvPr/>
        </p:nvSpPr>
        <p:spPr>
          <a:xfrm xmlns:a="http://schemas.openxmlformats.org/drawingml/2006/main">
            <a:off x="3924300" y="3829050"/>
            <a:ext cx="714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506274"/>
                </a:solidFill>
                <a:latin typeface="Aptos"/>
                <a:ea typeface="Aptos"/>
                <a:cs typeface="Aptos"/>
              </a:defRPr>
            </a:pPr>
            <a:r>
              <a:rPr sz="1425" b="0">
                <a:solidFill>
                  <a:srgbClr val="506274"/>
                </a:solidFill>
                <a:latin typeface="Aptos"/>
                <a:ea typeface="Aptos"/>
                <a:cs typeface="Aptos"/>
              </a:rPr>
              <a:t>Status data dan pihak yang mengesahkan belum terlihat dalam satu alur.</a:t>
            </a:r>
          </a:p>
        </p:txBody>
      </p:sp>
      <p:sp>
        <p:nvSpPr>
          <p:cNvPr id="15" name="">
            <a:extLst xmlns:a="http://schemas.openxmlformats.org/drawingml/2006/main">
              <a:ext uri="{FF2B5EF4-FFF2-40B4-BE49-F238E27FC236}">
                <a16:creationId xmlns:a16="http://schemas.microsoft.com/office/drawing/2014/main" id="{7B680B43-AB25-495E-9084-9BEFC85F5972}"/>
              </a:ext>
            </a:extLst>
          </p:cNvPr>
          <p:cNvSpPr>
            <a:spLocks xmlns:a="http://schemas.openxmlformats.org/drawingml/2006/main" noGrp="1"/>
          </p:cNvSpPr>
          <p:nvPr/>
        </p:nvSpPr>
        <p:spPr>
          <a:xfrm xmlns:a="http://schemas.openxmlformats.org/drawingml/2006/main">
            <a:off x="685800" y="4914900"/>
            <a:ext cx="95250" cy="742950"/>
          </a:xfrm>
          <a:prstGeom xmlns:a="http://schemas.openxmlformats.org/drawingml/2006/main" prst="rect">
            <a:avLst/>
          </a:prstGeom>
          <a:solidFill xmlns:a="http://schemas.openxmlformats.org/drawingml/2006/main">
            <a:srgbClr val="2C7A66"/>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42C6602-7849-4C38-B0C3-552A732901CD}"/>
              </a:ext>
            </a:extLst>
          </p:cNvPr>
          <p:cNvSpPr>
            <a:spLocks xmlns:a="http://schemas.openxmlformats.org/drawingml/2006/main" noGrp="1"/>
          </p:cNvSpPr>
          <p:nvPr/>
        </p:nvSpPr>
        <p:spPr>
          <a:xfrm xmlns:a="http://schemas.openxmlformats.org/drawingml/2006/main">
            <a:off x="1066800" y="49149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0B2545"/>
                </a:solidFill>
                <a:latin typeface="Aptos"/>
                <a:ea typeface="Aptos"/>
                <a:cs typeface="Aptos"/>
              </a:defRPr>
            </a:pPr>
            <a:r>
              <a:rPr sz="1650" b="1">
                <a:solidFill>
                  <a:srgbClr val="0B2545"/>
                </a:solidFill>
                <a:latin typeface="Aptos"/>
                <a:ea typeface="Aptos"/>
                <a:cs typeface="Aptos"/>
              </a:rPr>
              <a:t>Ringkasan pimpinan lambat</a:t>
            </a:r>
          </a:p>
        </p:txBody>
      </p:sp>
      <p:sp>
        <p:nvSpPr>
          <p:cNvPr id="17" name="">
            <a:extLst xmlns:a="http://schemas.openxmlformats.org/drawingml/2006/main">
              <a:ext uri="{FF2B5EF4-FFF2-40B4-BE49-F238E27FC236}">
                <a16:creationId xmlns:a16="http://schemas.microsoft.com/office/drawing/2014/main" id="{C6E5F793-1BDF-4BC6-89EA-435A75AECBDC}"/>
              </a:ext>
            </a:extLst>
          </p:cNvPr>
          <p:cNvSpPr>
            <a:spLocks xmlns:a="http://schemas.openxmlformats.org/drawingml/2006/main" noGrp="1"/>
          </p:cNvSpPr>
          <p:nvPr/>
        </p:nvSpPr>
        <p:spPr>
          <a:xfrm xmlns:a="http://schemas.openxmlformats.org/drawingml/2006/main">
            <a:off x="3924300" y="4895850"/>
            <a:ext cx="714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506274"/>
                </a:solidFill>
                <a:latin typeface="Aptos"/>
                <a:ea typeface="Aptos"/>
                <a:cs typeface="Aptos"/>
              </a:defRPr>
            </a:pPr>
            <a:r>
              <a:rPr sz="1425" b="0">
                <a:solidFill>
                  <a:srgbClr val="506274"/>
                </a:solidFill>
                <a:latin typeface="Aptos"/>
                <a:ea typeface="Aptos"/>
                <a:cs typeface="Aptos"/>
              </a:rPr>
              <a:t>Analisis lintas sektor membutuhkan kompilasi manual sebelum dapat digunakan.</a:t>
            </a:r>
          </a:p>
        </p:txBody>
      </p:sp>
      <p:sp>
        <p:nvSpPr>
          <p:cNvPr id="18" name="">
            <a:extLst xmlns:a="http://schemas.openxmlformats.org/drawingml/2006/main">
              <a:ext uri="{FF2B5EF4-FFF2-40B4-BE49-F238E27FC236}">
                <a16:creationId xmlns:a16="http://schemas.microsoft.com/office/drawing/2014/main" id="{4A5BA20F-2120-4040-94B5-B075D5172B97}"/>
              </a:ext>
            </a:extLst>
          </p:cNvPr>
          <p:cNvSpPr>
            <a:spLocks xmlns:a="http://schemas.openxmlformats.org/drawingml/2006/main" noGrp="1"/>
          </p:cNvSpPr>
          <p:nvPr/>
        </p:nvSpPr>
        <p:spPr>
          <a:xfrm xmlns:a="http://schemas.openxmlformats.org/drawingml/2006/main">
            <a:off x="685800" y="6057900"/>
            <a:ext cx="10382250" cy="19050"/>
          </a:xfrm>
          <a:prstGeom xmlns:a="http://schemas.openxmlformats.org/drawingml/2006/main" prst="rect">
            <a:avLst/>
          </a:prstGeom>
          <a:solidFill xmlns:a="http://schemas.openxmlformats.org/drawingml/2006/main">
            <a:srgbClr val="CBD8E2"/>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169C98D7-7531-4674-AD37-1662DF3BD708}"/>
              </a:ext>
            </a:extLst>
          </p:cNvPr>
          <p:cNvSpPr>
            <a:spLocks xmlns:a="http://schemas.openxmlformats.org/drawingml/2006/main" noGrp="1"/>
          </p:cNvSpPr>
          <p:nvPr/>
        </p:nvSpPr>
        <p:spPr>
          <a:xfrm xmlns:a="http://schemas.openxmlformats.org/drawingml/2006/main">
            <a:off x="685800" y="6153150"/>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1E5A96"/>
                </a:solidFill>
                <a:latin typeface="Aptos"/>
                <a:ea typeface="Aptos"/>
                <a:cs typeface="Aptos"/>
              </a:defRPr>
            </a:pPr>
            <a:r>
              <a:rPr sz="1350" b="1">
                <a:solidFill>
                  <a:srgbClr val="1E5A96"/>
                </a:solidFill>
                <a:latin typeface="Aptos"/>
                <a:ea typeface="Aptos"/>
                <a:cs typeface="Aptos"/>
              </a:rPr>
              <a:t>Pertanyaan pembuka: bagian mana yang paling sesuai dengan kondisi saat ini, dan apa yang belum terwakili?</a:t>
            </a:r>
          </a:p>
        </p:txBody>
      </p:sp>
    </p:spTree>
    <p:extLst>
      <p:ext uri="{BB962C8B-B14F-4D97-AF65-F5344CB8AC3E}">
        <p14:creationId xmlns:p14="http://schemas.microsoft.com/office/powerpoint/2010/main" val="71340170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19804610-0990-4262-B612-5E84E9B7330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5DA9E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A29BEF5-9BB3-467A-9D19-5E98A98FD845}"/>
              </a:ext>
            </a:extLst>
          </p:cNvPr>
          <p:cNvSpPr>
            <a:spLocks xmlns:a="http://schemas.openxmlformats.org/drawingml/2006/main" noGrp="1"/>
          </p:cNvSpPr>
          <p:nvPr/>
        </p:nvSpPr>
        <p:spPr>
          <a:xfrm xmlns:a="http://schemas.openxmlformats.org/drawingml/2006/main">
            <a:off x="590550" y="361950"/>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400" b="1">
                <a:solidFill>
                  <a:srgbClr val="0B2545"/>
                </a:solidFill>
                <a:latin typeface="Aptos"/>
                <a:ea typeface="Aptos"/>
                <a:cs typeface="Aptos"/>
              </a:defRPr>
            </a:pPr>
            <a:r>
              <a:rPr sz="2400" b="1">
                <a:solidFill>
                  <a:srgbClr val="0B2545"/>
                </a:solidFill>
                <a:latin typeface="Aptos"/>
                <a:ea typeface="Aptos"/>
                <a:cs typeface="Aptos"/>
              </a:rPr>
              <a:t>Peran SABABUKA dalam alur kerja data daerah</a:t>
            </a:r>
          </a:p>
        </p:txBody>
      </p:sp>
      <p:sp>
        <p:nvSpPr>
          <p:cNvPr id="3" name="">
            <a:extLst xmlns:a="http://schemas.openxmlformats.org/drawingml/2006/main">
              <a:ext uri="{FF2B5EF4-FFF2-40B4-BE49-F238E27FC236}">
                <a16:creationId xmlns:a16="http://schemas.microsoft.com/office/drawing/2014/main" id="{1FAFB440-CA1A-4E2E-8CA3-41BF0F9E39D9}"/>
              </a:ext>
            </a:extLst>
          </p:cNvPr>
          <p:cNvSpPr>
            <a:spLocks xmlns:a="http://schemas.openxmlformats.org/drawingml/2006/main" noGrp="1"/>
          </p:cNvSpPr>
          <p:nvPr/>
        </p:nvSpPr>
        <p:spPr>
          <a:xfrm xmlns:a="http://schemas.openxmlformats.org/drawingml/2006/main">
            <a:off x="609600" y="857250"/>
            <a:ext cx="1028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506274"/>
                </a:solidFill>
                <a:latin typeface="Aptos"/>
                <a:ea typeface="Aptos"/>
                <a:cs typeface="Aptos"/>
              </a:defRPr>
            </a:pPr>
            <a:r>
              <a:rPr sz="1275" b="0">
                <a:solidFill>
                  <a:srgbClr val="506274"/>
                </a:solidFill>
                <a:latin typeface="Aptos"/>
                <a:ea typeface="Aptos"/>
                <a:cs typeface="Aptos"/>
              </a:rPr>
              <a:t>Konsep awal yang akan diperdalam bersama</a:t>
            </a:r>
          </a:p>
        </p:txBody>
      </p:sp>
      <p:sp>
        <p:nvSpPr>
          <p:cNvPr id="4" name="">
            <a:extLst xmlns:a="http://schemas.openxmlformats.org/drawingml/2006/main">
              <a:ext uri="{FF2B5EF4-FFF2-40B4-BE49-F238E27FC236}">
                <a16:creationId xmlns:a16="http://schemas.microsoft.com/office/drawing/2014/main" id="{05BD38F4-FB23-4458-B6C4-829BBC4746C1}"/>
              </a:ext>
            </a:extLst>
          </p:cNvPr>
          <p:cNvSpPr>
            <a:spLocks xmlns:a="http://schemas.openxmlformats.org/drawingml/2006/main" noGrp="1"/>
          </p:cNvSpPr>
          <p:nvPr/>
        </p:nvSpPr>
        <p:spPr>
          <a:xfrm xmlns:a="http://schemas.openxmlformats.org/drawingml/2006/main">
            <a:off x="590550" y="1219200"/>
            <a:ext cx="10953750" cy="19050"/>
          </a:xfrm>
          <a:prstGeom xmlns:a="http://schemas.openxmlformats.org/drawingml/2006/main" prst="rect">
            <a:avLst/>
          </a:prstGeom>
          <a:solidFill xmlns:a="http://schemas.openxmlformats.org/drawingml/2006/main">
            <a:srgbClr val="CBD8E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B7F1041-AAC4-4E9A-B86F-3F1232E060FB}"/>
              </a:ext>
            </a:extLst>
          </p:cNvPr>
          <p:cNvSpPr>
            <a:spLocks xmlns:a="http://schemas.openxmlformats.org/drawingml/2006/main" noGrp="1"/>
          </p:cNvSpPr>
          <p:nvPr/>
        </p:nvSpPr>
        <p:spPr>
          <a:xfrm xmlns:a="http://schemas.openxmlformats.org/drawingml/2006/main">
            <a:off x="11096625" y="400050"/>
            <a:ext cx="438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506274"/>
                </a:solidFill>
                <a:latin typeface="Aptos"/>
                <a:ea typeface="Aptos"/>
                <a:cs typeface="Aptos"/>
              </a:defRPr>
            </a:pPr>
            <a:r>
              <a:rPr sz="1125" b="1">
                <a:solidFill>
                  <a:srgbClr val="506274"/>
                </a:solidFill>
                <a:latin typeface="Aptos"/>
                <a:ea typeface="Aptos"/>
                <a:cs typeface="Aptos"/>
              </a:rPr>
              <a:t>04</a:t>
            </a:r>
          </a:p>
        </p:txBody>
      </p:sp>
      <p:sp>
        <p:nvSpPr>
          <p:cNvPr id="6" name="">
            <a:extLst xmlns:a="http://schemas.openxmlformats.org/drawingml/2006/main">
              <a:ext uri="{FF2B5EF4-FFF2-40B4-BE49-F238E27FC236}">
                <a16:creationId xmlns:a16="http://schemas.microsoft.com/office/drawing/2014/main" id="{5325734C-01B6-47ED-92B1-233EFA660A94}"/>
              </a:ext>
            </a:extLst>
          </p:cNvPr>
          <p:cNvSpPr>
            <a:spLocks xmlns:a="http://schemas.openxmlformats.org/drawingml/2006/main" noGrp="1"/>
          </p:cNvSpPr>
          <p:nvPr/>
        </p:nvSpPr>
        <p:spPr>
          <a:xfrm xmlns:a="http://schemas.openxmlformats.org/drawingml/2006/main">
            <a:off x="666750" y="1962150"/>
            <a:ext cx="2238375" cy="2686050"/>
          </a:xfrm>
          <a:prstGeom xmlns:a="http://schemas.openxmlformats.org/drawingml/2006/main" prst="roundRect">
            <a:avLst>
              <a:gd name="adj" fmla="val 3404"/>
            </a:avLst>
          </a:prstGeom>
          <a:solidFill xmlns:a="http://schemas.openxmlformats.org/drawingml/2006/main">
            <a:srgbClr val="EEF4F8"/>
          </a:solidFill>
          <a:ln xmlns:a="http://schemas.openxmlformats.org/drawingml/2006/main" w="9525">
            <a:solidFill>
              <a:srgbClr val="CBD8E2"/>
            </a:solidFill>
          </a:ln>
        </p:spPr>
      </p:sp>
      <p:sp>
        <p:nvSpPr>
          <p:cNvPr id="7" name="">
            <a:extLst xmlns:a="http://schemas.openxmlformats.org/drawingml/2006/main">
              <a:ext uri="{FF2B5EF4-FFF2-40B4-BE49-F238E27FC236}">
                <a16:creationId xmlns:a16="http://schemas.microsoft.com/office/drawing/2014/main" id="{37C37FE1-ED50-4C5F-959F-C6704886671D}"/>
              </a:ext>
            </a:extLst>
          </p:cNvPr>
          <p:cNvSpPr>
            <a:spLocks xmlns:a="http://schemas.openxmlformats.org/drawingml/2006/main" noGrp="1"/>
          </p:cNvSpPr>
          <p:nvPr/>
        </p:nvSpPr>
        <p:spPr>
          <a:xfrm xmlns:a="http://schemas.openxmlformats.org/drawingml/2006/main">
            <a:off x="895350" y="215265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1E5A96"/>
                </a:solidFill>
                <a:latin typeface="Aptos"/>
                <a:ea typeface="Aptos"/>
                <a:cs typeface="Aptos"/>
              </a:defRPr>
            </a:pPr>
            <a:r>
              <a:rPr sz="1350" b="1">
                <a:solidFill>
                  <a:srgbClr val="1E5A96"/>
                </a:solidFill>
                <a:latin typeface="Aptos"/>
                <a:ea typeface="Aptos"/>
                <a:cs typeface="Aptos"/>
              </a:rPr>
              <a:t>01</a:t>
            </a:r>
          </a:p>
        </p:txBody>
      </p:sp>
      <p:sp>
        <p:nvSpPr>
          <p:cNvPr id="8" name="">
            <a:extLst xmlns:a="http://schemas.openxmlformats.org/drawingml/2006/main">
              <a:ext uri="{FF2B5EF4-FFF2-40B4-BE49-F238E27FC236}">
                <a16:creationId xmlns:a16="http://schemas.microsoft.com/office/drawing/2014/main" id="{A10490A3-5EDE-439E-A713-030DA7D12B5B}"/>
              </a:ext>
            </a:extLst>
          </p:cNvPr>
          <p:cNvSpPr>
            <a:spLocks xmlns:a="http://schemas.openxmlformats.org/drawingml/2006/main" noGrp="1"/>
          </p:cNvSpPr>
          <p:nvPr/>
        </p:nvSpPr>
        <p:spPr>
          <a:xfrm xmlns:a="http://schemas.openxmlformats.org/drawingml/2006/main">
            <a:off x="895350" y="2647950"/>
            <a:ext cx="17811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725" b="1">
                <a:solidFill>
                  <a:srgbClr val="0B2545"/>
                </a:solidFill>
                <a:latin typeface="Aptos"/>
                <a:ea typeface="Aptos"/>
                <a:cs typeface="Aptos"/>
              </a:defRPr>
            </a:pPr>
            <a:r>
              <a:rPr sz="1725" b="1">
                <a:solidFill>
                  <a:srgbClr val="0B2545"/>
                </a:solidFill>
                <a:latin typeface="Aptos"/>
                <a:ea typeface="Aptos"/>
                <a:cs typeface="Aptos"/>
              </a:rPr>
              <a:t>Sumber data</a:t>
            </a:r>
          </a:p>
        </p:txBody>
      </p:sp>
      <p:sp>
        <p:nvSpPr>
          <p:cNvPr id="9" name="">
            <a:extLst xmlns:a="http://schemas.openxmlformats.org/drawingml/2006/main">
              <a:ext uri="{FF2B5EF4-FFF2-40B4-BE49-F238E27FC236}">
                <a16:creationId xmlns:a16="http://schemas.microsoft.com/office/drawing/2014/main" id="{E5ED2193-D1F4-45DE-B822-026136ED6345}"/>
              </a:ext>
            </a:extLst>
          </p:cNvPr>
          <p:cNvSpPr>
            <a:spLocks xmlns:a="http://schemas.openxmlformats.org/drawingml/2006/main" noGrp="1"/>
          </p:cNvSpPr>
          <p:nvPr/>
        </p:nvSpPr>
        <p:spPr>
          <a:xfrm xmlns:a="http://schemas.openxmlformats.org/drawingml/2006/main">
            <a:off x="895350" y="3238500"/>
            <a:ext cx="17811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506274"/>
                </a:solidFill>
                <a:latin typeface="Aptos"/>
                <a:ea typeface="Aptos"/>
                <a:cs typeface="Aptos"/>
              </a:defRPr>
            </a:pPr>
            <a:r>
              <a:rPr sz="1350" b="0">
                <a:solidFill>
                  <a:srgbClr val="506274"/>
                </a:solidFill>
                <a:latin typeface="Aptos"/>
                <a:ea typeface="Aptos"/>
                <a:cs typeface="Aptos"/>
              </a:rPr>
              <a:t>Perangkat daerah</a:t>
            </a:r>
          </a:p>
          <a:p xmlns:a="http://schemas.openxmlformats.org/drawingml/2006/main">
            <a:pPr>
              <a:defRPr sz="1350" b="0">
                <a:solidFill>
                  <a:srgbClr val="506274"/>
                </a:solidFill>
                <a:latin typeface="Aptos"/>
                <a:ea typeface="Aptos"/>
                <a:cs typeface="Aptos"/>
              </a:defRPr>
            </a:pPr>
            <a:r>
              <a:rPr sz="1350" b="0">
                <a:solidFill>
                  <a:srgbClr val="506274"/>
                </a:solidFill>
                <a:latin typeface="Aptos"/>
                <a:ea typeface="Aptos"/>
                <a:cs typeface="Aptos"/>
              </a:rPr>
              <a:t>Satu Data</a:t>
            </a:r>
          </a:p>
          <a:p xmlns:a="http://schemas.openxmlformats.org/drawingml/2006/main">
            <a:pPr>
              <a:defRPr sz="1350" b="0">
                <a:solidFill>
                  <a:srgbClr val="506274"/>
                </a:solidFill>
                <a:latin typeface="Aptos"/>
                <a:ea typeface="Aptos"/>
                <a:cs typeface="Aptos"/>
              </a:defRPr>
            </a:pPr>
            <a:r>
              <a:rPr sz="1350" b="0">
                <a:solidFill>
                  <a:srgbClr val="506274"/>
                </a:solidFill>
                <a:latin typeface="Aptos"/>
                <a:ea typeface="Aptos"/>
                <a:cs typeface="Aptos"/>
              </a:rPr>
              <a:t>Dokumen resmi</a:t>
            </a:r>
          </a:p>
        </p:txBody>
      </p:sp>
      <p:sp>
        <p:nvSpPr>
          <p:cNvPr id="10" name="">
            <a:extLst xmlns:a="http://schemas.openxmlformats.org/drawingml/2006/main">
              <a:ext uri="{FF2B5EF4-FFF2-40B4-BE49-F238E27FC236}">
                <a16:creationId xmlns:a16="http://schemas.microsoft.com/office/drawing/2014/main" id="{4BCE11F1-3F73-4D0C-A5E7-561569DC1209}"/>
              </a:ext>
            </a:extLst>
          </p:cNvPr>
          <p:cNvSpPr>
            <a:spLocks xmlns:a="http://schemas.openxmlformats.org/drawingml/2006/main" noGrp="1"/>
          </p:cNvSpPr>
          <p:nvPr/>
        </p:nvSpPr>
        <p:spPr>
          <a:xfrm xmlns:a="http://schemas.openxmlformats.org/drawingml/2006/main">
            <a:off x="2971800" y="2857500"/>
            <a:ext cx="4000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095"/>
          </a:bodyPr>
          <a:lstStyle xmlns:a="http://schemas.openxmlformats.org/drawingml/2006/main"/>
          <a:p xmlns:a="http://schemas.openxmlformats.org/drawingml/2006/main">
            <a:pPr>
              <a:defRPr sz="3150" b="1">
                <a:solidFill>
                  <a:srgbClr val="5DA9E9"/>
                </a:solidFill>
                <a:latin typeface="Aptos"/>
                <a:ea typeface="Aptos"/>
                <a:cs typeface="Aptos"/>
              </a:defRPr>
            </a:pPr>
            <a:r>
              <a:rPr sz="3150" b="1">
                <a:solidFill>
                  <a:srgbClr val="5DA9E9"/>
                </a:solidFill>
                <a:latin typeface="Aptos"/>
                <a:ea typeface="Aptos"/>
                <a:cs typeface="Aptos"/>
              </a:rPr>
              <a:t>›</a:t>
            </a:r>
          </a:p>
        </p:txBody>
      </p:sp>
      <p:sp>
        <p:nvSpPr>
          <p:cNvPr id="11" name="">
            <a:extLst xmlns:a="http://schemas.openxmlformats.org/drawingml/2006/main">
              <a:ext uri="{FF2B5EF4-FFF2-40B4-BE49-F238E27FC236}">
                <a16:creationId xmlns:a16="http://schemas.microsoft.com/office/drawing/2014/main" id="{2FEE4AA2-7FA1-4A72-B253-EA2BD3EC2051}"/>
              </a:ext>
            </a:extLst>
          </p:cNvPr>
          <p:cNvSpPr>
            <a:spLocks xmlns:a="http://schemas.openxmlformats.org/drawingml/2006/main" noGrp="1"/>
          </p:cNvSpPr>
          <p:nvPr/>
        </p:nvSpPr>
        <p:spPr>
          <a:xfrm xmlns:a="http://schemas.openxmlformats.org/drawingml/2006/main">
            <a:off x="3381375" y="1962150"/>
            <a:ext cx="2238375" cy="2686050"/>
          </a:xfrm>
          <a:prstGeom xmlns:a="http://schemas.openxmlformats.org/drawingml/2006/main" prst="roundRect">
            <a:avLst>
              <a:gd name="adj" fmla="val 3404"/>
            </a:avLst>
          </a:prstGeom>
          <a:solidFill xmlns:a="http://schemas.openxmlformats.org/drawingml/2006/main">
            <a:srgbClr val="EEF4F8"/>
          </a:solidFill>
          <a:ln xmlns:a="http://schemas.openxmlformats.org/drawingml/2006/main" w="9525">
            <a:solidFill>
              <a:srgbClr val="CBD8E2"/>
            </a:solidFill>
          </a:ln>
        </p:spPr>
      </p:sp>
      <p:sp>
        <p:nvSpPr>
          <p:cNvPr id="12" name="">
            <a:extLst xmlns:a="http://schemas.openxmlformats.org/drawingml/2006/main">
              <a:ext uri="{FF2B5EF4-FFF2-40B4-BE49-F238E27FC236}">
                <a16:creationId xmlns:a16="http://schemas.microsoft.com/office/drawing/2014/main" id="{DC90F846-40CF-4B63-97E3-F4A71D05D1D4}"/>
              </a:ext>
            </a:extLst>
          </p:cNvPr>
          <p:cNvSpPr>
            <a:spLocks xmlns:a="http://schemas.openxmlformats.org/drawingml/2006/main" noGrp="1"/>
          </p:cNvSpPr>
          <p:nvPr/>
        </p:nvSpPr>
        <p:spPr>
          <a:xfrm xmlns:a="http://schemas.openxmlformats.org/drawingml/2006/main">
            <a:off x="3609975" y="215265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1E5A96"/>
                </a:solidFill>
                <a:latin typeface="Aptos"/>
                <a:ea typeface="Aptos"/>
                <a:cs typeface="Aptos"/>
              </a:defRPr>
            </a:pPr>
            <a:r>
              <a:rPr sz="1350" b="1">
                <a:solidFill>
                  <a:srgbClr val="1E5A96"/>
                </a:solidFill>
                <a:latin typeface="Aptos"/>
                <a:ea typeface="Aptos"/>
                <a:cs typeface="Aptos"/>
              </a:rPr>
              <a:t>02</a:t>
            </a:r>
          </a:p>
        </p:txBody>
      </p:sp>
      <p:sp>
        <p:nvSpPr>
          <p:cNvPr id="13" name="">
            <a:extLst xmlns:a="http://schemas.openxmlformats.org/drawingml/2006/main">
              <a:ext uri="{FF2B5EF4-FFF2-40B4-BE49-F238E27FC236}">
                <a16:creationId xmlns:a16="http://schemas.microsoft.com/office/drawing/2014/main" id="{172DCFF6-2FB5-4C18-8171-A20ABE178AA0}"/>
              </a:ext>
            </a:extLst>
          </p:cNvPr>
          <p:cNvSpPr>
            <a:spLocks xmlns:a="http://schemas.openxmlformats.org/drawingml/2006/main" noGrp="1"/>
          </p:cNvSpPr>
          <p:nvPr/>
        </p:nvSpPr>
        <p:spPr>
          <a:xfrm xmlns:a="http://schemas.openxmlformats.org/drawingml/2006/main">
            <a:off x="3609975" y="2647950"/>
            <a:ext cx="17811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725" b="1">
                <a:solidFill>
                  <a:srgbClr val="0B2545"/>
                </a:solidFill>
                <a:latin typeface="Aptos"/>
                <a:ea typeface="Aptos"/>
                <a:cs typeface="Aptos"/>
              </a:defRPr>
            </a:pPr>
            <a:r>
              <a:rPr sz="1725" b="1">
                <a:solidFill>
                  <a:srgbClr val="0B2545"/>
                </a:solidFill>
                <a:latin typeface="Aptos"/>
                <a:ea typeface="Aptos"/>
                <a:cs typeface="Aptos"/>
              </a:rPr>
              <a:t>Standarisasi</a:t>
            </a:r>
          </a:p>
        </p:txBody>
      </p:sp>
      <p:sp>
        <p:nvSpPr>
          <p:cNvPr id="14" name="">
            <a:extLst xmlns:a="http://schemas.openxmlformats.org/drawingml/2006/main">
              <a:ext uri="{FF2B5EF4-FFF2-40B4-BE49-F238E27FC236}">
                <a16:creationId xmlns:a16="http://schemas.microsoft.com/office/drawing/2014/main" id="{CF3BAD0B-58F6-48E4-BC84-D40F1CDC8E82}"/>
              </a:ext>
            </a:extLst>
          </p:cNvPr>
          <p:cNvSpPr>
            <a:spLocks xmlns:a="http://schemas.openxmlformats.org/drawingml/2006/main" noGrp="1"/>
          </p:cNvSpPr>
          <p:nvPr/>
        </p:nvSpPr>
        <p:spPr>
          <a:xfrm xmlns:a="http://schemas.openxmlformats.org/drawingml/2006/main">
            <a:off x="3609975" y="3238500"/>
            <a:ext cx="17811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506274"/>
                </a:solidFill>
                <a:latin typeface="Aptos"/>
                <a:ea typeface="Aptos"/>
                <a:cs typeface="Aptos"/>
              </a:defRPr>
            </a:pPr>
            <a:r>
              <a:rPr sz="1350" b="0">
                <a:solidFill>
                  <a:srgbClr val="506274"/>
                </a:solidFill>
                <a:latin typeface="Aptos"/>
                <a:ea typeface="Aptos"/>
                <a:cs typeface="Aptos"/>
              </a:rPr>
              <a:t>Definisi indikator</a:t>
            </a:r>
          </a:p>
          <a:p xmlns:a="http://schemas.openxmlformats.org/drawingml/2006/main">
            <a:pPr>
              <a:defRPr sz="1350" b="0">
                <a:solidFill>
                  <a:srgbClr val="506274"/>
                </a:solidFill>
                <a:latin typeface="Aptos"/>
                <a:ea typeface="Aptos"/>
                <a:cs typeface="Aptos"/>
              </a:defRPr>
            </a:pPr>
            <a:r>
              <a:rPr sz="1350" b="0">
                <a:solidFill>
                  <a:srgbClr val="506274"/>
                </a:solidFill>
                <a:latin typeface="Aptos"/>
                <a:ea typeface="Aptos"/>
                <a:cs typeface="Aptos"/>
              </a:rPr>
              <a:t>Periode dan wilayah</a:t>
            </a:r>
          </a:p>
          <a:p xmlns:a="http://schemas.openxmlformats.org/drawingml/2006/main">
            <a:pPr>
              <a:defRPr sz="1350" b="0">
                <a:solidFill>
                  <a:srgbClr val="506274"/>
                </a:solidFill>
                <a:latin typeface="Aptos"/>
                <a:ea typeface="Aptos"/>
                <a:cs typeface="Aptos"/>
              </a:defRPr>
            </a:pPr>
            <a:r>
              <a:rPr sz="1350" b="0">
                <a:solidFill>
                  <a:srgbClr val="506274"/>
                </a:solidFill>
                <a:latin typeface="Aptos"/>
                <a:ea typeface="Aptos"/>
                <a:cs typeface="Aptos"/>
              </a:rPr>
              <a:t>Metadata sumber</a:t>
            </a:r>
          </a:p>
        </p:txBody>
      </p:sp>
      <p:sp>
        <p:nvSpPr>
          <p:cNvPr id="15" name="">
            <a:extLst xmlns:a="http://schemas.openxmlformats.org/drawingml/2006/main">
              <a:ext uri="{FF2B5EF4-FFF2-40B4-BE49-F238E27FC236}">
                <a16:creationId xmlns:a16="http://schemas.microsoft.com/office/drawing/2014/main" id="{12B212EC-D54B-4BD8-9CAE-8E75746E4D2E}"/>
              </a:ext>
            </a:extLst>
          </p:cNvPr>
          <p:cNvSpPr>
            <a:spLocks xmlns:a="http://schemas.openxmlformats.org/drawingml/2006/main" noGrp="1"/>
          </p:cNvSpPr>
          <p:nvPr/>
        </p:nvSpPr>
        <p:spPr>
          <a:xfrm xmlns:a="http://schemas.openxmlformats.org/drawingml/2006/main">
            <a:off x="5686425" y="2857500"/>
            <a:ext cx="4000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095"/>
          </a:bodyPr>
          <a:lstStyle xmlns:a="http://schemas.openxmlformats.org/drawingml/2006/main"/>
          <a:p xmlns:a="http://schemas.openxmlformats.org/drawingml/2006/main">
            <a:pPr>
              <a:defRPr sz="3150" b="1">
                <a:solidFill>
                  <a:srgbClr val="5DA9E9"/>
                </a:solidFill>
                <a:latin typeface="Aptos"/>
                <a:ea typeface="Aptos"/>
                <a:cs typeface="Aptos"/>
              </a:defRPr>
            </a:pPr>
            <a:r>
              <a:rPr sz="3150" b="1">
                <a:solidFill>
                  <a:srgbClr val="5DA9E9"/>
                </a:solidFill>
                <a:latin typeface="Aptos"/>
                <a:ea typeface="Aptos"/>
                <a:cs typeface="Aptos"/>
              </a:rPr>
              <a:t>›</a:t>
            </a:r>
          </a:p>
        </p:txBody>
      </p:sp>
      <p:sp>
        <p:nvSpPr>
          <p:cNvPr id="16" name="">
            <a:extLst xmlns:a="http://schemas.openxmlformats.org/drawingml/2006/main">
              <a:ext uri="{FF2B5EF4-FFF2-40B4-BE49-F238E27FC236}">
                <a16:creationId xmlns:a16="http://schemas.microsoft.com/office/drawing/2014/main" id="{3F3E6F4E-6A50-41D4-9E83-E17152FCDDFB}"/>
              </a:ext>
            </a:extLst>
          </p:cNvPr>
          <p:cNvSpPr>
            <a:spLocks xmlns:a="http://schemas.openxmlformats.org/drawingml/2006/main" noGrp="1"/>
          </p:cNvSpPr>
          <p:nvPr/>
        </p:nvSpPr>
        <p:spPr>
          <a:xfrm xmlns:a="http://schemas.openxmlformats.org/drawingml/2006/main">
            <a:off x="6096000" y="1962150"/>
            <a:ext cx="2238375" cy="2686050"/>
          </a:xfrm>
          <a:prstGeom xmlns:a="http://schemas.openxmlformats.org/drawingml/2006/main" prst="roundRect">
            <a:avLst>
              <a:gd name="adj" fmla="val 3404"/>
            </a:avLst>
          </a:prstGeom>
          <a:solidFill xmlns:a="http://schemas.openxmlformats.org/drawingml/2006/main">
            <a:srgbClr val="EEF4F8"/>
          </a:solidFill>
          <a:ln xmlns:a="http://schemas.openxmlformats.org/drawingml/2006/main" w="9525">
            <a:solidFill>
              <a:srgbClr val="CBD8E2"/>
            </a:solidFill>
          </a:ln>
        </p:spPr>
      </p:sp>
      <p:sp>
        <p:nvSpPr>
          <p:cNvPr id="17" name="">
            <a:extLst xmlns:a="http://schemas.openxmlformats.org/drawingml/2006/main">
              <a:ext uri="{FF2B5EF4-FFF2-40B4-BE49-F238E27FC236}">
                <a16:creationId xmlns:a16="http://schemas.microsoft.com/office/drawing/2014/main" id="{3CD85A09-A91C-446C-B6E2-FD4BC40308E2}"/>
              </a:ext>
            </a:extLst>
          </p:cNvPr>
          <p:cNvSpPr>
            <a:spLocks xmlns:a="http://schemas.openxmlformats.org/drawingml/2006/main" noGrp="1"/>
          </p:cNvSpPr>
          <p:nvPr/>
        </p:nvSpPr>
        <p:spPr>
          <a:xfrm xmlns:a="http://schemas.openxmlformats.org/drawingml/2006/main">
            <a:off x="6324600" y="215265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1E5A96"/>
                </a:solidFill>
                <a:latin typeface="Aptos"/>
                <a:ea typeface="Aptos"/>
                <a:cs typeface="Aptos"/>
              </a:defRPr>
            </a:pPr>
            <a:r>
              <a:rPr sz="1350" b="1">
                <a:solidFill>
                  <a:srgbClr val="1E5A96"/>
                </a:solidFill>
                <a:latin typeface="Aptos"/>
                <a:ea typeface="Aptos"/>
                <a:cs typeface="Aptos"/>
              </a:rPr>
              <a:t>03</a:t>
            </a:r>
          </a:p>
        </p:txBody>
      </p:sp>
      <p:sp>
        <p:nvSpPr>
          <p:cNvPr id="18" name="">
            <a:extLst xmlns:a="http://schemas.openxmlformats.org/drawingml/2006/main">
              <a:ext uri="{FF2B5EF4-FFF2-40B4-BE49-F238E27FC236}">
                <a16:creationId xmlns:a16="http://schemas.microsoft.com/office/drawing/2014/main" id="{E7E49065-0B5F-4877-AADF-6F684F7B39A6}"/>
              </a:ext>
            </a:extLst>
          </p:cNvPr>
          <p:cNvSpPr>
            <a:spLocks xmlns:a="http://schemas.openxmlformats.org/drawingml/2006/main" noGrp="1"/>
          </p:cNvSpPr>
          <p:nvPr/>
        </p:nvSpPr>
        <p:spPr>
          <a:xfrm xmlns:a="http://schemas.openxmlformats.org/drawingml/2006/main">
            <a:off x="6324600" y="2647950"/>
            <a:ext cx="17811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725" b="1">
                <a:solidFill>
                  <a:srgbClr val="0B2545"/>
                </a:solidFill>
                <a:latin typeface="Aptos"/>
                <a:ea typeface="Aptos"/>
                <a:cs typeface="Aptos"/>
              </a:defRPr>
            </a:pPr>
            <a:r>
              <a:rPr sz="1725" b="1">
                <a:solidFill>
                  <a:srgbClr val="0B2545"/>
                </a:solidFill>
                <a:latin typeface="Aptos"/>
                <a:ea typeface="Aptos"/>
                <a:cs typeface="Aptos"/>
              </a:rPr>
              <a:t>Validasi</a:t>
            </a:r>
          </a:p>
        </p:txBody>
      </p:sp>
      <p:sp>
        <p:nvSpPr>
          <p:cNvPr id="19" name="">
            <a:extLst xmlns:a="http://schemas.openxmlformats.org/drawingml/2006/main">
              <a:ext uri="{FF2B5EF4-FFF2-40B4-BE49-F238E27FC236}">
                <a16:creationId xmlns:a16="http://schemas.microsoft.com/office/drawing/2014/main" id="{A6F0F833-0CE9-4DF6-BB7E-8C52D1EBEB1F}"/>
              </a:ext>
            </a:extLst>
          </p:cNvPr>
          <p:cNvSpPr>
            <a:spLocks xmlns:a="http://schemas.openxmlformats.org/drawingml/2006/main" noGrp="1"/>
          </p:cNvSpPr>
          <p:nvPr/>
        </p:nvSpPr>
        <p:spPr>
          <a:xfrm xmlns:a="http://schemas.openxmlformats.org/drawingml/2006/main">
            <a:off x="6324600" y="3238500"/>
            <a:ext cx="17811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506274"/>
                </a:solidFill>
                <a:latin typeface="Aptos"/>
                <a:ea typeface="Aptos"/>
                <a:cs typeface="Aptos"/>
              </a:defRPr>
            </a:pPr>
            <a:r>
              <a:rPr sz="1350" b="0">
                <a:solidFill>
                  <a:srgbClr val="506274"/>
                </a:solidFill>
                <a:latin typeface="Aptos"/>
                <a:ea typeface="Aptos"/>
                <a:cs typeface="Aptos"/>
              </a:rPr>
              <a:t>Pemeriksaan kualitas</a:t>
            </a:r>
          </a:p>
          <a:p xmlns:a="http://schemas.openxmlformats.org/drawingml/2006/main">
            <a:pPr>
              <a:defRPr sz="1350" b="0">
                <a:solidFill>
                  <a:srgbClr val="506274"/>
                </a:solidFill>
                <a:latin typeface="Aptos"/>
                <a:ea typeface="Aptos"/>
                <a:cs typeface="Aptos"/>
              </a:defRPr>
            </a:pPr>
            <a:r>
              <a:rPr sz="1350" b="0">
                <a:solidFill>
                  <a:srgbClr val="506274"/>
                </a:solidFill>
                <a:latin typeface="Aptos"/>
                <a:ea typeface="Aptos"/>
                <a:cs typeface="Aptos"/>
              </a:rPr>
              <a:t>Status persetujuan</a:t>
            </a:r>
          </a:p>
          <a:p xmlns:a="http://schemas.openxmlformats.org/drawingml/2006/main">
            <a:pPr>
              <a:defRPr sz="1350" b="0">
                <a:solidFill>
                  <a:srgbClr val="506274"/>
                </a:solidFill>
                <a:latin typeface="Aptos"/>
                <a:ea typeface="Aptos"/>
                <a:cs typeface="Aptos"/>
              </a:defRPr>
            </a:pPr>
            <a:r>
              <a:rPr sz="1350" b="0">
                <a:solidFill>
                  <a:srgbClr val="506274"/>
                </a:solidFill>
                <a:latin typeface="Aptos"/>
                <a:ea typeface="Aptos"/>
                <a:cs typeface="Aptos"/>
              </a:rPr>
              <a:t>Catatan koreksi</a:t>
            </a:r>
          </a:p>
        </p:txBody>
      </p:sp>
      <p:sp>
        <p:nvSpPr>
          <p:cNvPr id="20" name="">
            <a:extLst xmlns:a="http://schemas.openxmlformats.org/drawingml/2006/main">
              <a:ext uri="{FF2B5EF4-FFF2-40B4-BE49-F238E27FC236}">
                <a16:creationId xmlns:a16="http://schemas.microsoft.com/office/drawing/2014/main" id="{B8CF922F-6DCC-4D4B-87EE-5016CC7C8435}"/>
              </a:ext>
            </a:extLst>
          </p:cNvPr>
          <p:cNvSpPr>
            <a:spLocks xmlns:a="http://schemas.openxmlformats.org/drawingml/2006/main" noGrp="1"/>
          </p:cNvSpPr>
          <p:nvPr/>
        </p:nvSpPr>
        <p:spPr>
          <a:xfrm xmlns:a="http://schemas.openxmlformats.org/drawingml/2006/main">
            <a:off x="8401050" y="2857500"/>
            <a:ext cx="4000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095"/>
          </a:bodyPr>
          <a:lstStyle xmlns:a="http://schemas.openxmlformats.org/drawingml/2006/main"/>
          <a:p xmlns:a="http://schemas.openxmlformats.org/drawingml/2006/main">
            <a:pPr>
              <a:defRPr sz="3150" b="1">
                <a:solidFill>
                  <a:srgbClr val="5DA9E9"/>
                </a:solidFill>
                <a:latin typeface="Aptos"/>
                <a:ea typeface="Aptos"/>
                <a:cs typeface="Aptos"/>
              </a:defRPr>
            </a:pPr>
            <a:r>
              <a:rPr sz="3150" b="1">
                <a:solidFill>
                  <a:srgbClr val="5DA9E9"/>
                </a:solidFill>
                <a:latin typeface="Aptos"/>
                <a:ea typeface="Aptos"/>
                <a:cs typeface="Aptos"/>
              </a:rPr>
              <a:t>›</a:t>
            </a:r>
          </a:p>
        </p:txBody>
      </p:sp>
      <p:sp>
        <p:nvSpPr>
          <p:cNvPr id="21" name="">
            <a:extLst xmlns:a="http://schemas.openxmlformats.org/drawingml/2006/main">
              <a:ext uri="{FF2B5EF4-FFF2-40B4-BE49-F238E27FC236}">
                <a16:creationId xmlns:a16="http://schemas.microsoft.com/office/drawing/2014/main" id="{81737EBE-3880-455B-8C03-A9249FD2A8B7}"/>
              </a:ext>
            </a:extLst>
          </p:cNvPr>
          <p:cNvSpPr>
            <a:spLocks xmlns:a="http://schemas.openxmlformats.org/drawingml/2006/main" noGrp="1"/>
          </p:cNvSpPr>
          <p:nvPr/>
        </p:nvSpPr>
        <p:spPr>
          <a:xfrm xmlns:a="http://schemas.openxmlformats.org/drawingml/2006/main">
            <a:off x="8810625" y="1962150"/>
            <a:ext cx="2238375" cy="2686050"/>
          </a:xfrm>
          <a:prstGeom xmlns:a="http://schemas.openxmlformats.org/drawingml/2006/main" prst="roundRect">
            <a:avLst>
              <a:gd name="adj" fmla="val 3404"/>
            </a:avLst>
          </a:prstGeom>
          <a:solidFill xmlns:a="http://schemas.openxmlformats.org/drawingml/2006/main">
            <a:srgbClr val="0B2545"/>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2F93C74C-A382-4018-B32C-57CA8BE4D3DC}"/>
              </a:ext>
            </a:extLst>
          </p:cNvPr>
          <p:cNvSpPr>
            <a:spLocks xmlns:a="http://schemas.openxmlformats.org/drawingml/2006/main" noGrp="1"/>
          </p:cNvSpPr>
          <p:nvPr/>
        </p:nvSpPr>
        <p:spPr>
          <a:xfrm xmlns:a="http://schemas.openxmlformats.org/drawingml/2006/main">
            <a:off x="9039225" y="215265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5DA9E9"/>
                </a:solidFill>
                <a:latin typeface="Aptos"/>
                <a:ea typeface="Aptos"/>
                <a:cs typeface="Aptos"/>
              </a:defRPr>
            </a:pPr>
            <a:r>
              <a:rPr sz="1350" b="1">
                <a:solidFill>
                  <a:srgbClr val="5DA9E9"/>
                </a:solidFill>
                <a:latin typeface="Aptos"/>
                <a:ea typeface="Aptos"/>
                <a:cs typeface="Aptos"/>
              </a:rPr>
              <a:t>04</a:t>
            </a:r>
          </a:p>
        </p:txBody>
      </p:sp>
      <p:sp>
        <p:nvSpPr>
          <p:cNvPr id="23" name="">
            <a:extLst xmlns:a="http://schemas.openxmlformats.org/drawingml/2006/main">
              <a:ext uri="{FF2B5EF4-FFF2-40B4-BE49-F238E27FC236}">
                <a16:creationId xmlns:a16="http://schemas.microsoft.com/office/drawing/2014/main" id="{8F432F9F-0DF0-4594-B441-CBF987364AF5}"/>
              </a:ext>
            </a:extLst>
          </p:cNvPr>
          <p:cNvSpPr>
            <a:spLocks xmlns:a="http://schemas.openxmlformats.org/drawingml/2006/main" noGrp="1"/>
          </p:cNvSpPr>
          <p:nvPr/>
        </p:nvSpPr>
        <p:spPr>
          <a:xfrm xmlns:a="http://schemas.openxmlformats.org/drawingml/2006/main">
            <a:off x="9039225" y="2647950"/>
            <a:ext cx="17811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725" b="1">
                <a:solidFill>
                  <a:srgbClr val="FFFFFF"/>
                </a:solidFill>
                <a:latin typeface="Aptos"/>
                <a:ea typeface="Aptos"/>
                <a:cs typeface="Aptos"/>
              </a:defRPr>
            </a:pPr>
            <a:r>
              <a:rPr sz="1725" b="1">
                <a:solidFill>
                  <a:srgbClr val="FFFFFF"/>
                </a:solidFill>
                <a:latin typeface="Aptos"/>
                <a:ea typeface="Aptos"/>
                <a:cs typeface="Aptos"/>
              </a:rPr>
              <a:t>Pemanfaatan</a:t>
            </a:r>
          </a:p>
        </p:txBody>
      </p:sp>
      <p:sp>
        <p:nvSpPr>
          <p:cNvPr id="24" name="">
            <a:extLst xmlns:a="http://schemas.openxmlformats.org/drawingml/2006/main">
              <a:ext uri="{FF2B5EF4-FFF2-40B4-BE49-F238E27FC236}">
                <a16:creationId xmlns:a16="http://schemas.microsoft.com/office/drawing/2014/main" id="{57BA11DE-3143-4BEC-8B55-15D6A71424C5}"/>
              </a:ext>
            </a:extLst>
          </p:cNvPr>
          <p:cNvSpPr>
            <a:spLocks xmlns:a="http://schemas.openxmlformats.org/drawingml/2006/main" noGrp="1"/>
          </p:cNvSpPr>
          <p:nvPr/>
        </p:nvSpPr>
        <p:spPr>
          <a:xfrm xmlns:a="http://schemas.openxmlformats.org/drawingml/2006/main">
            <a:off x="9039225" y="3238500"/>
            <a:ext cx="17811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D7E5F1"/>
                </a:solidFill>
                <a:latin typeface="Aptos"/>
                <a:ea typeface="Aptos"/>
                <a:cs typeface="Aptos"/>
              </a:defRPr>
            </a:pPr>
            <a:r>
              <a:rPr sz="1350" b="0">
                <a:solidFill>
                  <a:srgbClr val="D7E5F1"/>
                </a:solidFill>
                <a:latin typeface="Aptos"/>
                <a:ea typeface="Aptos"/>
                <a:cs typeface="Aptos"/>
              </a:rPr>
              <a:t>Ringkasan pimpinan</a:t>
            </a:r>
          </a:p>
          <a:p xmlns:a="http://schemas.openxmlformats.org/drawingml/2006/main">
            <a:pPr>
              <a:defRPr sz="1350" b="0">
                <a:solidFill>
                  <a:srgbClr val="D7E5F1"/>
                </a:solidFill>
                <a:latin typeface="Aptos"/>
                <a:ea typeface="Aptos"/>
                <a:cs typeface="Aptos"/>
              </a:defRPr>
            </a:pPr>
            <a:r>
              <a:rPr sz="1350" b="0">
                <a:solidFill>
                  <a:srgbClr val="D7E5F1"/>
                </a:solidFill>
                <a:latin typeface="Aptos"/>
                <a:ea typeface="Aptos"/>
                <a:cs typeface="Aptos"/>
              </a:rPr>
              <a:t>Analisis lintas sektor</a:t>
            </a:r>
          </a:p>
          <a:p xmlns:a="http://schemas.openxmlformats.org/drawingml/2006/main">
            <a:pPr>
              <a:defRPr sz="1350" b="0">
                <a:solidFill>
                  <a:srgbClr val="D7E5F1"/>
                </a:solidFill>
                <a:latin typeface="Aptos"/>
                <a:ea typeface="Aptos"/>
                <a:cs typeface="Aptos"/>
              </a:defRPr>
            </a:pPr>
            <a:r>
              <a:rPr sz="1350" b="0">
                <a:solidFill>
                  <a:srgbClr val="D7E5F1"/>
                </a:solidFill>
                <a:latin typeface="Aptos"/>
                <a:ea typeface="Aptos"/>
                <a:cs typeface="Aptos"/>
              </a:rPr>
              <a:t>Tindak lanjut</a:t>
            </a:r>
          </a:p>
        </p:txBody>
      </p:sp>
      <p:sp>
        <p:nvSpPr>
          <p:cNvPr id="25" name="">
            <a:extLst xmlns:a="http://schemas.openxmlformats.org/drawingml/2006/main">
              <a:ext uri="{FF2B5EF4-FFF2-40B4-BE49-F238E27FC236}">
                <a16:creationId xmlns:a16="http://schemas.microsoft.com/office/drawing/2014/main" id="{672FF76F-E2E7-4EAC-8050-E25E7ECA9518}"/>
              </a:ext>
            </a:extLst>
          </p:cNvPr>
          <p:cNvSpPr>
            <a:spLocks xmlns:a="http://schemas.openxmlformats.org/drawingml/2006/main" noGrp="1"/>
          </p:cNvSpPr>
          <p:nvPr/>
        </p:nvSpPr>
        <p:spPr>
          <a:xfrm xmlns:a="http://schemas.openxmlformats.org/drawingml/2006/main">
            <a:off x="1104900" y="5219700"/>
            <a:ext cx="9982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1">
                <a:solidFill>
                  <a:srgbClr val="0B2545"/>
                </a:solidFill>
                <a:latin typeface="Aptos"/>
                <a:ea typeface="Aptos"/>
                <a:cs typeface="Aptos"/>
              </a:defRPr>
            </a:pPr>
            <a:r>
              <a:rPr sz="1575" b="1">
                <a:solidFill>
                  <a:srgbClr val="0B2545"/>
                </a:solidFill>
                <a:latin typeface="Aptos"/>
                <a:ea typeface="Aptos"/>
                <a:cs typeface="Aptos"/>
              </a:rPr>
              <a:t>Nilai utamanya bukan sekadar tampilan dashboard, melainkan kesepakatan definisi, sumber, validasi, dan penggunaan data.</a:t>
            </a:r>
          </a:p>
        </p:txBody>
      </p:sp>
    </p:spTree>
    <p:extLst>
      <p:ext uri="{BB962C8B-B14F-4D97-AF65-F5344CB8AC3E}">
        <p14:creationId xmlns:p14="http://schemas.microsoft.com/office/powerpoint/2010/main" val="175661043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DAFF6DAC-D892-4503-87DD-F4FA78BFBD1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5DA9E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58D19E7-F5DC-4C21-9A47-F8261C2D5894}"/>
              </a:ext>
            </a:extLst>
          </p:cNvPr>
          <p:cNvSpPr>
            <a:spLocks xmlns:a="http://schemas.openxmlformats.org/drawingml/2006/main" noGrp="1"/>
          </p:cNvSpPr>
          <p:nvPr/>
        </p:nvSpPr>
        <p:spPr>
          <a:xfrm xmlns:a="http://schemas.openxmlformats.org/drawingml/2006/main">
            <a:off x="590550" y="361950"/>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400" b="1">
                <a:solidFill>
                  <a:srgbClr val="0B2545"/>
                </a:solidFill>
                <a:latin typeface="Aptos"/>
                <a:ea typeface="Aptos"/>
                <a:cs typeface="Aptos"/>
              </a:defRPr>
            </a:pPr>
            <a:r>
              <a:rPr sz="2400" b="1">
                <a:solidFill>
                  <a:srgbClr val="0B2545"/>
                </a:solidFill>
                <a:latin typeface="Aptos"/>
                <a:ea typeface="Aptos"/>
                <a:cs typeface="Aptos"/>
              </a:rPr>
              <a:t>Posisi prototipe saat ini</a:t>
            </a:r>
          </a:p>
        </p:txBody>
      </p:sp>
      <p:sp>
        <p:nvSpPr>
          <p:cNvPr id="3" name="">
            <a:extLst xmlns:a="http://schemas.openxmlformats.org/drawingml/2006/main">
              <a:ext uri="{FF2B5EF4-FFF2-40B4-BE49-F238E27FC236}">
                <a16:creationId xmlns:a16="http://schemas.microsoft.com/office/drawing/2014/main" id="{B56EFDCB-65D8-40BE-AFAC-2FCFAB8EFCD4}"/>
              </a:ext>
            </a:extLst>
          </p:cNvPr>
          <p:cNvSpPr>
            <a:spLocks xmlns:a="http://schemas.openxmlformats.org/drawingml/2006/main" noGrp="1"/>
          </p:cNvSpPr>
          <p:nvPr/>
        </p:nvSpPr>
        <p:spPr>
          <a:xfrm xmlns:a="http://schemas.openxmlformats.org/drawingml/2006/main">
            <a:off x="609600" y="857250"/>
            <a:ext cx="1028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506274"/>
                </a:solidFill>
                <a:latin typeface="Aptos"/>
                <a:ea typeface="Aptos"/>
                <a:cs typeface="Aptos"/>
              </a:defRPr>
            </a:pPr>
            <a:r>
              <a:rPr sz="1275" b="0">
                <a:solidFill>
                  <a:srgbClr val="506274"/>
                </a:solidFill>
                <a:latin typeface="Aptos"/>
                <a:ea typeface="Aptos"/>
                <a:cs typeface="Aptos"/>
              </a:rPr>
              <a:t>Siap untuk menguji alur dan kebutuhan, belum untuk operasional pemerintahan</a:t>
            </a:r>
          </a:p>
        </p:txBody>
      </p:sp>
      <p:sp>
        <p:nvSpPr>
          <p:cNvPr id="4" name="">
            <a:extLst xmlns:a="http://schemas.openxmlformats.org/drawingml/2006/main">
              <a:ext uri="{FF2B5EF4-FFF2-40B4-BE49-F238E27FC236}">
                <a16:creationId xmlns:a16="http://schemas.microsoft.com/office/drawing/2014/main" id="{12AB2212-076C-4913-8F1B-82F6628BF016}"/>
              </a:ext>
            </a:extLst>
          </p:cNvPr>
          <p:cNvSpPr>
            <a:spLocks xmlns:a="http://schemas.openxmlformats.org/drawingml/2006/main" noGrp="1"/>
          </p:cNvSpPr>
          <p:nvPr/>
        </p:nvSpPr>
        <p:spPr>
          <a:xfrm xmlns:a="http://schemas.openxmlformats.org/drawingml/2006/main">
            <a:off x="590550" y="1219200"/>
            <a:ext cx="10953750" cy="19050"/>
          </a:xfrm>
          <a:prstGeom xmlns:a="http://schemas.openxmlformats.org/drawingml/2006/main" prst="rect">
            <a:avLst/>
          </a:prstGeom>
          <a:solidFill xmlns:a="http://schemas.openxmlformats.org/drawingml/2006/main">
            <a:srgbClr val="CBD8E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D89BACB-D828-4A33-926D-1313E28E407D}"/>
              </a:ext>
            </a:extLst>
          </p:cNvPr>
          <p:cNvSpPr>
            <a:spLocks xmlns:a="http://schemas.openxmlformats.org/drawingml/2006/main" noGrp="1"/>
          </p:cNvSpPr>
          <p:nvPr/>
        </p:nvSpPr>
        <p:spPr>
          <a:xfrm xmlns:a="http://schemas.openxmlformats.org/drawingml/2006/main">
            <a:off x="11096625" y="400050"/>
            <a:ext cx="438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506274"/>
                </a:solidFill>
                <a:latin typeface="Aptos"/>
                <a:ea typeface="Aptos"/>
                <a:cs typeface="Aptos"/>
              </a:defRPr>
            </a:pPr>
            <a:r>
              <a:rPr sz="1125" b="1">
                <a:solidFill>
                  <a:srgbClr val="506274"/>
                </a:solidFill>
                <a:latin typeface="Aptos"/>
                <a:ea typeface="Aptos"/>
                <a:cs typeface="Aptos"/>
              </a:rPr>
              <a:t>05</a:t>
            </a:r>
          </a:p>
        </p:txBody>
      </p:sp>
      <p:sp>
        <p:nvSpPr>
          <p:cNvPr id="6" name="">
            <a:extLst xmlns:a="http://schemas.openxmlformats.org/drawingml/2006/main">
              <a:ext uri="{FF2B5EF4-FFF2-40B4-BE49-F238E27FC236}">
                <a16:creationId xmlns:a16="http://schemas.microsoft.com/office/drawing/2014/main" id="{63D5FB8C-9045-4233-B757-C326A4EA47F9}"/>
              </a:ext>
            </a:extLst>
          </p:cNvPr>
          <p:cNvSpPr>
            <a:spLocks xmlns:a="http://schemas.openxmlformats.org/drawingml/2006/main" noGrp="1"/>
          </p:cNvSpPr>
          <p:nvPr/>
        </p:nvSpPr>
        <p:spPr>
          <a:xfrm xmlns:a="http://schemas.openxmlformats.org/drawingml/2006/main">
            <a:off x="723900" y="1657350"/>
            <a:ext cx="457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2C7A66"/>
                </a:solidFill>
                <a:latin typeface="Aptos"/>
                <a:ea typeface="Aptos"/>
                <a:cs typeface="Aptos"/>
              </a:defRPr>
            </a:pPr>
            <a:r>
              <a:rPr sz="1125" b="1">
                <a:solidFill>
                  <a:srgbClr val="2C7A66"/>
                </a:solidFill>
                <a:latin typeface="Aptos"/>
                <a:ea typeface="Aptos"/>
                <a:cs typeface="Aptos"/>
              </a:rPr>
              <a:t>SUDAH DAPAT DIDEMONSTRASIKAN</a:t>
            </a:r>
          </a:p>
        </p:txBody>
      </p:sp>
      <p:sp>
        <p:nvSpPr>
          <p:cNvPr id="7" name="">
            <a:extLst xmlns:a="http://schemas.openxmlformats.org/drawingml/2006/main">
              <a:ext uri="{FF2B5EF4-FFF2-40B4-BE49-F238E27FC236}">
                <a16:creationId xmlns:a16="http://schemas.microsoft.com/office/drawing/2014/main" id="{D03731B1-ED49-4ECD-8846-90A54B7AB21D}"/>
              </a:ext>
            </a:extLst>
          </p:cNvPr>
          <p:cNvSpPr>
            <a:spLocks xmlns:a="http://schemas.openxmlformats.org/drawingml/2006/main" noGrp="1"/>
          </p:cNvSpPr>
          <p:nvPr/>
        </p:nvSpPr>
        <p:spPr>
          <a:xfrm xmlns:a="http://schemas.openxmlformats.org/drawingml/2006/main">
            <a:off x="6553200" y="1657350"/>
            <a:ext cx="457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B84A52"/>
                </a:solidFill>
                <a:latin typeface="Aptos"/>
                <a:ea typeface="Aptos"/>
                <a:cs typeface="Aptos"/>
              </a:defRPr>
            </a:pPr>
            <a:r>
              <a:rPr sz="1125" b="1">
                <a:solidFill>
                  <a:srgbClr val="B84A52"/>
                </a:solidFill>
                <a:latin typeface="Aptos"/>
                <a:ea typeface="Aptos"/>
                <a:cs typeface="Aptos"/>
              </a:rPr>
              <a:t>MASIH MEMERLUKAN KESEPAKATAN</a:t>
            </a:r>
          </a:p>
        </p:txBody>
      </p:sp>
      <p:sp>
        <p:nvSpPr>
          <p:cNvPr id="8" name="">
            <a:extLst xmlns:a="http://schemas.openxmlformats.org/drawingml/2006/main">
              <a:ext uri="{FF2B5EF4-FFF2-40B4-BE49-F238E27FC236}">
                <a16:creationId xmlns:a16="http://schemas.microsoft.com/office/drawing/2014/main" id="{83F9F778-40B2-40A2-B693-433E3AD773B5}"/>
              </a:ext>
            </a:extLst>
          </p:cNvPr>
          <p:cNvSpPr>
            <a:spLocks xmlns:a="http://schemas.openxmlformats.org/drawingml/2006/main" noGrp="1"/>
          </p:cNvSpPr>
          <p:nvPr/>
        </p:nvSpPr>
        <p:spPr>
          <a:xfrm xmlns:a="http://schemas.openxmlformats.org/drawingml/2006/main">
            <a:off x="762000" y="2190750"/>
            <a:ext cx="361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2C7A66"/>
                </a:solidFill>
                <a:latin typeface="Aptos"/>
                <a:ea typeface="Aptos"/>
                <a:cs typeface="Aptos"/>
              </a:defRPr>
            </a:pPr>
            <a:r>
              <a:rPr sz="1650" b="1">
                <a:solidFill>
                  <a:srgbClr val="2C7A66"/>
                </a:solidFill>
                <a:latin typeface="Aptos"/>
                <a:ea typeface="Aptos"/>
                <a:cs typeface="Aptos"/>
              </a:rPr>
              <a:t>✓</a:t>
            </a:r>
          </a:p>
        </p:txBody>
      </p:sp>
      <p:sp>
        <p:nvSpPr>
          <p:cNvPr id="9" name="">
            <a:extLst xmlns:a="http://schemas.openxmlformats.org/drawingml/2006/main">
              <a:ext uri="{FF2B5EF4-FFF2-40B4-BE49-F238E27FC236}">
                <a16:creationId xmlns:a16="http://schemas.microsoft.com/office/drawing/2014/main" id="{8C4CB2C1-C922-4CF5-B6D4-D0125B2D0DF1}"/>
              </a:ext>
            </a:extLst>
          </p:cNvPr>
          <p:cNvSpPr>
            <a:spLocks xmlns:a="http://schemas.openxmlformats.org/drawingml/2006/main" noGrp="1"/>
          </p:cNvSpPr>
          <p:nvPr/>
        </p:nvSpPr>
        <p:spPr>
          <a:xfrm xmlns:a="http://schemas.openxmlformats.org/drawingml/2006/main">
            <a:off x="1200150" y="2152650"/>
            <a:ext cx="4191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152536"/>
                </a:solidFill>
                <a:latin typeface="Aptos"/>
                <a:ea typeface="Aptos"/>
                <a:cs typeface="Aptos"/>
              </a:defRPr>
            </a:pPr>
            <a:r>
              <a:rPr sz="1425" b="0">
                <a:solidFill>
                  <a:srgbClr val="152536"/>
                </a:solidFill>
                <a:latin typeface="Aptos"/>
                <a:ea typeface="Aptos"/>
                <a:cs typeface="Aptos"/>
              </a:rPr>
              <a:t>Ringkasan eksekutif dan tren 2022–2026</a:t>
            </a:r>
          </a:p>
        </p:txBody>
      </p:sp>
      <p:sp>
        <p:nvSpPr>
          <p:cNvPr id="10" name="">
            <a:extLst xmlns:a="http://schemas.openxmlformats.org/drawingml/2006/main">
              <a:ext uri="{FF2B5EF4-FFF2-40B4-BE49-F238E27FC236}">
                <a16:creationId xmlns:a16="http://schemas.microsoft.com/office/drawing/2014/main" id="{F8F7C3D8-A06A-4C3E-A2C9-731C1B188294}"/>
              </a:ext>
            </a:extLst>
          </p:cNvPr>
          <p:cNvSpPr>
            <a:spLocks xmlns:a="http://schemas.openxmlformats.org/drawingml/2006/main" noGrp="1"/>
          </p:cNvSpPr>
          <p:nvPr/>
        </p:nvSpPr>
        <p:spPr>
          <a:xfrm xmlns:a="http://schemas.openxmlformats.org/drawingml/2006/main">
            <a:off x="762000" y="2933700"/>
            <a:ext cx="361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2C7A66"/>
                </a:solidFill>
                <a:latin typeface="Aptos"/>
                <a:ea typeface="Aptos"/>
                <a:cs typeface="Aptos"/>
              </a:defRPr>
            </a:pPr>
            <a:r>
              <a:rPr sz="1650" b="1">
                <a:solidFill>
                  <a:srgbClr val="2C7A66"/>
                </a:solidFill>
                <a:latin typeface="Aptos"/>
                <a:ea typeface="Aptos"/>
                <a:cs typeface="Aptos"/>
              </a:rPr>
              <a:t>✓</a:t>
            </a:r>
          </a:p>
        </p:txBody>
      </p:sp>
      <p:sp>
        <p:nvSpPr>
          <p:cNvPr id="11" name="">
            <a:extLst xmlns:a="http://schemas.openxmlformats.org/drawingml/2006/main">
              <a:ext uri="{FF2B5EF4-FFF2-40B4-BE49-F238E27FC236}">
                <a16:creationId xmlns:a16="http://schemas.microsoft.com/office/drawing/2014/main" id="{383C1405-2F94-4015-9011-1121A1ED5DAF}"/>
              </a:ext>
            </a:extLst>
          </p:cNvPr>
          <p:cNvSpPr>
            <a:spLocks xmlns:a="http://schemas.openxmlformats.org/drawingml/2006/main" noGrp="1"/>
          </p:cNvSpPr>
          <p:nvPr/>
        </p:nvSpPr>
        <p:spPr>
          <a:xfrm xmlns:a="http://schemas.openxmlformats.org/drawingml/2006/main">
            <a:off x="1200150" y="2895600"/>
            <a:ext cx="4191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152536"/>
                </a:solidFill>
                <a:latin typeface="Aptos"/>
                <a:ea typeface="Aptos"/>
                <a:cs typeface="Aptos"/>
              </a:defRPr>
            </a:pPr>
            <a:r>
              <a:rPr sz="1425" b="0">
                <a:solidFill>
                  <a:srgbClr val="152536"/>
                </a:solidFill>
                <a:latin typeface="Aptos"/>
                <a:ea typeface="Aptos"/>
                <a:cs typeface="Aptos"/>
              </a:rPr>
              <a:t>Peta wilayah, kinerja OPD, keuangan, dan layanan</a:t>
            </a:r>
          </a:p>
        </p:txBody>
      </p:sp>
      <p:sp>
        <p:nvSpPr>
          <p:cNvPr id="12" name="">
            <a:extLst xmlns:a="http://schemas.openxmlformats.org/drawingml/2006/main">
              <a:ext uri="{FF2B5EF4-FFF2-40B4-BE49-F238E27FC236}">
                <a16:creationId xmlns:a16="http://schemas.microsoft.com/office/drawing/2014/main" id="{6CFE9C0C-B762-4DFB-BC82-F6902426A501}"/>
              </a:ext>
            </a:extLst>
          </p:cNvPr>
          <p:cNvSpPr>
            <a:spLocks xmlns:a="http://schemas.openxmlformats.org/drawingml/2006/main" noGrp="1"/>
          </p:cNvSpPr>
          <p:nvPr/>
        </p:nvSpPr>
        <p:spPr>
          <a:xfrm xmlns:a="http://schemas.openxmlformats.org/drawingml/2006/main">
            <a:off x="762000" y="3676650"/>
            <a:ext cx="361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2C7A66"/>
                </a:solidFill>
                <a:latin typeface="Aptos"/>
                <a:ea typeface="Aptos"/>
                <a:cs typeface="Aptos"/>
              </a:defRPr>
            </a:pPr>
            <a:r>
              <a:rPr sz="1650" b="1">
                <a:solidFill>
                  <a:srgbClr val="2C7A66"/>
                </a:solidFill>
                <a:latin typeface="Aptos"/>
                <a:ea typeface="Aptos"/>
                <a:cs typeface="Aptos"/>
              </a:rPr>
              <a:t>✓</a:t>
            </a:r>
          </a:p>
        </p:txBody>
      </p:sp>
      <p:sp>
        <p:nvSpPr>
          <p:cNvPr id="13" name="">
            <a:extLst xmlns:a="http://schemas.openxmlformats.org/drawingml/2006/main">
              <a:ext uri="{FF2B5EF4-FFF2-40B4-BE49-F238E27FC236}">
                <a16:creationId xmlns:a16="http://schemas.microsoft.com/office/drawing/2014/main" id="{FF62097D-D5F7-419F-BE83-8691F9E7682D}"/>
              </a:ext>
            </a:extLst>
          </p:cNvPr>
          <p:cNvSpPr>
            <a:spLocks xmlns:a="http://schemas.openxmlformats.org/drawingml/2006/main" noGrp="1"/>
          </p:cNvSpPr>
          <p:nvPr/>
        </p:nvSpPr>
        <p:spPr>
          <a:xfrm xmlns:a="http://schemas.openxmlformats.org/drawingml/2006/main">
            <a:off x="1200150" y="3638550"/>
            <a:ext cx="4191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152536"/>
                </a:solidFill>
                <a:latin typeface="Aptos"/>
                <a:ea typeface="Aptos"/>
                <a:cs typeface="Aptos"/>
              </a:defRPr>
            </a:pPr>
            <a:r>
              <a:rPr sz="1425" b="0">
                <a:solidFill>
                  <a:srgbClr val="152536"/>
                </a:solidFill>
                <a:latin typeface="Aptos"/>
                <a:ea typeface="Aptos"/>
                <a:cs typeface="Aptos"/>
              </a:rPr>
              <a:t>Analisis, peringatan, sumber, serta validasi data</a:t>
            </a:r>
          </a:p>
        </p:txBody>
      </p:sp>
      <p:sp>
        <p:nvSpPr>
          <p:cNvPr id="14" name="">
            <a:extLst xmlns:a="http://schemas.openxmlformats.org/drawingml/2006/main">
              <a:ext uri="{FF2B5EF4-FFF2-40B4-BE49-F238E27FC236}">
                <a16:creationId xmlns:a16="http://schemas.microsoft.com/office/drawing/2014/main" id="{BFF8CEAD-88F4-4898-A29A-CCB15CB410CB}"/>
              </a:ext>
            </a:extLst>
          </p:cNvPr>
          <p:cNvSpPr>
            <a:spLocks xmlns:a="http://schemas.openxmlformats.org/drawingml/2006/main" noGrp="1"/>
          </p:cNvSpPr>
          <p:nvPr/>
        </p:nvSpPr>
        <p:spPr>
          <a:xfrm xmlns:a="http://schemas.openxmlformats.org/drawingml/2006/main">
            <a:off x="762000" y="4419600"/>
            <a:ext cx="361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2C7A66"/>
                </a:solidFill>
                <a:latin typeface="Aptos"/>
                <a:ea typeface="Aptos"/>
                <a:cs typeface="Aptos"/>
              </a:defRPr>
            </a:pPr>
            <a:r>
              <a:rPr sz="1650" b="1">
                <a:solidFill>
                  <a:srgbClr val="2C7A66"/>
                </a:solidFill>
                <a:latin typeface="Aptos"/>
                <a:ea typeface="Aptos"/>
                <a:cs typeface="Aptos"/>
              </a:rPr>
              <a:t>✓</a:t>
            </a:r>
          </a:p>
        </p:txBody>
      </p:sp>
      <p:sp>
        <p:nvSpPr>
          <p:cNvPr id="15" name="">
            <a:extLst xmlns:a="http://schemas.openxmlformats.org/drawingml/2006/main">
              <a:ext uri="{FF2B5EF4-FFF2-40B4-BE49-F238E27FC236}">
                <a16:creationId xmlns:a16="http://schemas.microsoft.com/office/drawing/2014/main" id="{7D12491C-4338-4B81-A4FA-46DE2BA84A96}"/>
              </a:ext>
            </a:extLst>
          </p:cNvPr>
          <p:cNvSpPr>
            <a:spLocks xmlns:a="http://schemas.openxmlformats.org/drawingml/2006/main" noGrp="1"/>
          </p:cNvSpPr>
          <p:nvPr/>
        </p:nvSpPr>
        <p:spPr>
          <a:xfrm xmlns:a="http://schemas.openxmlformats.org/drawingml/2006/main">
            <a:off x="1200150" y="4381500"/>
            <a:ext cx="4191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152536"/>
                </a:solidFill>
                <a:latin typeface="Aptos"/>
                <a:ea typeface="Aptos"/>
                <a:cs typeface="Aptos"/>
              </a:defRPr>
            </a:pPr>
            <a:r>
              <a:rPr sz="1425" b="0">
                <a:solidFill>
                  <a:srgbClr val="152536"/>
                </a:solidFill>
                <a:latin typeface="Aptos"/>
                <a:ea typeface="Aptos"/>
                <a:cs typeface="Aptos"/>
              </a:rPr>
              <a:t>Simulasi Asisten Data dengan konteks tahun aktif</a:t>
            </a:r>
          </a:p>
        </p:txBody>
      </p:sp>
      <p:sp>
        <p:nvSpPr>
          <p:cNvPr id="16" name="">
            <a:extLst xmlns:a="http://schemas.openxmlformats.org/drawingml/2006/main">
              <a:ext uri="{FF2B5EF4-FFF2-40B4-BE49-F238E27FC236}">
                <a16:creationId xmlns:a16="http://schemas.microsoft.com/office/drawing/2014/main" id="{00ABE3FF-308A-48E4-9754-08B196EE2AA6}"/>
              </a:ext>
            </a:extLst>
          </p:cNvPr>
          <p:cNvSpPr>
            <a:spLocks xmlns:a="http://schemas.openxmlformats.org/drawingml/2006/main" noGrp="1"/>
          </p:cNvSpPr>
          <p:nvPr/>
        </p:nvSpPr>
        <p:spPr>
          <a:xfrm xmlns:a="http://schemas.openxmlformats.org/drawingml/2006/main">
            <a:off x="6572250" y="2190750"/>
            <a:ext cx="361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B84A52"/>
                </a:solidFill>
                <a:latin typeface="Aptos"/>
                <a:ea typeface="Aptos"/>
                <a:cs typeface="Aptos"/>
              </a:defRPr>
            </a:pPr>
            <a:r>
              <a:rPr sz="1650" b="1">
                <a:solidFill>
                  <a:srgbClr val="B84A52"/>
                </a:solidFill>
                <a:latin typeface="Aptos"/>
                <a:ea typeface="Aptos"/>
                <a:cs typeface="Aptos"/>
              </a:rPr>
              <a:t>○</a:t>
            </a:r>
          </a:p>
        </p:txBody>
      </p:sp>
      <p:sp>
        <p:nvSpPr>
          <p:cNvPr id="17" name="">
            <a:extLst xmlns:a="http://schemas.openxmlformats.org/drawingml/2006/main">
              <a:ext uri="{FF2B5EF4-FFF2-40B4-BE49-F238E27FC236}">
                <a16:creationId xmlns:a16="http://schemas.microsoft.com/office/drawing/2014/main" id="{F28341B3-A1DD-464D-AD03-0856F4470D78}"/>
              </a:ext>
            </a:extLst>
          </p:cNvPr>
          <p:cNvSpPr>
            <a:spLocks xmlns:a="http://schemas.openxmlformats.org/drawingml/2006/main" noGrp="1"/>
          </p:cNvSpPr>
          <p:nvPr/>
        </p:nvSpPr>
        <p:spPr>
          <a:xfrm xmlns:a="http://schemas.openxmlformats.org/drawingml/2006/main">
            <a:off x="7029450" y="2152650"/>
            <a:ext cx="4191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152536"/>
                </a:solidFill>
                <a:latin typeface="Aptos"/>
                <a:ea typeface="Aptos"/>
                <a:cs typeface="Aptos"/>
              </a:defRPr>
            </a:pPr>
            <a:r>
              <a:rPr sz="1425" b="0">
                <a:solidFill>
                  <a:srgbClr val="152536"/>
                </a:solidFill>
                <a:latin typeface="Aptos"/>
                <a:ea typeface="Aptos"/>
                <a:cs typeface="Aptos"/>
              </a:rPr>
              <a:t>Indikator resmi, target, definisi, dan metadata</a:t>
            </a:r>
          </a:p>
        </p:txBody>
      </p:sp>
      <p:sp>
        <p:nvSpPr>
          <p:cNvPr id="18" name="">
            <a:extLst xmlns:a="http://schemas.openxmlformats.org/drawingml/2006/main">
              <a:ext uri="{FF2B5EF4-FFF2-40B4-BE49-F238E27FC236}">
                <a16:creationId xmlns:a16="http://schemas.microsoft.com/office/drawing/2014/main" id="{72553152-A125-4355-814C-89FE160B137F}"/>
              </a:ext>
            </a:extLst>
          </p:cNvPr>
          <p:cNvSpPr>
            <a:spLocks xmlns:a="http://schemas.openxmlformats.org/drawingml/2006/main" noGrp="1"/>
          </p:cNvSpPr>
          <p:nvPr/>
        </p:nvSpPr>
        <p:spPr>
          <a:xfrm xmlns:a="http://schemas.openxmlformats.org/drawingml/2006/main">
            <a:off x="6572250" y="2933700"/>
            <a:ext cx="361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B84A52"/>
                </a:solidFill>
                <a:latin typeface="Aptos"/>
                <a:ea typeface="Aptos"/>
                <a:cs typeface="Aptos"/>
              </a:defRPr>
            </a:pPr>
            <a:r>
              <a:rPr sz="1650" b="1">
                <a:solidFill>
                  <a:srgbClr val="B84A52"/>
                </a:solidFill>
                <a:latin typeface="Aptos"/>
                <a:ea typeface="Aptos"/>
                <a:cs typeface="Aptos"/>
              </a:rPr>
              <a:t>○</a:t>
            </a:r>
          </a:p>
        </p:txBody>
      </p:sp>
      <p:sp>
        <p:nvSpPr>
          <p:cNvPr id="19" name="">
            <a:extLst xmlns:a="http://schemas.openxmlformats.org/drawingml/2006/main">
              <a:ext uri="{FF2B5EF4-FFF2-40B4-BE49-F238E27FC236}">
                <a16:creationId xmlns:a16="http://schemas.microsoft.com/office/drawing/2014/main" id="{49B2F344-4724-40F2-A1C2-2CC204E764C3}"/>
              </a:ext>
            </a:extLst>
          </p:cNvPr>
          <p:cNvSpPr>
            <a:spLocks xmlns:a="http://schemas.openxmlformats.org/drawingml/2006/main" noGrp="1"/>
          </p:cNvSpPr>
          <p:nvPr/>
        </p:nvSpPr>
        <p:spPr>
          <a:xfrm xmlns:a="http://schemas.openxmlformats.org/drawingml/2006/main">
            <a:off x="7029450" y="2895600"/>
            <a:ext cx="4191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152536"/>
                </a:solidFill>
                <a:latin typeface="Aptos"/>
                <a:ea typeface="Aptos"/>
                <a:cs typeface="Aptos"/>
              </a:defRPr>
            </a:pPr>
            <a:r>
              <a:rPr sz="1425" b="0">
                <a:solidFill>
                  <a:srgbClr val="152536"/>
                </a:solidFill>
                <a:latin typeface="Aptos"/>
                <a:ea typeface="Aptos"/>
                <a:cs typeface="Aptos"/>
              </a:rPr>
              <a:t>Sistem sumber serta frekuensi pembaruan nyata</a:t>
            </a:r>
          </a:p>
        </p:txBody>
      </p:sp>
      <p:sp>
        <p:nvSpPr>
          <p:cNvPr id="20" name="">
            <a:extLst xmlns:a="http://schemas.openxmlformats.org/drawingml/2006/main">
              <a:ext uri="{FF2B5EF4-FFF2-40B4-BE49-F238E27FC236}">
                <a16:creationId xmlns:a16="http://schemas.microsoft.com/office/drawing/2014/main" id="{4F869E1E-4DFA-4AAD-8DF8-5000CE47D881}"/>
              </a:ext>
            </a:extLst>
          </p:cNvPr>
          <p:cNvSpPr>
            <a:spLocks xmlns:a="http://schemas.openxmlformats.org/drawingml/2006/main" noGrp="1"/>
          </p:cNvSpPr>
          <p:nvPr/>
        </p:nvSpPr>
        <p:spPr>
          <a:xfrm xmlns:a="http://schemas.openxmlformats.org/drawingml/2006/main">
            <a:off x="6572250" y="3676650"/>
            <a:ext cx="361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B84A52"/>
                </a:solidFill>
                <a:latin typeface="Aptos"/>
                <a:ea typeface="Aptos"/>
                <a:cs typeface="Aptos"/>
              </a:defRPr>
            </a:pPr>
            <a:r>
              <a:rPr sz="1650" b="1">
                <a:solidFill>
                  <a:srgbClr val="B84A52"/>
                </a:solidFill>
                <a:latin typeface="Aptos"/>
                <a:ea typeface="Aptos"/>
                <a:cs typeface="Aptos"/>
              </a:rPr>
              <a:t>○</a:t>
            </a:r>
          </a:p>
        </p:txBody>
      </p:sp>
      <p:sp>
        <p:nvSpPr>
          <p:cNvPr id="21" name="">
            <a:extLst xmlns:a="http://schemas.openxmlformats.org/drawingml/2006/main">
              <a:ext uri="{FF2B5EF4-FFF2-40B4-BE49-F238E27FC236}">
                <a16:creationId xmlns:a16="http://schemas.microsoft.com/office/drawing/2014/main" id="{E7D51766-A03C-4142-A301-E4844562E5AD}"/>
              </a:ext>
            </a:extLst>
          </p:cNvPr>
          <p:cNvSpPr>
            <a:spLocks xmlns:a="http://schemas.openxmlformats.org/drawingml/2006/main" noGrp="1"/>
          </p:cNvSpPr>
          <p:nvPr/>
        </p:nvSpPr>
        <p:spPr>
          <a:xfrm xmlns:a="http://schemas.openxmlformats.org/drawingml/2006/main">
            <a:off x="7029450" y="3638550"/>
            <a:ext cx="4191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152536"/>
                </a:solidFill>
                <a:latin typeface="Aptos"/>
                <a:ea typeface="Aptos"/>
                <a:cs typeface="Aptos"/>
              </a:defRPr>
            </a:pPr>
            <a:r>
              <a:rPr sz="1425" b="0">
                <a:solidFill>
                  <a:srgbClr val="152536"/>
                </a:solidFill>
                <a:latin typeface="Aptos"/>
                <a:ea typeface="Aptos"/>
                <a:cs typeface="Aptos"/>
              </a:rPr>
              <a:t>Hak akses, alur persetujuan, dan keamanan</a:t>
            </a:r>
          </a:p>
        </p:txBody>
      </p:sp>
      <p:sp>
        <p:nvSpPr>
          <p:cNvPr id="22" name="">
            <a:extLst xmlns:a="http://schemas.openxmlformats.org/drawingml/2006/main">
              <a:ext uri="{FF2B5EF4-FFF2-40B4-BE49-F238E27FC236}">
                <a16:creationId xmlns:a16="http://schemas.microsoft.com/office/drawing/2014/main" id="{F6076D15-F1AD-47ED-A307-E52AD08CF2EB}"/>
              </a:ext>
            </a:extLst>
          </p:cNvPr>
          <p:cNvSpPr>
            <a:spLocks xmlns:a="http://schemas.openxmlformats.org/drawingml/2006/main" noGrp="1"/>
          </p:cNvSpPr>
          <p:nvPr/>
        </p:nvSpPr>
        <p:spPr>
          <a:xfrm xmlns:a="http://schemas.openxmlformats.org/drawingml/2006/main">
            <a:off x="6572250" y="4419600"/>
            <a:ext cx="361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B84A52"/>
                </a:solidFill>
                <a:latin typeface="Aptos"/>
                <a:ea typeface="Aptos"/>
                <a:cs typeface="Aptos"/>
              </a:defRPr>
            </a:pPr>
            <a:r>
              <a:rPr sz="1650" b="1">
                <a:solidFill>
                  <a:srgbClr val="B84A52"/>
                </a:solidFill>
                <a:latin typeface="Aptos"/>
                <a:ea typeface="Aptos"/>
                <a:cs typeface="Aptos"/>
              </a:rPr>
              <a:t>○</a:t>
            </a:r>
          </a:p>
        </p:txBody>
      </p:sp>
      <p:sp>
        <p:nvSpPr>
          <p:cNvPr id="23" name="">
            <a:extLst xmlns:a="http://schemas.openxmlformats.org/drawingml/2006/main">
              <a:ext uri="{FF2B5EF4-FFF2-40B4-BE49-F238E27FC236}">
                <a16:creationId xmlns:a16="http://schemas.microsoft.com/office/drawing/2014/main" id="{A07F0918-1A7D-4080-B3C1-D11A3166ABA3}"/>
              </a:ext>
            </a:extLst>
          </p:cNvPr>
          <p:cNvSpPr>
            <a:spLocks xmlns:a="http://schemas.openxmlformats.org/drawingml/2006/main" noGrp="1"/>
          </p:cNvSpPr>
          <p:nvPr/>
        </p:nvSpPr>
        <p:spPr>
          <a:xfrm xmlns:a="http://schemas.openxmlformats.org/drawingml/2006/main">
            <a:off x="7029450" y="4381500"/>
            <a:ext cx="4191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152536"/>
                </a:solidFill>
                <a:latin typeface="Aptos"/>
                <a:ea typeface="Aptos"/>
                <a:cs typeface="Aptos"/>
              </a:defRPr>
            </a:pPr>
            <a:r>
              <a:rPr sz="1425" b="0">
                <a:solidFill>
                  <a:srgbClr val="152536"/>
                </a:solidFill>
                <a:latin typeface="Aptos"/>
                <a:ea typeface="Aptos"/>
                <a:cs typeface="Aptos"/>
              </a:rPr>
              <a:t>Model AI, audit jawaban, dan aturan pemanfaatannya</a:t>
            </a:r>
          </a:p>
        </p:txBody>
      </p:sp>
      <p:sp>
        <p:nvSpPr>
          <p:cNvPr id="24" name="">
            <a:extLst xmlns:a="http://schemas.openxmlformats.org/drawingml/2006/main">
              <a:ext uri="{FF2B5EF4-FFF2-40B4-BE49-F238E27FC236}">
                <a16:creationId xmlns:a16="http://schemas.microsoft.com/office/drawing/2014/main" id="{D7D4BCFA-5CEF-4F9D-946A-9817B652D063}"/>
              </a:ext>
            </a:extLst>
          </p:cNvPr>
          <p:cNvSpPr>
            <a:spLocks xmlns:a="http://schemas.openxmlformats.org/drawingml/2006/main" noGrp="1"/>
          </p:cNvSpPr>
          <p:nvPr/>
        </p:nvSpPr>
        <p:spPr>
          <a:xfrm xmlns:a="http://schemas.openxmlformats.org/drawingml/2006/main">
            <a:off x="5924550" y="1733550"/>
            <a:ext cx="19050" cy="3714750"/>
          </a:xfrm>
          <a:prstGeom xmlns:a="http://schemas.openxmlformats.org/drawingml/2006/main" prst="rect">
            <a:avLst/>
          </a:prstGeom>
          <a:solidFill xmlns:a="http://schemas.openxmlformats.org/drawingml/2006/main">
            <a:srgbClr val="CBD8E2"/>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BDD9738D-86B1-45A3-A39C-B00E5BA0EDA0}"/>
              </a:ext>
            </a:extLst>
          </p:cNvPr>
          <p:cNvSpPr>
            <a:spLocks xmlns:a="http://schemas.openxmlformats.org/drawingml/2006/main" noGrp="1"/>
          </p:cNvSpPr>
          <p:nvPr/>
        </p:nvSpPr>
        <p:spPr>
          <a:xfrm xmlns:a="http://schemas.openxmlformats.org/drawingml/2006/main">
            <a:off x="723900" y="5638800"/>
            <a:ext cx="10401300" cy="552450"/>
          </a:xfrm>
          <a:prstGeom xmlns:a="http://schemas.openxmlformats.org/drawingml/2006/main" prst="roundRect">
            <a:avLst>
              <a:gd name="adj" fmla="val 13793"/>
            </a:avLst>
          </a:prstGeom>
          <a:solidFill xmlns:a="http://schemas.openxmlformats.org/drawingml/2006/main">
            <a:srgbClr val="FFF4D8"/>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137BE111-0056-4D68-A62A-BCE24DACF35E}"/>
              </a:ext>
            </a:extLst>
          </p:cNvPr>
          <p:cNvSpPr>
            <a:spLocks xmlns:a="http://schemas.openxmlformats.org/drawingml/2006/main" noGrp="1"/>
          </p:cNvSpPr>
          <p:nvPr/>
        </p:nvSpPr>
        <p:spPr>
          <a:xfrm xmlns:a="http://schemas.openxmlformats.org/drawingml/2006/main">
            <a:off x="933450" y="5715000"/>
            <a:ext cx="9982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725211"/>
                </a:solidFill>
                <a:latin typeface="Aptos"/>
                <a:ea typeface="Aptos"/>
                <a:cs typeface="Aptos"/>
              </a:defRPr>
            </a:pPr>
            <a:r>
              <a:rPr sz="1350" b="1">
                <a:solidFill>
                  <a:srgbClr val="725211"/>
                </a:solidFill>
                <a:latin typeface="Aptos"/>
                <a:ea typeface="Aptos"/>
                <a:cs typeface="Aptos"/>
              </a:rPr>
              <a:t>Seluruh angka dan jawaban chatbot pada prototipe adalah data dummy untuk demonstrasi antarmuka.</a:t>
            </a:r>
          </a:p>
        </p:txBody>
      </p:sp>
    </p:spTree>
    <p:extLst>
      <p:ext uri="{BB962C8B-B14F-4D97-AF65-F5344CB8AC3E}">
        <p14:creationId xmlns:p14="http://schemas.microsoft.com/office/powerpoint/2010/main" val="108400461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683C98C3-5569-44C2-82D6-AE621C0265BA}"/>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5DA9E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71B0305-CB70-46EC-AFCB-5E96F1826D2F}"/>
              </a:ext>
            </a:extLst>
          </p:cNvPr>
          <p:cNvSpPr>
            <a:spLocks xmlns:a="http://schemas.openxmlformats.org/drawingml/2006/main" noGrp="1"/>
          </p:cNvSpPr>
          <p:nvPr/>
        </p:nvSpPr>
        <p:spPr>
          <a:xfrm xmlns:a="http://schemas.openxmlformats.org/drawingml/2006/main">
            <a:off x="590550" y="361950"/>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400" b="1">
                <a:solidFill>
                  <a:srgbClr val="0B2545"/>
                </a:solidFill>
                <a:latin typeface="Aptos"/>
                <a:ea typeface="Aptos"/>
                <a:cs typeface="Aptos"/>
              </a:defRPr>
            </a:pPr>
            <a:r>
              <a:rPr sz="2400" b="1">
                <a:solidFill>
                  <a:srgbClr val="0B2545"/>
                </a:solidFill>
                <a:latin typeface="Aptos"/>
                <a:ea typeface="Aptos"/>
                <a:cs typeface="Aptos"/>
              </a:rPr>
              <a:t>Demo terarah selama tujuh menit</a:t>
            </a:r>
          </a:p>
        </p:txBody>
      </p:sp>
      <p:sp>
        <p:nvSpPr>
          <p:cNvPr id="3" name="">
            <a:extLst xmlns:a="http://schemas.openxmlformats.org/drawingml/2006/main">
              <a:ext uri="{FF2B5EF4-FFF2-40B4-BE49-F238E27FC236}">
                <a16:creationId xmlns:a16="http://schemas.microsoft.com/office/drawing/2014/main" id="{AC433FE6-2EE9-4ECA-9280-DE1180384554}"/>
              </a:ext>
            </a:extLst>
          </p:cNvPr>
          <p:cNvSpPr>
            <a:spLocks xmlns:a="http://schemas.openxmlformats.org/drawingml/2006/main" noGrp="1"/>
          </p:cNvSpPr>
          <p:nvPr/>
        </p:nvSpPr>
        <p:spPr>
          <a:xfrm xmlns:a="http://schemas.openxmlformats.org/drawingml/2006/main">
            <a:off x="609600" y="857250"/>
            <a:ext cx="1028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506274"/>
                </a:solidFill>
                <a:latin typeface="Aptos"/>
                <a:ea typeface="Aptos"/>
                <a:cs typeface="Aptos"/>
              </a:defRPr>
            </a:pPr>
            <a:r>
              <a:rPr sz="1275" b="0">
                <a:solidFill>
                  <a:srgbClr val="506274"/>
                </a:solidFill>
                <a:latin typeface="Aptos"/>
                <a:ea typeface="Aptos"/>
                <a:cs typeface="Aptos"/>
              </a:rPr>
              <a:t>Tunjukkan manfaat kerja, bukan tur seluruh menu</a:t>
            </a:r>
          </a:p>
        </p:txBody>
      </p:sp>
      <p:sp>
        <p:nvSpPr>
          <p:cNvPr id="4" name="">
            <a:extLst xmlns:a="http://schemas.openxmlformats.org/drawingml/2006/main">
              <a:ext uri="{FF2B5EF4-FFF2-40B4-BE49-F238E27FC236}">
                <a16:creationId xmlns:a16="http://schemas.microsoft.com/office/drawing/2014/main" id="{8939C50B-ABAC-4812-9B3E-5E28CB4C1A80}"/>
              </a:ext>
            </a:extLst>
          </p:cNvPr>
          <p:cNvSpPr>
            <a:spLocks xmlns:a="http://schemas.openxmlformats.org/drawingml/2006/main" noGrp="1"/>
          </p:cNvSpPr>
          <p:nvPr/>
        </p:nvSpPr>
        <p:spPr>
          <a:xfrm xmlns:a="http://schemas.openxmlformats.org/drawingml/2006/main">
            <a:off x="590550" y="1219200"/>
            <a:ext cx="10953750" cy="19050"/>
          </a:xfrm>
          <a:prstGeom xmlns:a="http://schemas.openxmlformats.org/drawingml/2006/main" prst="rect">
            <a:avLst/>
          </a:prstGeom>
          <a:solidFill xmlns:a="http://schemas.openxmlformats.org/drawingml/2006/main">
            <a:srgbClr val="CBD8E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1A2800F-988E-4BD8-9A4D-AE4655D2D18C}"/>
              </a:ext>
            </a:extLst>
          </p:cNvPr>
          <p:cNvSpPr>
            <a:spLocks xmlns:a="http://schemas.openxmlformats.org/drawingml/2006/main" noGrp="1"/>
          </p:cNvSpPr>
          <p:nvPr/>
        </p:nvSpPr>
        <p:spPr>
          <a:xfrm xmlns:a="http://schemas.openxmlformats.org/drawingml/2006/main">
            <a:off x="11096625" y="400050"/>
            <a:ext cx="438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506274"/>
                </a:solidFill>
                <a:latin typeface="Aptos"/>
                <a:ea typeface="Aptos"/>
                <a:cs typeface="Aptos"/>
              </a:defRPr>
            </a:pPr>
            <a:r>
              <a:rPr sz="1125" b="1">
                <a:solidFill>
                  <a:srgbClr val="506274"/>
                </a:solidFill>
                <a:latin typeface="Aptos"/>
                <a:ea typeface="Aptos"/>
                <a:cs typeface="Aptos"/>
              </a:rPr>
              <a:t>06</a:t>
            </a:r>
          </a:p>
        </p:txBody>
      </p:sp>
      <p:sp>
        <p:nvSpPr>
          <p:cNvPr id="6" name="">
            <a:extLst xmlns:a="http://schemas.openxmlformats.org/drawingml/2006/main">
              <a:ext uri="{FF2B5EF4-FFF2-40B4-BE49-F238E27FC236}">
                <a16:creationId xmlns:a16="http://schemas.microsoft.com/office/drawing/2014/main" id="{DF7AD049-E544-49D9-8520-9D6F6B6984B7}"/>
              </a:ext>
            </a:extLst>
          </p:cNvPr>
          <p:cNvSpPr>
            <a:spLocks xmlns:a="http://schemas.openxmlformats.org/drawingml/2006/main" noGrp="1"/>
          </p:cNvSpPr>
          <p:nvPr/>
        </p:nvSpPr>
        <p:spPr>
          <a:xfrm xmlns:a="http://schemas.openxmlformats.org/drawingml/2006/main">
            <a:off x="723900" y="1619250"/>
            <a:ext cx="1066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1E5A96"/>
                </a:solidFill>
                <a:latin typeface="Aptos"/>
                <a:ea typeface="Aptos"/>
                <a:cs typeface="Aptos"/>
              </a:defRPr>
            </a:pPr>
            <a:r>
              <a:rPr sz="1350" b="1">
                <a:solidFill>
                  <a:srgbClr val="1E5A96"/>
                </a:solidFill>
                <a:latin typeface="Aptos"/>
                <a:ea typeface="Aptos"/>
                <a:cs typeface="Aptos"/>
              </a:rPr>
              <a:t>1 menit</a:t>
            </a:r>
          </a:p>
        </p:txBody>
      </p:sp>
      <p:sp>
        <p:nvSpPr>
          <p:cNvPr id="7" name="">
            <a:extLst xmlns:a="http://schemas.openxmlformats.org/drawingml/2006/main">
              <a:ext uri="{FF2B5EF4-FFF2-40B4-BE49-F238E27FC236}">
                <a16:creationId xmlns:a16="http://schemas.microsoft.com/office/drawing/2014/main" id="{18DD11B1-4E3C-43EA-B26C-41745D49A1A6}"/>
              </a:ext>
            </a:extLst>
          </p:cNvPr>
          <p:cNvSpPr>
            <a:spLocks xmlns:a="http://schemas.openxmlformats.org/drawingml/2006/main" noGrp="1"/>
          </p:cNvSpPr>
          <p:nvPr/>
        </p:nvSpPr>
        <p:spPr>
          <a:xfrm xmlns:a="http://schemas.openxmlformats.org/drawingml/2006/main">
            <a:off x="1952625" y="1771650"/>
            <a:ext cx="523875" cy="28575"/>
          </a:xfrm>
          <a:prstGeom xmlns:a="http://schemas.openxmlformats.org/drawingml/2006/main" prst="rect">
            <a:avLst/>
          </a:prstGeom>
          <a:solidFill xmlns:a="http://schemas.openxmlformats.org/drawingml/2006/main">
            <a:srgbClr val="5DA9E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7FEEAC5-A0E4-4527-B39D-9B9D2607C8BF}"/>
              </a:ext>
            </a:extLst>
          </p:cNvPr>
          <p:cNvSpPr>
            <a:spLocks xmlns:a="http://schemas.openxmlformats.org/drawingml/2006/main" noGrp="1"/>
          </p:cNvSpPr>
          <p:nvPr/>
        </p:nvSpPr>
        <p:spPr>
          <a:xfrm xmlns:a="http://schemas.openxmlformats.org/drawingml/2006/main">
            <a:off x="2724150" y="1600200"/>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1">
                <a:solidFill>
                  <a:srgbClr val="0B2545"/>
                </a:solidFill>
                <a:latin typeface="Aptos"/>
                <a:ea typeface="Aptos"/>
                <a:cs typeface="Aptos"/>
              </a:defRPr>
            </a:pPr>
            <a:r>
              <a:rPr sz="1650" b="1">
                <a:solidFill>
                  <a:srgbClr val="0B2545"/>
                </a:solidFill>
                <a:latin typeface="Aptos"/>
                <a:ea typeface="Aptos"/>
                <a:cs typeface="Aptos"/>
              </a:rPr>
              <a:t>Ringkasan Eksekutif</a:t>
            </a:r>
          </a:p>
        </p:txBody>
      </p:sp>
      <p:sp>
        <p:nvSpPr>
          <p:cNvPr id="9" name="">
            <a:extLst xmlns:a="http://schemas.openxmlformats.org/drawingml/2006/main">
              <a:ext uri="{FF2B5EF4-FFF2-40B4-BE49-F238E27FC236}">
                <a16:creationId xmlns:a16="http://schemas.microsoft.com/office/drawing/2014/main" id="{EEBB99AE-D3D7-49C8-BB8C-570CBD58A482}"/>
              </a:ext>
            </a:extLst>
          </p:cNvPr>
          <p:cNvSpPr>
            <a:spLocks xmlns:a="http://schemas.openxmlformats.org/drawingml/2006/main" noGrp="1"/>
          </p:cNvSpPr>
          <p:nvPr/>
        </p:nvSpPr>
        <p:spPr>
          <a:xfrm xmlns:a="http://schemas.openxmlformats.org/drawingml/2006/main">
            <a:off x="5334000" y="1581150"/>
            <a:ext cx="5791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506274"/>
                </a:solidFill>
                <a:latin typeface="Aptos"/>
                <a:ea typeface="Aptos"/>
                <a:cs typeface="Aptos"/>
              </a:defRPr>
            </a:pPr>
            <a:r>
              <a:rPr sz="1350" b="0">
                <a:solidFill>
                  <a:srgbClr val="506274"/>
                </a:solidFill>
                <a:latin typeface="Aptos"/>
                <a:ea typeface="Aptos"/>
                <a:cs typeface="Aptos"/>
              </a:rPr>
              <a:t>Kondisi apa yang perlu segera diperhatikan pimpinan?</a:t>
            </a:r>
          </a:p>
        </p:txBody>
      </p:sp>
      <p:sp>
        <p:nvSpPr>
          <p:cNvPr id="10" name="">
            <a:extLst xmlns:a="http://schemas.openxmlformats.org/drawingml/2006/main">
              <a:ext uri="{FF2B5EF4-FFF2-40B4-BE49-F238E27FC236}">
                <a16:creationId xmlns:a16="http://schemas.microsoft.com/office/drawing/2014/main" id="{E6677DCD-1A8D-475D-9E8E-0D0D0980C128}"/>
              </a:ext>
            </a:extLst>
          </p:cNvPr>
          <p:cNvSpPr>
            <a:spLocks xmlns:a="http://schemas.openxmlformats.org/drawingml/2006/main" noGrp="1"/>
          </p:cNvSpPr>
          <p:nvPr/>
        </p:nvSpPr>
        <p:spPr>
          <a:xfrm xmlns:a="http://schemas.openxmlformats.org/drawingml/2006/main">
            <a:off x="723900" y="2457450"/>
            <a:ext cx="1066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1E5A96"/>
                </a:solidFill>
                <a:latin typeface="Aptos"/>
                <a:ea typeface="Aptos"/>
                <a:cs typeface="Aptos"/>
              </a:defRPr>
            </a:pPr>
            <a:r>
              <a:rPr sz="1350" b="1">
                <a:solidFill>
                  <a:srgbClr val="1E5A96"/>
                </a:solidFill>
                <a:latin typeface="Aptos"/>
                <a:ea typeface="Aptos"/>
                <a:cs typeface="Aptos"/>
              </a:rPr>
              <a:t>2 menit</a:t>
            </a:r>
          </a:p>
        </p:txBody>
      </p:sp>
      <p:sp>
        <p:nvSpPr>
          <p:cNvPr id="11" name="">
            <a:extLst xmlns:a="http://schemas.openxmlformats.org/drawingml/2006/main">
              <a:ext uri="{FF2B5EF4-FFF2-40B4-BE49-F238E27FC236}">
                <a16:creationId xmlns:a16="http://schemas.microsoft.com/office/drawing/2014/main" id="{0D15D254-3967-4470-B2B1-EA196FE974F9}"/>
              </a:ext>
            </a:extLst>
          </p:cNvPr>
          <p:cNvSpPr>
            <a:spLocks xmlns:a="http://schemas.openxmlformats.org/drawingml/2006/main" noGrp="1"/>
          </p:cNvSpPr>
          <p:nvPr/>
        </p:nvSpPr>
        <p:spPr>
          <a:xfrm xmlns:a="http://schemas.openxmlformats.org/drawingml/2006/main">
            <a:off x="1952625" y="2609850"/>
            <a:ext cx="523875" cy="28575"/>
          </a:xfrm>
          <a:prstGeom xmlns:a="http://schemas.openxmlformats.org/drawingml/2006/main" prst="rect">
            <a:avLst/>
          </a:prstGeom>
          <a:solidFill xmlns:a="http://schemas.openxmlformats.org/drawingml/2006/main">
            <a:srgbClr val="5DA9E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186A72D-8E28-4B60-9FCE-AC7BE55D646C}"/>
              </a:ext>
            </a:extLst>
          </p:cNvPr>
          <p:cNvSpPr>
            <a:spLocks xmlns:a="http://schemas.openxmlformats.org/drawingml/2006/main" noGrp="1"/>
          </p:cNvSpPr>
          <p:nvPr/>
        </p:nvSpPr>
        <p:spPr>
          <a:xfrm xmlns:a="http://schemas.openxmlformats.org/drawingml/2006/main">
            <a:off x="2724150" y="2438400"/>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1">
                <a:solidFill>
                  <a:srgbClr val="0B2545"/>
                </a:solidFill>
                <a:latin typeface="Aptos"/>
                <a:ea typeface="Aptos"/>
                <a:cs typeface="Aptos"/>
              </a:defRPr>
            </a:pPr>
            <a:r>
              <a:rPr sz="1650" b="1">
                <a:solidFill>
                  <a:srgbClr val="0B2545"/>
                </a:solidFill>
                <a:latin typeface="Aptos"/>
                <a:ea typeface="Aptos"/>
                <a:cs typeface="Aptos"/>
              </a:rPr>
              <a:t>Tahun dan tren</a:t>
            </a:r>
          </a:p>
        </p:txBody>
      </p:sp>
      <p:sp>
        <p:nvSpPr>
          <p:cNvPr id="13" name="">
            <a:extLst xmlns:a="http://schemas.openxmlformats.org/drawingml/2006/main">
              <a:ext uri="{FF2B5EF4-FFF2-40B4-BE49-F238E27FC236}">
                <a16:creationId xmlns:a16="http://schemas.microsoft.com/office/drawing/2014/main" id="{AD316D4F-EF3B-4485-9D6F-C64C67F0C43F}"/>
              </a:ext>
            </a:extLst>
          </p:cNvPr>
          <p:cNvSpPr>
            <a:spLocks xmlns:a="http://schemas.openxmlformats.org/drawingml/2006/main" noGrp="1"/>
          </p:cNvSpPr>
          <p:nvPr/>
        </p:nvSpPr>
        <p:spPr>
          <a:xfrm xmlns:a="http://schemas.openxmlformats.org/drawingml/2006/main">
            <a:off x="5334000" y="2419350"/>
            <a:ext cx="5791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506274"/>
                </a:solidFill>
                <a:latin typeface="Aptos"/>
                <a:ea typeface="Aptos"/>
                <a:cs typeface="Aptos"/>
              </a:defRPr>
            </a:pPr>
            <a:r>
              <a:rPr sz="1350" b="0">
                <a:solidFill>
                  <a:srgbClr val="506274"/>
                </a:solidFill>
                <a:latin typeface="Aptos"/>
                <a:ea typeface="Aptos"/>
                <a:cs typeface="Aptos"/>
              </a:rPr>
              <a:t>Bagaimana indikator, target, wilayah, OPD, dan anggaran berubah?</a:t>
            </a:r>
          </a:p>
        </p:txBody>
      </p:sp>
      <p:sp>
        <p:nvSpPr>
          <p:cNvPr id="14" name="">
            <a:extLst xmlns:a="http://schemas.openxmlformats.org/drawingml/2006/main">
              <a:ext uri="{FF2B5EF4-FFF2-40B4-BE49-F238E27FC236}">
                <a16:creationId xmlns:a16="http://schemas.microsoft.com/office/drawing/2014/main" id="{B3DE96D9-B188-4367-8AAD-DFBE6776CD12}"/>
              </a:ext>
            </a:extLst>
          </p:cNvPr>
          <p:cNvSpPr>
            <a:spLocks xmlns:a="http://schemas.openxmlformats.org/drawingml/2006/main" noGrp="1"/>
          </p:cNvSpPr>
          <p:nvPr/>
        </p:nvSpPr>
        <p:spPr>
          <a:xfrm xmlns:a="http://schemas.openxmlformats.org/drawingml/2006/main">
            <a:off x="723900" y="3295650"/>
            <a:ext cx="1066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1E5A96"/>
                </a:solidFill>
                <a:latin typeface="Aptos"/>
                <a:ea typeface="Aptos"/>
                <a:cs typeface="Aptos"/>
              </a:defRPr>
            </a:pPr>
            <a:r>
              <a:rPr sz="1350" b="1">
                <a:solidFill>
                  <a:srgbClr val="1E5A96"/>
                </a:solidFill>
                <a:latin typeface="Aptos"/>
                <a:ea typeface="Aptos"/>
                <a:cs typeface="Aptos"/>
              </a:rPr>
              <a:t>1 menit</a:t>
            </a:r>
          </a:p>
        </p:txBody>
      </p:sp>
      <p:sp>
        <p:nvSpPr>
          <p:cNvPr id="15" name="">
            <a:extLst xmlns:a="http://schemas.openxmlformats.org/drawingml/2006/main">
              <a:ext uri="{FF2B5EF4-FFF2-40B4-BE49-F238E27FC236}">
                <a16:creationId xmlns:a16="http://schemas.microsoft.com/office/drawing/2014/main" id="{FDCC6B78-A82B-4C13-B2CA-4BA34920347A}"/>
              </a:ext>
            </a:extLst>
          </p:cNvPr>
          <p:cNvSpPr>
            <a:spLocks xmlns:a="http://schemas.openxmlformats.org/drawingml/2006/main" noGrp="1"/>
          </p:cNvSpPr>
          <p:nvPr/>
        </p:nvSpPr>
        <p:spPr>
          <a:xfrm xmlns:a="http://schemas.openxmlformats.org/drawingml/2006/main">
            <a:off x="1952625" y="3448050"/>
            <a:ext cx="523875" cy="28575"/>
          </a:xfrm>
          <a:prstGeom xmlns:a="http://schemas.openxmlformats.org/drawingml/2006/main" prst="rect">
            <a:avLst/>
          </a:prstGeom>
          <a:solidFill xmlns:a="http://schemas.openxmlformats.org/drawingml/2006/main">
            <a:srgbClr val="5DA9E9"/>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70E12642-EFF9-4037-B230-E95C9EBF5130}"/>
              </a:ext>
            </a:extLst>
          </p:cNvPr>
          <p:cNvSpPr>
            <a:spLocks xmlns:a="http://schemas.openxmlformats.org/drawingml/2006/main" noGrp="1"/>
          </p:cNvSpPr>
          <p:nvPr/>
        </p:nvSpPr>
        <p:spPr>
          <a:xfrm xmlns:a="http://schemas.openxmlformats.org/drawingml/2006/main">
            <a:off x="2724150" y="3276600"/>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1">
                <a:solidFill>
                  <a:srgbClr val="0B2545"/>
                </a:solidFill>
                <a:latin typeface="Aptos"/>
                <a:ea typeface="Aptos"/>
                <a:cs typeface="Aptos"/>
              </a:defRPr>
            </a:pPr>
            <a:r>
              <a:rPr sz="1650" b="1">
                <a:solidFill>
                  <a:srgbClr val="0B2545"/>
                </a:solidFill>
                <a:latin typeface="Aptos"/>
                <a:ea typeface="Aptos"/>
                <a:cs typeface="Aptos"/>
              </a:rPr>
              <a:t>Wilayah dan OPD</a:t>
            </a:r>
          </a:p>
        </p:txBody>
      </p:sp>
      <p:sp>
        <p:nvSpPr>
          <p:cNvPr id="17" name="">
            <a:extLst xmlns:a="http://schemas.openxmlformats.org/drawingml/2006/main">
              <a:ext uri="{FF2B5EF4-FFF2-40B4-BE49-F238E27FC236}">
                <a16:creationId xmlns:a16="http://schemas.microsoft.com/office/drawing/2014/main" id="{245DEDFA-80CF-4BFC-AEAC-7871F657343D}"/>
              </a:ext>
            </a:extLst>
          </p:cNvPr>
          <p:cNvSpPr>
            <a:spLocks xmlns:a="http://schemas.openxmlformats.org/drawingml/2006/main" noGrp="1"/>
          </p:cNvSpPr>
          <p:nvPr/>
        </p:nvSpPr>
        <p:spPr>
          <a:xfrm xmlns:a="http://schemas.openxmlformats.org/drawingml/2006/main">
            <a:off x="5334000" y="3257550"/>
            <a:ext cx="5791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506274"/>
                </a:solidFill>
                <a:latin typeface="Aptos"/>
                <a:ea typeface="Aptos"/>
                <a:cs typeface="Aptos"/>
              </a:defRPr>
            </a:pPr>
            <a:r>
              <a:rPr sz="1350" b="0">
                <a:solidFill>
                  <a:srgbClr val="506274"/>
                </a:solidFill>
                <a:latin typeface="Aptos"/>
                <a:ea typeface="Aptos"/>
                <a:cs typeface="Aptos"/>
              </a:rPr>
              <a:t>Di mana prioritas berada dan perangkat daerah mana yang terkait?</a:t>
            </a:r>
          </a:p>
        </p:txBody>
      </p:sp>
      <p:sp>
        <p:nvSpPr>
          <p:cNvPr id="18" name="">
            <a:extLst xmlns:a="http://schemas.openxmlformats.org/drawingml/2006/main">
              <a:ext uri="{FF2B5EF4-FFF2-40B4-BE49-F238E27FC236}">
                <a16:creationId xmlns:a16="http://schemas.microsoft.com/office/drawing/2014/main" id="{DF3360AF-E912-45E0-8FBE-7977C65FC560}"/>
              </a:ext>
            </a:extLst>
          </p:cNvPr>
          <p:cNvSpPr>
            <a:spLocks xmlns:a="http://schemas.openxmlformats.org/drawingml/2006/main" noGrp="1"/>
          </p:cNvSpPr>
          <p:nvPr/>
        </p:nvSpPr>
        <p:spPr>
          <a:xfrm xmlns:a="http://schemas.openxmlformats.org/drawingml/2006/main">
            <a:off x="723900" y="4133850"/>
            <a:ext cx="1066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1E5A96"/>
                </a:solidFill>
                <a:latin typeface="Aptos"/>
                <a:ea typeface="Aptos"/>
                <a:cs typeface="Aptos"/>
              </a:defRPr>
            </a:pPr>
            <a:r>
              <a:rPr sz="1350" b="1">
                <a:solidFill>
                  <a:srgbClr val="1E5A96"/>
                </a:solidFill>
                <a:latin typeface="Aptos"/>
                <a:ea typeface="Aptos"/>
                <a:cs typeface="Aptos"/>
              </a:rPr>
              <a:t>1 menit</a:t>
            </a:r>
          </a:p>
        </p:txBody>
      </p:sp>
      <p:sp>
        <p:nvSpPr>
          <p:cNvPr id="19" name="">
            <a:extLst xmlns:a="http://schemas.openxmlformats.org/drawingml/2006/main">
              <a:ext uri="{FF2B5EF4-FFF2-40B4-BE49-F238E27FC236}">
                <a16:creationId xmlns:a16="http://schemas.microsoft.com/office/drawing/2014/main" id="{D2AE34D7-4C18-4CE0-9948-F6181E3E2CA8}"/>
              </a:ext>
            </a:extLst>
          </p:cNvPr>
          <p:cNvSpPr>
            <a:spLocks xmlns:a="http://schemas.openxmlformats.org/drawingml/2006/main" noGrp="1"/>
          </p:cNvSpPr>
          <p:nvPr/>
        </p:nvSpPr>
        <p:spPr>
          <a:xfrm xmlns:a="http://schemas.openxmlformats.org/drawingml/2006/main">
            <a:off x="1952625" y="4286250"/>
            <a:ext cx="523875" cy="28575"/>
          </a:xfrm>
          <a:prstGeom xmlns:a="http://schemas.openxmlformats.org/drawingml/2006/main" prst="rect">
            <a:avLst/>
          </a:prstGeom>
          <a:solidFill xmlns:a="http://schemas.openxmlformats.org/drawingml/2006/main">
            <a:srgbClr val="5DA9E9"/>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CEACCE3D-C806-4EF1-A670-D9F33C6DA757}"/>
              </a:ext>
            </a:extLst>
          </p:cNvPr>
          <p:cNvSpPr>
            <a:spLocks xmlns:a="http://schemas.openxmlformats.org/drawingml/2006/main" noGrp="1"/>
          </p:cNvSpPr>
          <p:nvPr/>
        </p:nvSpPr>
        <p:spPr>
          <a:xfrm xmlns:a="http://schemas.openxmlformats.org/drawingml/2006/main">
            <a:off x="2724150" y="4114800"/>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1">
                <a:solidFill>
                  <a:srgbClr val="0B2545"/>
                </a:solidFill>
                <a:latin typeface="Aptos"/>
                <a:ea typeface="Aptos"/>
                <a:cs typeface="Aptos"/>
              </a:defRPr>
            </a:pPr>
            <a:r>
              <a:rPr sz="1650" b="1">
                <a:solidFill>
                  <a:srgbClr val="0B2545"/>
                </a:solidFill>
                <a:latin typeface="Aptos"/>
                <a:ea typeface="Aptos"/>
                <a:cs typeface="Aptos"/>
              </a:rPr>
              <a:t>Peringatan dan validasi</a:t>
            </a:r>
          </a:p>
        </p:txBody>
      </p:sp>
      <p:sp>
        <p:nvSpPr>
          <p:cNvPr id="21" name="">
            <a:extLst xmlns:a="http://schemas.openxmlformats.org/drawingml/2006/main">
              <a:ext uri="{FF2B5EF4-FFF2-40B4-BE49-F238E27FC236}">
                <a16:creationId xmlns:a16="http://schemas.microsoft.com/office/drawing/2014/main" id="{9FBCA653-B33A-47D1-A1BC-8FCAFC8E7439}"/>
              </a:ext>
            </a:extLst>
          </p:cNvPr>
          <p:cNvSpPr>
            <a:spLocks xmlns:a="http://schemas.openxmlformats.org/drawingml/2006/main" noGrp="1"/>
          </p:cNvSpPr>
          <p:nvPr/>
        </p:nvSpPr>
        <p:spPr>
          <a:xfrm xmlns:a="http://schemas.openxmlformats.org/drawingml/2006/main">
            <a:off x="5334000" y="4095750"/>
            <a:ext cx="5791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506274"/>
                </a:solidFill>
                <a:latin typeface="Aptos"/>
                <a:ea typeface="Aptos"/>
                <a:cs typeface="Aptos"/>
              </a:defRPr>
            </a:pPr>
            <a:r>
              <a:rPr sz="1350" b="0">
                <a:solidFill>
                  <a:srgbClr val="506274"/>
                </a:solidFill>
                <a:latin typeface="Aptos"/>
                <a:ea typeface="Aptos"/>
                <a:cs typeface="Aptos"/>
              </a:rPr>
              <a:t>Angka mana yang perlu tindakan atau pemeriksaan lebih lanjut?</a:t>
            </a:r>
          </a:p>
        </p:txBody>
      </p:sp>
      <p:sp>
        <p:nvSpPr>
          <p:cNvPr id="22" name="">
            <a:extLst xmlns:a="http://schemas.openxmlformats.org/drawingml/2006/main">
              <a:ext uri="{FF2B5EF4-FFF2-40B4-BE49-F238E27FC236}">
                <a16:creationId xmlns:a16="http://schemas.microsoft.com/office/drawing/2014/main" id="{D33C3535-189C-46B4-9639-F92C56AC7B5A}"/>
              </a:ext>
            </a:extLst>
          </p:cNvPr>
          <p:cNvSpPr>
            <a:spLocks xmlns:a="http://schemas.openxmlformats.org/drawingml/2006/main" noGrp="1"/>
          </p:cNvSpPr>
          <p:nvPr/>
        </p:nvSpPr>
        <p:spPr>
          <a:xfrm xmlns:a="http://schemas.openxmlformats.org/drawingml/2006/main">
            <a:off x="723900" y="4972050"/>
            <a:ext cx="1066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1E5A96"/>
                </a:solidFill>
                <a:latin typeface="Aptos"/>
                <a:ea typeface="Aptos"/>
                <a:cs typeface="Aptos"/>
              </a:defRPr>
            </a:pPr>
            <a:r>
              <a:rPr sz="1350" b="1">
                <a:solidFill>
                  <a:srgbClr val="1E5A96"/>
                </a:solidFill>
                <a:latin typeface="Aptos"/>
                <a:ea typeface="Aptos"/>
                <a:cs typeface="Aptos"/>
              </a:rPr>
              <a:t>2 menit</a:t>
            </a:r>
          </a:p>
        </p:txBody>
      </p:sp>
      <p:sp>
        <p:nvSpPr>
          <p:cNvPr id="23" name="">
            <a:extLst xmlns:a="http://schemas.openxmlformats.org/drawingml/2006/main">
              <a:ext uri="{FF2B5EF4-FFF2-40B4-BE49-F238E27FC236}">
                <a16:creationId xmlns:a16="http://schemas.microsoft.com/office/drawing/2014/main" id="{95B65AA1-3FEE-4F23-9498-BDED05DC7FBD}"/>
              </a:ext>
            </a:extLst>
          </p:cNvPr>
          <p:cNvSpPr>
            <a:spLocks xmlns:a="http://schemas.openxmlformats.org/drawingml/2006/main" noGrp="1"/>
          </p:cNvSpPr>
          <p:nvPr/>
        </p:nvSpPr>
        <p:spPr>
          <a:xfrm xmlns:a="http://schemas.openxmlformats.org/drawingml/2006/main">
            <a:off x="1952625" y="5124450"/>
            <a:ext cx="523875" cy="28575"/>
          </a:xfrm>
          <a:prstGeom xmlns:a="http://schemas.openxmlformats.org/drawingml/2006/main" prst="rect">
            <a:avLst/>
          </a:prstGeom>
          <a:solidFill xmlns:a="http://schemas.openxmlformats.org/drawingml/2006/main">
            <a:srgbClr val="5DA9E9"/>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5E0B7CE2-A30C-45C8-A754-DED5CAD1709F}"/>
              </a:ext>
            </a:extLst>
          </p:cNvPr>
          <p:cNvSpPr>
            <a:spLocks xmlns:a="http://schemas.openxmlformats.org/drawingml/2006/main" noGrp="1"/>
          </p:cNvSpPr>
          <p:nvPr/>
        </p:nvSpPr>
        <p:spPr>
          <a:xfrm xmlns:a="http://schemas.openxmlformats.org/drawingml/2006/main">
            <a:off x="2724150" y="4953000"/>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1">
                <a:solidFill>
                  <a:srgbClr val="0B2545"/>
                </a:solidFill>
                <a:latin typeface="Aptos"/>
                <a:ea typeface="Aptos"/>
                <a:cs typeface="Aptos"/>
              </a:defRPr>
            </a:pPr>
            <a:r>
              <a:rPr sz="1650" b="1">
                <a:solidFill>
                  <a:srgbClr val="0B2545"/>
                </a:solidFill>
                <a:latin typeface="Aptos"/>
                <a:ea typeface="Aptos"/>
                <a:cs typeface="Aptos"/>
              </a:rPr>
              <a:t>Asisten Data</a:t>
            </a:r>
          </a:p>
        </p:txBody>
      </p:sp>
      <p:sp>
        <p:nvSpPr>
          <p:cNvPr id="25" name="">
            <a:extLst xmlns:a="http://schemas.openxmlformats.org/drawingml/2006/main">
              <a:ext uri="{FF2B5EF4-FFF2-40B4-BE49-F238E27FC236}">
                <a16:creationId xmlns:a16="http://schemas.microsoft.com/office/drawing/2014/main" id="{C09EE790-70D1-4EE8-AEBD-FED3DA2627A0}"/>
              </a:ext>
            </a:extLst>
          </p:cNvPr>
          <p:cNvSpPr>
            <a:spLocks xmlns:a="http://schemas.openxmlformats.org/drawingml/2006/main" noGrp="1"/>
          </p:cNvSpPr>
          <p:nvPr/>
        </p:nvSpPr>
        <p:spPr>
          <a:xfrm xmlns:a="http://schemas.openxmlformats.org/drawingml/2006/main">
            <a:off x="5334000" y="4933950"/>
            <a:ext cx="5791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506274"/>
                </a:solidFill>
                <a:latin typeface="Aptos"/>
                <a:ea typeface="Aptos"/>
                <a:cs typeface="Aptos"/>
              </a:defRPr>
            </a:pPr>
            <a:r>
              <a:rPr sz="1350" b="0">
                <a:solidFill>
                  <a:srgbClr val="506274"/>
                </a:solidFill>
                <a:latin typeface="Aptos"/>
                <a:ea typeface="Aptos"/>
                <a:cs typeface="Aptos"/>
              </a:rPr>
              <a:t>Bagaimana pengguna meminta ringkasan dari data yang sedang dilihat?</a:t>
            </a:r>
          </a:p>
        </p:txBody>
      </p:sp>
      <p:sp>
        <p:nvSpPr>
          <p:cNvPr id="26" name="">
            <a:extLst xmlns:a="http://schemas.openxmlformats.org/drawingml/2006/main">
              <a:ext uri="{FF2B5EF4-FFF2-40B4-BE49-F238E27FC236}">
                <a16:creationId xmlns:a16="http://schemas.microsoft.com/office/drawing/2014/main" id="{FE5900E3-2F36-4429-88F0-D87B7A0C99C8}"/>
              </a:ext>
            </a:extLst>
          </p:cNvPr>
          <p:cNvSpPr>
            <a:spLocks xmlns:a="http://schemas.openxmlformats.org/drawingml/2006/main" noGrp="1"/>
          </p:cNvSpPr>
          <p:nvPr/>
        </p:nvSpPr>
        <p:spPr>
          <a:xfrm xmlns:a="http://schemas.openxmlformats.org/drawingml/2006/main">
            <a:off x="723900" y="594360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506274"/>
                </a:solidFill>
                <a:latin typeface="Aptos"/>
                <a:ea typeface="Aptos"/>
                <a:cs typeface="Aptos"/>
              </a:defRPr>
            </a:pPr>
            <a:r>
              <a:rPr sz="1125" b="1">
                <a:solidFill>
                  <a:srgbClr val="506274"/>
                </a:solidFill>
                <a:latin typeface="Aptos"/>
                <a:ea typeface="Aptos"/>
                <a:cs typeface="Aptos"/>
              </a:rPr>
              <a:t>Tautan prototipe</a:t>
            </a:r>
          </a:p>
        </p:txBody>
      </p:sp>
      <p:sp>
        <p:nvSpPr>
          <p:cNvPr id="27" name="">
            <a:extLst xmlns:a="http://schemas.openxmlformats.org/drawingml/2006/main">
              <a:ext uri="{FF2B5EF4-FFF2-40B4-BE49-F238E27FC236}">
                <a16:creationId xmlns:a16="http://schemas.microsoft.com/office/drawing/2014/main" id="{BF8DE59E-A354-4B6E-B997-0D255AA513F1}"/>
              </a:ext>
            </a:extLst>
          </p:cNvPr>
          <p:cNvSpPr>
            <a:spLocks xmlns:a="http://schemas.openxmlformats.org/drawingml/2006/main" noGrp="1"/>
          </p:cNvSpPr>
          <p:nvPr/>
        </p:nvSpPr>
        <p:spPr>
          <a:xfrm xmlns:a="http://schemas.openxmlformats.org/drawingml/2006/main">
            <a:off x="2457450" y="5905500"/>
            <a:ext cx="619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1E5A96"/>
                </a:solidFill>
                <a:latin typeface="Aptos"/>
                <a:ea typeface="Aptos"/>
                <a:cs typeface="Aptos"/>
              </a:defRPr>
            </a:pPr>
            <a:r>
              <a:rPr sz="1350" b="1">
                <a:solidFill>
                  <a:srgbClr val="1E5A96"/>
                </a:solidFill>
                <a:latin typeface="Aptos"/>
                <a:ea typeface="Aptos"/>
                <a:cs typeface="Aptos"/>
              </a:rPr>
              <a:t>rahmatalbarzanjie.github.io/pre-sababuka/</a:t>
            </a:r>
          </a:p>
        </p:txBody>
      </p:sp>
    </p:spTree>
    <p:extLst>
      <p:ext uri="{BB962C8B-B14F-4D97-AF65-F5344CB8AC3E}">
        <p14:creationId xmlns:p14="http://schemas.microsoft.com/office/powerpoint/2010/main" val="139054974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4AA76673-14A0-4FF7-9919-53019C5F036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5DA9E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FB67DD4-11D9-4C73-868D-AEFCC5C909D5}"/>
              </a:ext>
            </a:extLst>
          </p:cNvPr>
          <p:cNvSpPr>
            <a:spLocks xmlns:a="http://schemas.openxmlformats.org/drawingml/2006/main" noGrp="1"/>
          </p:cNvSpPr>
          <p:nvPr/>
        </p:nvSpPr>
        <p:spPr>
          <a:xfrm xmlns:a="http://schemas.openxmlformats.org/drawingml/2006/main">
            <a:off x="590550" y="361950"/>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400" b="1">
                <a:solidFill>
                  <a:srgbClr val="0B2545"/>
                </a:solidFill>
                <a:latin typeface="Aptos"/>
                <a:ea typeface="Aptos"/>
                <a:cs typeface="Aptos"/>
              </a:defRPr>
            </a:pPr>
            <a:r>
              <a:rPr sz="2400" b="1">
                <a:solidFill>
                  <a:srgbClr val="0B2545"/>
                </a:solidFill>
                <a:latin typeface="Aptos"/>
                <a:ea typeface="Aptos"/>
                <a:cs typeface="Aptos"/>
              </a:rPr>
              <a:t>Rancangan agenda FGD</a:t>
            </a:r>
          </a:p>
        </p:txBody>
      </p:sp>
      <p:sp>
        <p:nvSpPr>
          <p:cNvPr id="3" name="">
            <a:extLst xmlns:a="http://schemas.openxmlformats.org/drawingml/2006/main">
              <a:ext uri="{FF2B5EF4-FFF2-40B4-BE49-F238E27FC236}">
                <a16:creationId xmlns:a16="http://schemas.microsoft.com/office/drawing/2014/main" id="{DB6F5AA3-F941-42D5-9413-F59C35B2A1D3}"/>
              </a:ext>
            </a:extLst>
          </p:cNvPr>
          <p:cNvSpPr>
            <a:spLocks xmlns:a="http://schemas.openxmlformats.org/drawingml/2006/main" noGrp="1"/>
          </p:cNvSpPr>
          <p:nvPr/>
        </p:nvSpPr>
        <p:spPr>
          <a:xfrm xmlns:a="http://schemas.openxmlformats.org/drawingml/2006/main">
            <a:off x="609600" y="857250"/>
            <a:ext cx="1028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506274"/>
                </a:solidFill>
                <a:latin typeface="Aptos"/>
                <a:ea typeface="Aptos"/>
                <a:cs typeface="Aptos"/>
              </a:defRPr>
            </a:pPr>
            <a:r>
              <a:rPr sz="1275" b="0">
                <a:solidFill>
                  <a:srgbClr val="506274"/>
                </a:solidFill>
                <a:latin typeface="Aptos"/>
                <a:ea typeface="Aptos"/>
                <a:cs typeface="Aptos"/>
              </a:rPr>
              <a:t>Usulan satu hari kerja yang dapat disesuaikan</a:t>
            </a:r>
          </a:p>
        </p:txBody>
      </p:sp>
      <p:sp>
        <p:nvSpPr>
          <p:cNvPr id="4" name="">
            <a:extLst xmlns:a="http://schemas.openxmlformats.org/drawingml/2006/main">
              <a:ext uri="{FF2B5EF4-FFF2-40B4-BE49-F238E27FC236}">
                <a16:creationId xmlns:a16="http://schemas.microsoft.com/office/drawing/2014/main" id="{DA862A23-E4A2-46DF-AD0B-97D341D05C90}"/>
              </a:ext>
            </a:extLst>
          </p:cNvPr>
          <p:cNvSpPr>
            <a:spLocks xmlns:a="http://schemas.openxmlformats.org/drawingml/2006/main" noGrp="1"/>
          </p:cNvSpPr>
          <p:nvPr/>
        </p:nvSpPr>
        <p:spPr>
          <a:xfrm xmlns:a="http://schemas.openxmlformats.org/drawingml/2006/main">
            <a:off x="590550" y="1219200"/>
            <a:ext cx="10953750" cy="19050"/>
          </a:xfrm>
          <a:prstGeom xmlns:a="http://schemas.openxmlformats.org/drawingml/2006/main" prst="rect">
            <a:avLst/>
          </a:prstGeom>
          <a:solidFill xmlns:a="http://schemas.openxmlformats.org/drawingml/2006/main">
            <a:srgbClr val="CBD8E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E3622DC-9C07-47EF-A0EC-4702F7A4FF73}"/>
              </a:ext>
            </a:extLst>
          </p:cNvPr>
          <p:cNvSpPr>
            <a:spLocks xmlns:a="http://schemas.openxmlformats.org/drawingml/2006/main" noGrp="1"/>
          </p:cNvSpPr>
          <p:nvPr/>
        </p:nvSpPr>
        <p:spPr>
          <a:xfrm xmlns:a="http://schemas.openxmlformats.org/drawingml/2006/main">
            <a:off x="11096625" y="400050"/>
            <a:ext cx="438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506274"/>
                </a:solidFill>
                <a:latin typeface="Aptos"/>
                <a:ea typeface="Aptos"/>
                <a:cs typeface="Aptos"/>
              </a:defRPr>
            </a:pPr>
            <a:r>
              <a:rPr sz="1125" b="1">
                <a:solidFill>
                  <a:srgbClr val="506274"/>
                </a:solidFill>
                <a:latin typeface="Aptos"/>
                <a:ea typeface="Aptos"/>
                <a:cs typeface="Aptos"/>
              </a:rPr>
              <a:t>07</a:t>
            </a:r>
          </a:p>
        </p:txBody>
      </p:sp>
      <p:sp>
        <p:nvSpPr>
          <p:cNvPr id="6" name="">
            <a:extLst xmlns:a="http://schemas.openxmlformats.org/drawingml/2006/main">
              <a:ext uri="{FF2B5EF4-FFF2-40B4-BE49-F238E27FC236}">
                <a16:creationId xmlns:a16="http://schemas.microsoft.com/office/drawing/2014/main" id="{4E06EBDA-30CA-4A65-BEA3-366ECB7EBA23}"/>
              </a:ext>
            </a:extLst>
          </p:cNvPr>
          <p:cNvSpPr>
            <a:spLocks xmlns:a="http://schemas.openxmlformats.org/drawingml/2006/main" noGrp="1"/>
          </p:cNvSpPr>
          <p:nvPr/>
        </p:nvSpPr>
        <p:spPr>
          <a:xfrm xmlns:a="http://schemas.openxmlformats.org/drawingml/2006/main">
            <a:off x="666750" y="1581150"/>
            <a:ext cx="10477500" cy="457200"/>
          </a:xfrm>
          <a:prstGeom xmlns:a="http://schemas.openxmlformats.org/drawingml/2006/main" prst="rect">
            <a:avLst/>
          </a:prstGeom>
          <a:solidFill xmlns:a="http://schemas.openxmlformats.org/drawingml/2006/main">
            <a:srgbClr val="0B254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4549D31-3E32-4BC9-9202-810B7406B390}"/>
              </a:ext>
            </a:extLst>
          </p:cNvPr>
          <p:cNvSpPr>
            <a:spLocks xmlns:a="http://schemas.openxmlformats.org/drawingml/2006/main" noGrp="1"/>
          </p:cNvSpPr>
          <p:nvPr/>
        </p:nvSpPr>
        <p:spPr>
          <a:xfrm xmlns:a="http://schemas.openxmlformats.org/drawingml/2006/main">
            <a:off x="838200" y="165735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1">
                <a:solidFill>
                  <a:srgbClr val="FFFFFF"/>
                </a:solidFill>
                <a:latin typeface="Aptos"/>
                <a:ea typeface="Aptos"/>
                <a:cs typeface="Aptos"/>
              </a:defRPr>
            </a:pPr>
            <a:r>
              <a:rPr sz="1050" b="1">
                <a:solidFill>
                  <a:srgbClr val="FFFFFF"/>
                </a:solidFill>
                <a:latin typeface="Aptos"/>
                <a:ea typeface="Aptos"/>
                <a:cs typeface="Aptos"/>
              </a:rPr>
              <a:t>WAKTU</a:t>
            </a:r>
          </a:p>
        </p:txBody>
      </p:sp>
      <p:sp>
        <p:nvSpPr>
          <p:cNvPr id="8" name="">
            <a:extLst xmlns:a="http://schemas.openxmlformats.org/drawingml/2006/main">
              <a:ext uri="{FF2B5EF4-FFF2-40B4-BE49-F238E27FC236}">
                <a16:creationId xmlns:a16="http://schemas.microsoft.com/office/drawing/2014/main" id="{0CCC27F9-C878-4F92-B0B6-E1C1C8384F52}"/>
              </a:ext>
            </a:extLst>
          </p:cNvPr>
          <p:cNvSpPr>
            <a:spLocks xmlns:a="http://schemas.openxmlformats.org/drawingml/2006/main" noGrp="1"/>
          </p:cNvSpPr>
          <p:nvPr/>
        </p:nvSpPr>
        <p:spPr>
          <a:xfrm xmlns:a="http://schemas.openxmlformats.org/drawingml/2006/main">
            <a:off x="2705100" y="165735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1">
                <a:solidFill>
                  <a:srgbClr val="FFFFFF"/>
                </a:solidFill>
                <a:latin typeface="Aptos"/>
                <a:ea typeface="Aptos"/>
                <a:cs typeface="Aptos"/>
              </a:defRPr>
            </a:pPr>
            <a:r>
              <a:rPr sz="1050" b="1">
                <a:solidFill>
                  <a:srgbClr val="FFFFFF"/>
                </a:solidFill>
                <a:latin typeface="Aptos"/>
                <a:ea typeface="Aptos"/>
                <a:cs typeface="Aptos"/>
              </a:rPr>
              <a:t>SESI</a:t>
            </a:r>
          </a:p>
        </p:txBody>
      </p:sp>
      <p:sp>
        <p:nvSpPr>
          <p:cNvPr id="9" name="">
            <a:extLst xmlns:a="http://schemas.openxmlformats.org/drawingml/2006/main">
              <a:ext uri="{FF2B5EF4-FFF2-40B4-BE49-F238E27FC236}">
                <a16:creationId xmlns:a16="http://schemas.microsoft.com/office/drawing/2014/main" id="{A7E7A23F-F51E-4DEE-A69E-A8FD10B7A511}"/>
              </a:ext>
            </a:extLst>
          </p:cNvPr>
          <p:cNvSpPr>
            <a:spLocks xmlns:a="http://schemas.openxmlformats.org/drawingml/2006/main" noGrp="1"/>
          </p:cNvSpPr>
          <p:nvPr/>
        </p:nvSpPr>
        <p:spPr>
          <a:xfrm xmlns:a="http://schemas.openxmlformats.org/drawingml/2006/main">
            <a:off x="5391150" y="1657350"/>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1">
                <a:solidFill>
                  <a:srgbClr val="FFFFFF"/>
                </a:solidFill>
                <a:latin typeface="Aptos"/>
                <a:ea typeface="Aptos"/>
                <a:cs typeface="Aptos"/>
              </a:defRPr>
            </a:pPr>
            <a:r>
              <a:rPr sz="1050" b="1">
                <a:solidFill>
                  <a:srgbClr val="FFFFFF"/>
                </a:solidFill>
                <a:latin typeface="Aptos"/>
                <a:ea typeface="Aptos"/>
                <a:cs typeface="Aptos"/>
              </a:rPr>
              <a:t>FOKUS DISKUSI</a:t>
            </a:r>
          </a:p>
        </p:txBody>
      </p:sp>
      <p:sp>
        <p:nvSpPr>
          <p:cNvPr id="10" name="">
            <a:extLst xmlns:a="http://schemas.openxmlformats.org/drawingml/2006/main">
              <a:ext uri="{FF2B5EF4-FFF2-40B4-BE49-F238E27FC236}">
                <a16:creationId xmlns:a16="http://schemas.microsoft.com/office/drawing/2014/main" id="{AB2623CB-7E16-4B65-8817-7E94262AAFAC}"/>
              </a:ext>
            </a:extLst>
          </p:cNvPr>
          <p:cNvSpPr>
            <a:spLocks xmlns:a="http://schemas.openxmlformats.org/drawingml/2006/main" noGrp="1"/>
          </p:cNvSpPr>
          <p:nvPr/>
        </p:nvSpPr>
        <p:spPr>
          <a:xfrm xmlns:a="http://schemas.openxmlformats.org/drawingml/2006/main">
            <a:off x="666750" y="2038350"/>
            <a:ext cx="10477500" cy="742950"/>
          </a:xfrm>
          <a:prstGeom xmlns:a="http://schemas.openxmlformats.org/drawingml/2006/main" prst="rect">
            <a:avLst/>
          </a:prstGeom>
          <a:solidFill xmlns:a="http://schemas.openxmlformats.org/drawingml/2006/main">
            <a:srgbClr val="EEF4F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99ED362-9D0E-4616-8809-A2995AAC8CD0}"/>
              </a:ext>
            </a:extLst>
          </p:cNvPr>
          <p:cNvSpPr>
            <a:spLocks xmlns:a="http://schemas.openxmlformats.org/drawingml/2006/main" noGrp="1"/>
          </p:cNvSpPr>
          <p:nvPr/>
        </p:nvSpPr>
        <p:spPr>
          <a:xfrm xmlns:a="http://schemas.openxmlformats.org/drawingml/2006/main">
            <a:off x="838200" y="2209800"/>
            <a:ext cx="161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152536"/>
                </a:solidFill>
                <a:latin typeface="Aptos"/>
                <a:ea typeface="Aptos"/>
                <a:cs typeface="Aptos"/>
              </a:defRPr>
            </a:pPr>
            <a:r>
              <a:rPr sz="1275" b="1">
                <a:solidFill>
                  <a:srgbClr val="152536"/>
                </a:solidFill>
                <a:latin typeface="Aptos"/>
                <a:ea typeface="Aptos"/>
                <a:cs typeface="Aptos"/>
              </a:rPr>
              <a:t>08.30–09.15</a:t>
            </a:r>
          </a:p>
        </p:txBody>
      </p:sp>
      <p:sp>
        <p:nvSpPr>
          <p:cNvPr id="12" name="">
            <a:extLst xmlns:a="http://schemas.openxmlformats.org/drawingml/2006/main">
              <a:ext uri="{FF2B5EF4-FFF2-40B4-BE49-F238E27FC236}">
                <a16:creationId xmlns:a16="http://schemas.microsoft.com/office/drawing/2014/main" id="{A4999B95-44DB-491A-8EF9-F7B4553D9EA6}"/>
              </a:ext>
            </a:extLst>
          </p:cNvPr>
          <p:cNvSpPr>
            <a:spLocks xmlns:a="http://schemas.openxmlformats.org/drawingml/2006/main" noGrp="1"/>
          </p:cNvSpPr>
          <p:nvPr/>
        </p:nvSpPr>
        <p:spPr>
          <a:xfrm xmlns:a="http://schemas.openxmlformats.org/drawingml/2006/main">
            <a:off x="2705100" y="2209800"/>
            <a:ext cx="247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0B2545"/>
                </a:solidFill>
                <a:latin typeface="Aptos"/>
                <a:ea typeface="Aptos"/>
                <a:cs typeface="Aptos"/>
              </a:defRPr>
            </a:pPr>
            <a:r>
              <a:rPr sz="1350" b="1">
                <a:solidFill>
                  <a:srgbClr val="0B2545"/>
                </a:solidFill>
                <a:latin typeface="Aptos"/>
                <a:ea typeface="Aptos"/>
                <a:cs typeface="Aptos"/>
              </a:rPr>
              <a:t>Arah dan prioritas</a:t>
            </a:r>
          </a:p>
        </p:txBody>
      </p:sp>
      <p:sp>
        <p:nvSpPr>
          <p:cNvPr id="13" name="">
            <a:extLst xmlns:a="http://schemas.openxmlformats.org/drawingml/2006/main">
              <a:ext uri="{FF2B5EF4-FFF2-40B4-BE49-F238E27FC236}">
                <a16:creationId xmlns:a16="http://schemas.microsoft.com/office/drawing/2014/main" id="{3E024E82-BD1F-4C25-A15F-3C61B051DD93}"/>
              </a:ext>
            </a:extLst>
          </p:cNvPr>
          <p:cNvSpPr>
            <a:spLocks xmlns:a="http://schemas.openxmlformats.org/drawingml/2006/main" noGrp="1"/>
          </p:cNvSpPr>
          <p:nvPr/>
        </p:nvSpPr>
        <p:spPr>
          <a:xfrm xmlns:a="http://schemas.openxmlformats.org/drawingml/2006/main">
            <a:off x="5391150" y="2133600"/>
            <a:ext cx="5429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506274"/>
                </a:solidFill>
                <a:latin typeface="Aptos"/>
                <a:ea typeface="Aptos"/>
                <a:cs typeface="Aptos"/>
              </a:defRPr>
            </a:pPr>
            <a:r>
              <a:rPr sz="1275" b="0">
                <a:solidFill>
                  <a:srgbClr val="506274"/>
                </a:solidFill>
                <a:latin typeface="Aptos"/>
                <a:ea typeface="Aptos"/>
                <a:cs typeface="Aptos"/>
              </a:rPr>
              <a:t>Tujuan kebijakan, kebutuhan pimpinan, masalah paling mendesak</a:t>
            </a:r>
          </a:p>
        </p:txBody>
      </p:sp>
      <p:sp>
        <p:nvSpPr>
          <p:cNvPr id="14" name="">
            <a:extLst xmlns:a="http://schemas.openxmlformats.org/drawingml/2006/main">
              <a:ext uri="{FF2B5EF4-FFF2-40B4-BE49-F238E27FC236}">
                <a16:creationId xmlns:a16="http://schemas.microsoft.com/office/drawing/2014/main" id="{3B6A4163-EA03-428D-BBE0-96699FE467A2}"/>
              </a:ext>
            </a:extLst>
          </p:cNvPr>
          <p:cNvSpPr>
            <a:spLocks xmlns:a="http://schemas.openxmlformats.org/drawingml/2006/main" noGrp="1"/>
          </p:cNvSpPr>
          <p:nvPr/>
        </p:nvSpPr>
        <p:spPr>
          <a:xfrm xmlns:a="http://schemas.openxmlformats.org/drawingml/2006/main">
            <a:off x="838200" y="2952750"/>
            <a:ext cx="161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152536"/>
                </a:solidFill>
                <a:latin typeface="Aptos"/>
                <a:ea typeface="Aptos"/>
                <a:cs typeface="Aptos"/>
              </a:defRPr>
            </a:pPr>
            <a:r>
              <a:rPr sz="1275" b="1">
                <a:solidFill>
                  <a:srgbClr val="152536"/>
                </a:solidFill>
                <a:latin typeface="Aptos"/>
                <a:ea typeface="Aptos"/>
                <a:cs typeface="Aptos"/>
              </a:rPr>
              <a:t>09.15–11.00</a:t>
            </a:r>
          </a:p>
        </p:txBody>
      </p:sp>
      <p:sp>
        <p:nvSpPr>
          <p:cNvPr id="15" name="">
            <a:extLst xmlns:a="http://schemas.openxmlformats.org/drawingml/2006/main">
              <a:ext uri="{FF2B5EF4-FFF2-40B4-BE49-F238E27FC236}">
                <a16:creationId xmlns:a16="http://schemas.microsoft.com/office/drawing/2014/main" id="{A3679E43-741D-4F70-A89A-88117D02F0E3}"/>
              </a:ext>
            </a:extLst>
          </p:cNvPr>
          <p:cNvSpPr>
            <a:spLocks xmlns:a="http://schemas.openxmlformats.org/drawingml/2006/main" noGrp="1"/>
          </p:cNvSpPr>
          <p:nvPr/>
        </p:nvSpPr>
        <p:spPr>
          <a:xfrm xmlns:a="http://schemas.openxmlformats.org/drawingml/2006/main">
            <a:off x="2705100" y="2952750"/>
            <a:ext cx="247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0B2545"/>
                </a:solidFill>
                <a:latin typeface="Aptos"/>
                <a:ea typeface="Aptos"/>
                <a:cs typeface="Aptos"/>
              </a:defRPr>
            </a:pPr>
            <a:r>
              <a:rPr sz="1350" b="1">
                <a:solidFill>
                  <a:srgbClr val="0B2545"/>
                </a:solidFill>
                <a:latin typeface="Aptos"/>
                <a:ea typeface="Aptos"/>
                <a:cs typeface="Aptos"/>
              </a:rPr>
              <a:t>Indikator dan sumber</a:t>
            </a:r>
          </a:p>
        </p:txBody>
      </p:sp>
      <p:sp>
        <p:nvSpPr>
          <p:cNvPr id="16" name="">
            <a:extLst xmlns:a="http://schemas.openxmlformats.org/drawingml/2006/main">
              <a:ext uri="{FF2B5EF4-FFF2-40B4-BE49-F238E27FC236}">
                <a16:creationId xmlns:a16="http://schemas.microsoft.com/office/drawing/2014/main" id="{CF262174-68F5-476A-B168-C75F33BF4A75}"/>
              </a:ext>
            </a:extLst>
          </p:cNvPr>
          <p:cNvSpPr>
            <a:spLocks xmlns:a="http://schemas.openxmlformats.org/drawingml/2006/main" noGrp="1"/>
          </p:cNvSpPr>
          <p:nvPr/>
        </p:nvSpPr>
        <p:spPr>
          <a:xfrm xmlns:a="http://schemas.openxmlformats.org/drawingml/2006/main">
            <a:off x="5391150" y="2876550"/>
            <a:ext cx="5429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506274"/>
                </a:solidFill>
                <a:latin typeface="Aptos"/>
                <a:ea typeface="Aptos"/>
                <a:cs typeface="Aptos"/>
              </a:defRPr>
            </a:pPr>
            <a:r>
              <a:rPr sz="1275" b="0">
                <a:solidFill>
                  <a:srgbClr val="506274"/>
                </a:solidFill>
                <a:latin typeface="Aptos"/>
                <a:ea typeface="Aptos"/>
                <a:cs typeface="Aptos"/>
              </a:rPr>
              <a:t>Definisi, satuan, wilayah, pemilik, frekuensi pembaruan</a:t>
            </a:r>
          </a:p>
        </p:txBody>
      </p:sp>
      <p:sp>
        <p:nvSpPr>
          <p:cNvPr id="17" name="">
            <a:extLst xmlns:a="http://schemas.openxmlformats.org/drawingml/2006/main">
              <a:ext uri="{FF2B5EF4-FFF2-40B4-BE49-F238E27FC236}">
                <a16:creationId xmlns:a16="http://schemas.microsoft.com/office/drawing/2014/main" id="{BEA11255-A613-4798-9217-4B677A70FA37}"/>
              </a:ext>
            </a:extLst>
          </p:cNvPr>
          <p:cNvSpPr>
            <a:spLocks xmlns:a="http://schemas.openxmlformats.org/drawingml/2006/main" noGrp="1"/>
          </p:cNvSpPr>
          <p:nvPr/>
        </p:nvSpPr>
        <p:spPr>
          <a:xfrm xmlns:a="http://schemas.openxmlformats.org/drawingml/2006/main">
            <a:off x="666750" y="3524250"/>
            <a:ext cx="10477500" cy="742950"/>
          </a:xfrm>
          <a:prstGeom xmlns:a="http://schemas.openxmlformats.org/drawingml/2006/main" prst="rect">
            <a:avLst/>
          </a:prstGeom>
          <a:solidFill xmlns:a="http://schemas.openxmlformats.org/drawingml/2006/main">
            <a:srgbClr val="EEF4F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BF14BE32-7634-4439-8F3D-8A585A22CF89}"/>
              </a:ext>
            </a:extLst>
          </p:cNvPr>
          <p:cNvSpPr>
            <a:spLocks xmlns:a="http://schemas.openxmlformats.org/drawingml/2006/main" noGrp="1"/>
          </p:cNvSpPr>
          <p:nvPr/>
        </p:nvSpPr>
        <p:spPr>
          <a:xfrm xmlns:a="http://schemas.openxmlformats.org/drawingml/2006/main">
            <a:off x="838200" y="3695700"/>
            <a:ext cx="161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152536"/>
                </a:solidFill>
                <a:latin typeface="Aptos"/>
                <a:ea typeface="Aptos"/>
                <a:cs typeface="Aptos"/>
              </a:defRPr>
            </a:pPr>
            <a:r>
              <a:rPr sz="1275" b="1">
                <a:solidFill>
                  <a:srgbClr val="152536"/>
                </a:solidFill>
                <a:latin typeface="Aptos"/>
                <a:ea typeface="Aptos"/>
                <a:cs typeface="Aptos"/>
              </a:rPr>
              <a:t>13.00–14.15</a:t>
            </a:r>
          </a:p>
        </p:txBody>
      </p:sp>
      <p:sp>
        <p:nvSpPr>
          <p:cNvPr id="19" name="">
            <a:extLst xmlns:a="http://schemas.openxmlformats.org/drawingml/2006/main">
              <a:ext uri="{FF2B5EF4-FFF2-40B4-BE49-F238E27FC236}">
                <a16:creationId xmlns:a16="http://schemas.microsoft.com/office/drawing/2014/main" id="{A80056D2-F3A9-4BA1-8FD8-B78A9E2F192B}"/>
              </a:ext>
            </a:extLst>
          </p:cNvPr>
          <p:cNvSpPr>
            <a:spLocks xmlns:a="http://schemas.openxmlformats.org/drawingml/2006/main" noGrp="1"/>
          </p:cNvSpPr>
          <p:nvPr/>
        </p:nvSpPr>
        <p:spPr>
          <a:xfrm xmlns:a="http://schemas.openxmlformats.org/drawingml/2006/main">
            <a:off x="2705100" y="3695700"/>
            <a:ext cx="247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0B2545"/>
                </a:solidFill>
                <a:latin typeface="Aptos"/>
                <a:ea typeface="Aptos"/>
                <a:cs typeface="Aptos"/>
              </a:defRPr>
            </a:pPr>
            <a:r>
              <a:rPr sz="1350" b="1">
                <a:solidFill>
                  <a:srgbClr val="0B2545"/>
                </a:solidFill>
                <a:latin typeface="Aptos"/>
                <a:ea typeface="Aptos"/>
                <a:cs typeface="Aptos"/>
              </a:rPr>
              <a:t>Validasi dan akses</a:t>
            </a:r>
          </a:p>
        </p:txBody>
      </p:sp>
      <p:sp>
        <p:nvSpPr>
          <p:cNvPr id="20" name="">
            <a:extLst xmlns:a="http://schemas.openxmlformats.org/drawingml/2006/main">
              <a:ext uri="{FF2B5EF4-FFF2-40B4-BE49-F238E27FC236}">
                <a16:creationId xmlns:a16="http://schemas.microsoft.com/office/drawing/2014/main" id="{3B9A9AED-BE13-47CB-9F82-06D7950441A0}"/>
              </a:ext>
            </a:extLst>
          </p:cNvPr>
          <p:cNvSpPr>
            <a:spLocks xmlns:a="http://schemas.openxmlformats.org/drawingml/2006/main" noGrp="1"/>
          </p:cNvSpPr>
          <p:nvPr/>
        </p:nvSpPr>
        <p:spPr>
          <a:xfrm xmlns:a="http://schemas.openxmlformats.org/drawingml/2006/main">
            <a:off x="5391150" y="3619500"/>
            <a:ext cx="5429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506274"/>
                </a:solidFill>
                <a:latin typeface="Aptos"/>
                <a:ea typeface="Aptos"/>
                <a:cs typeface="Aptos"/>
              </a:defRPr>
            </a:pPr>
            <a:r>
              <a:rPr sz="1275" b="0">
                <a:solidFill>
                  <a:srgbClr val="506274"/>
                </a:solidFill>
                <a:latin typeface="Aptos"/>
                <a:ea typeface="Aptos"/>
                <a:cs typeface="Aptos"/>
              </a:rPr>
              <a:t>Pemeriksaan kualitas, persetujuan, koreksi, hak akses</a:t>
            </a:r>
          </a:p>
        </p:txBody>
      </p:sp>
      <p:sp>
        <p:nvSpPr>
          <p:cNvPr id="21" name="">
            <a:extLst xmlns:a="http://schemas.openxmlformats.org/drawingml/2006/main">
              <a:ext uri="{FF2B5EF4-FFF2-40B4-BE49-F238E27FC236}">
                <a16:creationId xmlns:a16="http://schemas.microsoft.com/office/drawing/2014/main" id="{4BAC78A5-610C-4806-AAC6-DA54802FE3AE}"/>
              </a:ext>
            </a:extLst>
          </p:cNvPr>
          <p:cNvSpPr>
            <a:spLocks xmlns:a="http://schemas.openxmlformats.org/drawingml/2006/main" noGrp="1"/>
          </p:cNvSpPr>
          <p:nvPr/>
        </p:nvSpPr>
        <p:spPr>
          <a:xfrm xmlns:a="http://schemas.openxmlformats.org/drawingml/2006/main">
            <a:off x="838200" y="4438650"/>
            <a:ext cx="161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152536"/>
                </a:solidFill>
                <a:latin typeface="Aptos"/>
                <a:ea typeface="Aptos"/>
                <a:cs typeface="Aptos"/>
              </a:defRPr>
            </a:pPr>
            <a:r>
              <a:rPr sz="1275" b="1">
                <a:solidFill>
                  <a:srgbClr val="152536"/>
                </a:solidFill>
                <a:latin typeface="Aptos"/>
                <a:ea typeface="Aptos"/>
                <a:cs typeface="Aptos"/>
              </a:rPr>
              <a:t>14.15–15.30</a:t>
            </a:r>
          </a:p>
        </p:txBody>
      </p:sp>
      <p:sp>
        <p:nvSpPr>
          <p:cNvPr id="22" name="">
            <a:extLst xmlns:a="http://schemas.openxmlformats.org/drawingml/2006/main">
              <a:ext uri="{FF2B5EF4-FFF2-40B4-BE49-F238E27FC236}">
                <a16:creationId xmlns:a16="http://schemas.microsoft.com/office/drawing/2014/main" id="{9172C529-0C4C-4DB8-AD44-E576FCBAA347}"/>
              </a:ext>
            </a:extLst>
          </p:cNvPr>
          <p:cNvSpPr>
            <a:spLocks xmlns:a="http://schemas.openxmlformats.org/drawingml/2006/main" noGrp="1"/>
          </p:cNvSpPr>
          <p:nvPr/>
        </p:nvSpPr>
        <p:spPr>
          <a:xfrm xmlns:a="http://schemas.openxmlformats.org/drawingml/2006/main">
            <a:off x="2705100" y="4438650"/>
            <a:ext cx="247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0B2545"/>
                </a:solidFill>
                <a:latin typeface="Aptos"/>
                <a:ea typeface="Aptos"/>
                <a:cs typeface="Aptos"/>
              </a:defRPr>
            </a:pPr>
            <a:r>
              <a:rPr sz="1350" b="1">
                <a:solidFill>
                  <a:srgbClr val="0B2545"/>
                </a:solidFill>
                <a:latin typeface="Aptos"/>
                <a:ea typeface="Aptos"/>
                <a:cs typeface="Aptos"/>
              </a:rPr>
              <a:t>Pilot 90 hari</a:t>
            </a:r>
          </a:p>
        </p:txBody>
      </p:sp>
      <p:sp>
        <p:nvSpPr>
          <p:cNvPr id="23" name="">
            <a:extLst xmlns:a="http://schemas.openxmlformats.org/drawingml/2006/main">
              <a:ext uri="{FF2B5EF4-FFF2-40B4-BE49-F238E27FC236}">
                <a16:creationId xmlns:a16="http://schemas.microsoft.com/office/drawing/2014/main" id="{1C7D80D3-7B35-4E5D-92B7-1BA5B259500B}"/>
              </a:ext>
            </a:extLst>
          </p:cNvPr>
          <p:cNvSpPr>
            <a:spLocks xmlns:a="http://schemas.openxmlformats.org/drawingml/2006/main" noGrp="1"/>
          </p:cNvSpPr>
          <p:nvPr/>
        </p:nvSpPr>
        <p:spPr>
          <a:xfrm xmlns:a="http://schemas.openxmlformats.org/drawingml/2006/main">
            <a:off x="5391150" y="4362450"/>
            <a:ext cx="5429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506274"/>
                </a:solidFill>
                <a:latin typeface="Aptos"/>
                <a:ea typeface="Aptos"/>
                <a:cs typeface="Aptos"/>
              </a:defRPr>
            </a:pPr>
            <a:r>
              <a:rPr sz="1275" b="0">
                <a:solidFill>
                  <a:srgbClr val="506274"/>
                </a:solidFill>
                <a:latin typeface="Aptos"/>
                <a:ea typeface="Aptos"/>
                <a:cs typeface="Aptos"/>
              </a:rPr>
              <a:t>Ruang lingkup awal, peran, jadwal, dukungan, ukuran keberhasilan</a:t>
            </a:r>
          </a:p>
        </p:txBody>
      </p:sp>
      <p:sp>
        <p:nvSpPr>
          <p:cNvPr id="24" name="">
            <a:extLst xmlns:a="http://schemas.openxmlformats.org/drawingml/2006/main">
              <a:ext uri="{FF2B5EF4-FFF2-40B4-BE49-F238E27FC236}">
                <a16:creationId xmlns:a16="http://schemas.microsoft.com/office/drawing/2014/main" id="{475FFC9C-2A5E-4FC4-8D0F-3952B4B874C8}"/>
              </a:ext>
            </a:extLst>
          </p:cNvPr>
          <p:cNvSpPr>
            <a:spLocks xmlns:a="http://schemas.openxmlformats.org/drawingml/2006/main" noGrp="1"/>
          </p:cNvSpPr>
          <p:nvPr/>
        </p:nvSpPr>
        <p:spPr>
          <a:xfrm xmlns:a="http://schemas.openxmlformats.org/drawingml/2006/main">
            <a:off x="666750" y="5010150"/>
            <a:ext cx="10477500" cy="742950"/>
          </a:xfrm>
          <a:prstGeom xmlns:a="http://schemas.openxmlformats.org/drawingml/2006/main" prst="rect">
            <a:avLst/>
          </a:prstGeom>
          <a:solidFill xmlns:a="http://schemas.openxmlformats.org/drawingml/2006/main">
            <a:srgbClr val="EEF4F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6B0E71FF-A646-4485-B21B-0168D899B02A}"/>
              </a:ext>
            </a:extLst>
          </p:cNvPr>
          <p:cNvSpPr>
            <a:spLocks xmlns:a="http://schemas.openxmlformats.org/drawingml/2006/main" noGrp="1"/>
          </p:cNvSpPr>
          <p:nvPr/>
        </p:nvSpPr>
        <p:spPr>
          <a:xfrm xmlns:a="http://schemas.openxmlformats.org/drawingml/2006/main">
            <a:off x="838200" y="5181600"/>
            <a:ext cx="161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152536"/>
                </a:solidFill>
                <a:latin typeface="Aptos"/>
                <a:ea typeface="Aptos"/>
                <a:cs typeface="Aptos"/>
              </a:defRPr>
            </a:pPr>
            <a:r>
              <a:rPr sz="1275" b="1">
                <a:solidFill>
                  <a:srgbClr val="152536"/>
                </a:solidFill>
                <a:latin typeface="Aptos"/>
                <a:ea typeface="Aptos"/>
                <a:cs typeface="Aptos"/>
              </a:rPr>
              <a:t>15.30–16.00</a:t>
            </a:r>
          </a:p>
        </p:txBody>
      </p:sp>
      <p:sp>
        <p:nvSpPr>
          <p:cNvPr id="26" name="">
            <a:extLst xmlns:a="http://schemas.openxmlformats.org/drawingml/2006/main">
              <a:ext uri="{FF2B5EF4-FFF2-40B4-BE49-F238E27FC236}">
                <a16:creationId xmlns:a16="http://schemas.microsoft.com/office/drawing/2014/main" id="{5EECF988-4383-4713-ADFD-87D459AA0065}"/>
              </a:ext>
            </a:extLst>
          </p:cNvPr>
          <p:cNvSpPr>
            <a:spLocks xmlns:a="http://schemas.openxmlformats.org/drawingml/2006/main" noGrp="1"/>
          </p:cNvSpPr>
          <p:nvPr/>
        </p:nvSpPr>
        <p:spPr>
          <a:xfrm xmlns:a="http://schemas.openxmlformats.org/drawingml/2006/main">
            <a:off x="2705100" y="5181600"/>
            <a:ext cx="247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0B2545"/>
                </a:solidFill>
                <a:latin typeface="Aptos"/>
                <a:ea typeface="Aptos"/>
                <a:cs typeface="Aptos"/>
              </a:defRPr>
            </a:pPr>
            <a:r>
              <a:rPr sz="1350" b="1">
                <a:solidFill>
                  <a:srgbClr val="0B2545"/>
                </a:solidFill>
                <a:latin typeface="Aptos"/>
                <a:ea typeface="Aptos"/>
                <a:cs typeface="Aptos"/>
              </a:rPr>
              <a:t>Kesepakatan</a:t>
            </a:r>
          </a:p>
        </p:txBody>
      </p:sp>
      <p:sp>
        <p:nvSpPr>
          <p:cNvPr id="27" name="">
            <a:extLst xmlns:a="http://schemas.openxmlformats.org/drawingml/2006/main">
              <a:ext uri="{FF2B5EF4-FFF2-40B4-BE49-F238E27FC236}">
                <a16:creationId xmlns:a16="http://schemas.microsoft.com/office/drawing/2014/main" id="{3FED8B66-BB09-490E-930E-69BB7153F025}"/>
              </a:ext>
            </a:extLst>
          </p:cNvPr>
          <p:cNvSpPr>
            <a:spLocks xmlns:a="http://schemas.openxmlformats.org/drawingml/2006/main" noGrp="1"/>
          </p:cNvSpPr>
          <p:nvPr/>
        </p:nvSpPr>
        <p:spPr>
          <a:xfrm xmlns:a="http://schemas.openxmlformats.org/drawingml/2006/main">
            <a:off x="5391150" y="5105400"/>
            <a:ext cx="5429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506274"/>
                </a:solidFill>
                <a:latin typeface="Aptos"/>
                <a:ea typeface="Aptos"/>
                <a:cs typeface="Aptos"/>
              </a:defRPr>
            </a:pPr>
            <a:r>
              <a:rPr sz="1275" b="0">
                <a:solidFill>
                  <a:srgbClr val="506274"/>
                </a:solidFill>
                <a:latin typeface="Aptos"/>
                <a:ea typeface="Aptos"/>
                <a:cs typeface="Aptos"/>
              </a:rPr>
              <a:t>Ringkasan keputusan, PIC, tenggat, dan pertemuan berikutnya</a:t>
            </a:r>
          </a:p>
        </p:txBody>
      </p:sp>
      <p:sp>
        <p:nvSpPr>
          <p:cNvPr id="28" name="">
            <a:extLst xmlns:a="http://schemas.openxmlformats.org/drawingml/2006/main">
              <a:ext uri="{FF2B5EF4-FFF2-40B4-BE49-F238E27FC236}">
                <a16:creationId xmlns:a16="http://schemas.microsoft.com/office/drawing/2014/main" id="{FF85D418-E6A2-403E-BCC3-7FB8A769ECE3}"/>
              </a:ext>
            </a:extLst>
          </p:cNvPr>
          <p:cNvSpPr>
            <a:spLocks xmlns:a="http://schemas.openxmlformats.org/drawingml/2006/main" noGrp="1"/>
          </p:cNvSpPr>
          <p:nvPr/>
        </p:nvSpPr>
        <p:spPr>
          <a:xfrm xmlns:a="http://schemas.openxmlformats.org/drawingml/2006/main">
            <a:off x="723900" y="5943600"/>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1E5A96"/>
                </a:solidFill>
                <a:latin typeface="Aptos"/>
                <a:ea typeface="Aptos"/>
                <a:cs typeface="Aptos"/>
              </a:defRPr>
            </a:pPr>
            <a:r>
              <a:rPr sz="1350" b="1">
                <a:solidFill>
                  <a:srgbClr val="1E5A96"/>
                </a:solidFill>
                <a:latin typeface="Aptos"/>
                <a:ea typeface="Aptos"/>
                <a:cs typeface="Aptos"/>
              </a:rPr>
              <a:t>Format kerja: paparan singkat, pemetaan bersama, pembahasan kelompok, lalu konfirmasi pleno.</a:t>
            </a:r>
          </a:p>
        </p:txBody>
      </p:sp>
    </p:spTree>
    <p:extLst>
      <p:ext uri="{BB962C8B-B14F-4D97-AF65-F5344CB8AC3E}">
        <p14:creationId xmlns:p14="http://schemas.microsoft.com/office/powerpoint/2010/main" val="204339349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3ECF0527-D181-4D95-AB7D-645F507DE06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5DA9E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127ACC0-1174-48C8-852C-217A4D1D018B}"/>
              </a:ext>
            </a:extLst>
          </p:cNvPr>
          <p:cNvSpPr>
            <a:spLocks xmlns:a="http://schemas.openxmlformats.org/drawingml/2006/main" noGrp="1"/>
          </p:cNvSpPr>
          <p:nvPr/>
        </p:nvSpPr>
        <p:spPr>
          <a:xfrm xmlns:a="http://schemas.openxmlformats.org/drawingml/2006/main">
            <a:off x="590550" y="361950"/>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400" b="1">
                <a:solidFill>
                  <a:srgbClr val="0B2545"/>
                </a:solidFill>
                <a:latin typeface="Aptos"/>
                <a:ea typeface="Aptos"/>
                <a:cs typeface="Aptos"/>
              </a:defRPr>
            </a:pPr>
            <a:r>
              <a:rPr sz="2400" b="1">
                <a:solidFill>
                  <a:srgbClr val="0B2545"/>
                </a:solidFill>
                <a:latin typeface="Aptos"/>
                <a:ea typeface="Aptos"/>
                <a:cs typeface="Aptos"/>
              </a:rPr>
              <a:t>Makna setiap kelompok fitur</a:t>
            </a:r>
          </a:p>
        </p:txBody>
      </p:sp>
      <p:sp>
        <p:nvSpPr>
          <p:cNvPr id="3" name="">
            <a:extLst xmlns:a="http://schemas.openxmlformats.org/drawingml/2006/main">
              <a:ext uri="{FF2B5EF4-FFF2-40B4-BE49-F238E27FC236}">
                <a16:creationId xmlns:a16="http://schemas.microsoft.com/office/drawing/2014/main" id="{EBF0020E-3AEF-49F3-820E-725BD5963AF7}"/>
              </a:ext>
            </a:extLst>
          </p:cNvPr>
          <p:cNvSpPr>
            <a:spLocks xmlns:a="http://schemas.openxmlformats.org/drawingml/2006/main" noGrp="1"/>
          </p:cNvSpPr>
          <p:nvPr/>
        </p:nvSpPr>
        <p:spPr>
          <a:xfrm xmlns:a="http://schemas.openxmlformats.org/drawingml/2006/main">
            <a:off x="609600" y="857250"/>
            <a:ext cx="1028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506274"/>
                </a:solidFill>
                <a:latin typeface="Aptos"/>
                <a:ea typeface="Aptos"/>
                <a:cs typeface="Aptos"/>
              </a:defRPr>
            </a:pPr>
            <a:r>
              <a:rPr sz="1275" b="0">
                <a:solidFill>
                  <a:srgbClr val="506274"/>
                </a:solidFill>
                <a:latin typeface="Aptos"/>
                <a:ea typeface="Aptos"/>
                <a:cs typeface="Aptos"/>
              </a:rPr>
              <a:t>Penjelasan singkat agar demo tetap berorientasi pada pekerjaan BAPPERIDA</a:t>
            </a:r>
          </a:p>
        </p:txBody>
      </p:sp>
      <p:sp>
        <p:nvSpPr>
          <p:cNvPr id="4" name="">
            <a:extLst xmlns:a="http://schemas.openxmlformats.org/drawingml/2006/main">
              <a:ext uri="{FF2B5EF4-FFF2-40B4-BE49-F238E27FC236}">
                <a16:creationId xmlns:a16="http://schemas.microsoft.com/office/drawing/2014/main" id="{426DBD2A-85BA-42A4-977D-C334D747D662}"/>
              </a:ext>
            </a:extLst>
          </p:cNvPr>
          <p:cNvSpPr>
            <a:spLocks xmlns:a="http://schemas.openxmlformats.org/drawingml/2006/main" noGrp="1"/>
          </p:cNvSpPr>
          <p:nvPr/>
        </p:nvSpPr>
        <p:spPr>
          <a:xfrm xmlns:a="http://schemas.openxmlformats.org/drawingml/2006/main">
            <a:off x="590550" y="1219200"/>
            <a:ext cx="10953750" cy="19050"/>
          </a:xfrm>
          <a:prstGeom xmlns:a="http://schemas.openxmlformats.org/drawingml/2006/main" prst="rect">
            <a:avLst/>
          </a:prstGeom>
          <a:solidFill xmlns:a="http://schemas.openxmlformats.org/drawingml/2006/main">
            <a:srgbClr val="CBD8E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4FDFE1D-2649-425A-8D15-013920C02A94}"/>
              </a:ext>
            </a:extLst>
          </p:cNvPr>
          <p:cNvSpPr>
            <a:spLocks xmlns:a="http://schemas.openxmlformats.org/drawingml/2006/main" noGrp="1"/>
          </p:cNvSpPr>
          <p:nvPr/>
        </p:nvSpPr>
        <p:spPr>
          <a:xfrm xmlns:a="http://schemas.openxmlformats.org/drawingml/2006/main">
            <a:off x="11096625" y="400050"/>
            <a:ext cx="438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506274"/>
                </a:solidFill>
                <a:latin typeface="Aptos"/>
                <a:ea typeface="Aptos"/>
                <a:cs typeface="Aptos"/>
              </a:defRPr>
            </a:pPr>
            <a:r>
              <a:rPr sz="1125" b="1">
                <a:solidFill>
                  <a:srgbClr val="506274"/>
                </a:solidFill>
                <a:latin typeface="Aptos"/>
                <a:ea typeface="Aptos"/>
                <a:cs typeface="Aptos"/>
              </a:rPr>
              <a:t>08</a:t>
            </a:r>
          </a:p>
        </p:txBody>
      </p:sp>
      <p:sp>
        <p:nvSpPr>
          <p:cNvPr id="6" name="">
            <a:extLst xmlns:a="http://schemas.openxmlformats.org/drawingml/2006/main">
              <a:ext uri="{FF2B5EF4-FFF2-40B4-BE49-F238E27FC236}">
                <a16:creationId xmlns:a16="http://schemas.microsoft.com/office/drawing/2014/main" id="{30E865CC-55F8-41AD-87EF-620107967A1D}"/>
              </a:ext>
            </a:extLst>
          </p:cNvPr>
          <p:cNvSpPr>
            <a:spLocks xmlns:a="http://schemas.openxmlformats.org/drawingml/2006/main" noGrp="1"/>
          </p:cNvSpPr>
          <p:nvPr/>
        </p:nvSpPr>
        <p:spPr>
          <a:xfrm xmlns:a="http://schemas.openxmlformats.org/drawingml/2006/main">
            <a:off x="723900" y="16573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1">
                <a:solidFill>
                  <a:srgbClr val="E4A72C"/>
                </a:solidFill>
                <a:latin typeface="Aptos"/>
                <a:ea typeface="Aptos"/>
                <a:cs typeface="Aptos"/>
              </a:defRPr>
            </a:pPr>
            <a:r>
              <a:rPr sz="1050" b="1">
                <a:solidFill>
                  <a:srgbClr val="E4A72C"/>
                </a:solidFill>
                <a:latin typeface="Aptos"/>
                <a:ea typeface="Aptos"/>
                <a:cs typeface="Aptos"/>
              </a:rPr>
              <a:t>MEMBACA KONDISI</a:t>
            </a:r>
          </a:p>
        </p:txBody>
      </p:sp>
      <p:sp>
        <p:nvSpPr>
          <p:cNvPr id="7" name="">
            <a:extLst xmlns:a="http://schemas.openxmlformats.org/drawingml/2006/main">
              <a:ext uri="{FF2B5EF4-FFF2-40B4-BE49-F238E27FC236}">
                <a16:creationId xmlns:a16="http://schemas.microsoft.com/office/drawing/2014/main" id="{FB4F31B7-433E-4CE9-B7B2-2D77861F76EB}"/>
              </a:ext>
            </a:extLst>
          </p:cNvPr>
          <p:cNvSpPr>
            <a:spLocks xmlns:a="http://schemas.openxmlformats.org/drawingml/2006/main" noGrp="1"/>
          </p:cNvSpPr>
          <p:nvPr/>
        </p:nvSpPr>
        <p:spPr>
          <a:xfrm xmlns:a="http://schemas.openxmlformats.org/drawingml/2006/main">
            <a:off x="2628900" y="1609725"/>
            <a:ext cx="3810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500"/>
          </a:bodyPr>
          <a:lstStyle xmlns:a="http://schemas.openxmlformats.org/drawingml/2006/main"/>
          <a:p xmlns:a="http://schemas.openxmlformats.org/drawingml/2006/main">
            <a:pPr>
              <a:defRPr sz="1500" b="1">
                <a:solidFill>
                  <a:srgbClr val="0B2545"/>
                </a:solidFill>
                <a:latin typeface="Aptos"/>
                <a:ea typeface="Aptos"/>
                <a:cs typeface="Aptos"/>
              </a:defRPr>
            </a:pPr>
            <a:r>
              <a:rPr sz="1500" b="1">
                <a:solidFill>
                  <a:srgbClr val="0B2545"/>
                </a:solidFill>
                <a:latin typeface="Aptos"/>
                <a:ea typeface="Aptos"/>
                <a:cs typeface="Aptos"/>
              </a:rPr>
              <a:t>Ringkasan, peta wilayah, kinerja OPD, keuangan, dan layanan</a:t>
            </a:r>
          </a:p>
        </p:txBody>
      </p:sp>
      <p:sp>
        <p:nvSpPr>
          <p:cNvPr id="8" name="">
            <a:extLst xmlns:a="http://schemas.openxmlformats.org/drawingml/2006/main">
              <a:ext uri="{FF2B5EF4-FFF2-40B4-BE49-F238E27FC236}">
                <a16:creationId xmlns:a16="http://schemas.microsoft.com/office/drawing/2014/main" id="{3F832819-72C7-4388-8F3F-AF04DE09D645}"/>
              </a:ext>
            </a:extLst>
          </p:cNvPr>
          <p:cNvSpPr>
            <a:spLocks xmlns:a="http://schemas.openxmlformats.org/drawingml/2006/main" noGrp="1"/>
          </p:cNvSpPr>
          <p:nvPr/>
        </p:nvSpPr>
        <p:spPr>
          <a:xfrm xmlns:a="http://schemas.openxmlformats.org/drawingml/2006/main">
            <a:off x="6705600" y="1609725"/>
            <a:ext cx="4381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506274"/>
                </a:solidFill>
                <a:latin typeface="Aptos"/>
                <a:ea typeface="Aptos"/>
                <a:cs typeface="Aptos"/>
              </a:defRPr>
            </a:pPr>
            <a:r>
              <a:rPr sz="1350" b="0">
                <a:solidFill>
                  <a:srgbClr val="506274"/>
                </a:solidFill>
                <a:latin typeface="Aptos"/>
                <a:ea typeface="Aptos"/>
                <a:cs typeface="Aptos"/>
              </a:rPr>
              <a:t>Memberi konteks yang sama sebelum pembahasan lintas sektor</a:t>
            </a:r>
          </a:p>
        </p:txBody>
      </p:sp>
      <p:sp>
        <p:nvSpPr>
          <p:cNvPr id="9" name="">
            <a:extLst xmlns:a="http://schemas.openxmlformats.org/drawingml/2006/main">
              <a:ext uri="{FF2B5EF4-FFF2-40B4-BE49-F238E27FC236}">
                <a16:creationId xmlns:a16="http://schemas.microsoft.com/office/drawing/2014/main" id="{4EE18EA5-E369-484B-99CD-4A5C7DB96F98}"/>
              </a:ext>
            </a:extLst>
          </p:cNvPr>
          <p:cNvSpPr>
            <a:spLocks xmlns:a="http://schemas.openxmlformats.org/drawingml/2006/main" noGrp="1"/>
          </p:cNvSpPr>
          <p:nvPr/>
        </p:nvSpPr>
        <p:spPr>
          <a:xfrm xmlns:a="http://schemas.openxmlformats.org/drawingml/2006/main">
            <a:off x="2628900" y="2343150"/>
            <a:ext cx="8458200" cy="9525"/>
          </a:xfrm>
          <a:prstGeom xmlns:a="http://schemas.openxmlformats.org/drawingml/2006/main" prst="rect">
            <a:avLst/>
          </a:prstGeom>
          <a:solidFill xmlns:a="http://schemas.openxmlformats.org/drawingml/2006/main">
            <a:srgbClr val="CBD8E2"/>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8F684E5-C36D-4C6F-9479-B1C3027F3695}"/>
              </a:ext>
            </a:extLst>
          </p:cNvPr>
          <p:cNvSpPr>
            <a:spLocks xmlns:a="http://schemas.openxmlformats.org/drawingml/2006/main" noGrp="1"/>
          </p:cNvSpPr>
          <p:nvPr/>
        </p:nvSpPr>
        <p:spPr>
          <a:xfrm xmlns:a="http://schemas.openxmlformats.org/drawingml/2006/main">
            <a:off x="723900" y="27241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1">
                <a:solidFill>
                  <a:srgbClr val="5DA9E9"/>
                </a:solidFill>
                <a:latin typeface="Aptos"/>
                <a:ea typeface="Aptos"/>
                <a:cs typeface="Aptos"/>
              </a:defRPr>
            </a:pPr>
            <a:r>
              <a:rPr sz="1050" b="1">
                <a:solidFill>
                  <a:srgbClr val="5DA9E9"/>
                </a:solidFill>
                <a:latin typeface="Aptos"/>
                <a:ea typeface="Aptos"/>
                <a:cs typeface="Aptos"/>
              </a:rPr>
              <a:t>MENENTUKAN PRIORITAS</a:t>
            </a:r>
          </a:p>
        </p:txBody>
      </p:sp>
      <p:sp>
        <p:nvSpPr>
          <p:cNvPr id="11" name="">
            <a:extLst xmlns:a="http://schemas.openxmlformats.org/drawingml/2006/main">
              <a:ext uri="{FF2B5EF4-FFF2-40B4-BE49-F238E27FC236}">
                <a16:creationId xmlns:a16="http://schemas.microsoft.com/office/drawing/2014/main" id="{3E5AD9C6-BF9E-4EB5-940C-2BE0C2AF7CF7}"/>
              </a:ext>
            </a:extLst>
          </p:cNvPr>
          <p:cNvSpPr>
            <a:spLocks xmlns:a="http://schemas.openxmlformats.org/drawingml/2006/main" noGrp="1"/>
          </p:cNvSpPr>
          <p:nvPr/>
        </p:nvSpPr>
        <p:spPr>
          <a:xfrm xmlns:a="http://schemas.openxmlformats.org/drawingml/2006/main">
            <a:off x="2628900" y="2676525"/>
            <a:ext cx="3810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0B2545"/>
                </a:solidFill>
                <a:latin typeface="Aptos"/>
                <a:ea typeface="Aptos"/>
                <a:cs typeface="Aptos"/>
              </a:defRPr>
            </a:pPr>
            <a:r>
              <a:rPr sz="1500" b="1">
                <a:solidFill>
                  <a:srgbClr val="0B2545"/>
                </a:solidFill>
                <a:latin typeface="Aptos"/>
                <a:ea typeface="Aptos"/>
                <a:cs typeface="Aptos"/>
              </a:rPr>
              <a:t>Analisis, rekomendasi, dan pusat peringatan</a:t>
            </a:r>
          </a:p>
        </p:txBody>
      </p:sp>
      <p:sp>
        <p:nvSpPr>
          <p:cNvPr id="12" name="">
            <a:extLst xmlns:a="http://schemas.openxmlformats.org/drawingml/2006/main">
              <a:ext uri="{FF2B5EF4-FFF2-40B4-BE49-F238E27FC236}">
                <a16:creationId xmlns:a16="http://schemas.microsoft.com/office/drawing/2014/main" id="{BE78DAE5-6062-41A8-BBFE-B8CA1246407F}"/>
              </a:ext>
            </a:extLst>
          </p:cNvPr>
          <p:cNvSpPr>
            <a:spLocks xmlns:a="http://schemas.openxmlformats.org/drawingml/2006/main" noGrp="1"/>
          </p:cNvSpPr>
          <p:nvPr/>
        </p:nvSpPr>
        <p:spPr>
          <a:xfrm xmlns:a="http://schemas.openxmlformats.org/drawingml/2006/main">
            <a:off x="6705600" y="2676525"/>
            <a:ext cx="4381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506274"/>
                </a:solidFill>
                <a:latin typeface="Aptos"/>
                <a:ea typeface="Aptos"/>
                <a:cs typeface="Aptos"/>
              </a:defRPr>
            </a:pPr>
            <a:r>
              <a:rPr sz="1350" b="0">
                <a:solidFill>
                  <a:srgbClr val="506274"/>
                </a:solidFill>
                <a:latin typeface="Aptos"/>
                <a:ea typeface="Aptos"/>
                <a:cs typeface="Aptos"/>
              </a:rPr>
              <a:t>Menunjukkan indikator yang memerlukan perhatian atau tindak lanjut</a:t>
            </a:r>
          </a:p>
        </p:txBody>
      </p:sp>
      <p:sp>
        <p:nvSpPr>
          <p:cNvPr id="13" name="">
            <a:extLst xmlns:a="http://schemas.openxmlformats.org/drawingml/2006/main">
              <a:ext uri="{FF2B5EF4-FFF2-40B4-BE49-F238E27FC236}">
                <a16:creationId xmlns:a16="http://schemas.microsoft.com/office/drawing/2014/main" id="{6B5A3F7E-075A-4A2B-9919-63C51D1C7DF4}"/>
              </a:ext>
            </a:extLst>
          </p:cNvPr>
          <p:cNvSpPr>
            <a:spLocks xmlns:a="http://schemas.openxmlformats.org/drawingml/2006/main" noGrp="1"/>
          </p:cNvSpPr>
          <p:nvPr/>
        </p:nvSpPr>
        <p:spPr>
          <a:xfrm xmlns:a="http://schemas.openxmlformats.org/drawingml/2006/main">
            <a:off x="2628900" y="3409950"/>
            <a:ext cx="8458200" cy="9525"/>
          </a:xfrm>
          <a:prstGeom xmlns:a="http://schemas.openxmlformats.org/drawingml/2006/main" prst="rect">
            <a:avLst/>
          </a:prstGeom>
          <a:solidFill xmlns:a="http://schemas.openxmlformats.org/drawingml/2006/main">
            <a:srgbClr val="CBD8E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A6E3828-D471-4FB2-A122-2BDA3817FA90}"/>
              </a:ext>
            </a:extLst>
          </p:cNvPr>
          <p:cNvSpPr>
            <a:spLocks xmlns:a="http://schemas.openxmlformats.org/drawingml/2006/main" noGrp="1"/>
          </p:cNvSpPr>
          <p:nvPr/>
        </p:nvSpPr>
        <p:spPr>
          <a:xfrm xmlns:a="http://schemas.openxmlformats.org/drawingml/2006/main">
            <a:off x="723900" y="37909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1">
                <a:solidFill>
                  <a:srgbClr val="27A7C7"/>
                </a:solidFill>
                <a:latin typeface="Aptos"/>
                <a:ea typeface="Aptos"/>
                <a:cs typeface="Aptos"/>
              </a:defRPr>
            </a:pPr>
            <a:r>
              <a:rPr sz="1050" b="1">
                <a:solidFill>
                  <a:srgbClr val="27A7C7"/>
                </a:solidFill>
                <a:latin typeface="Aptos"/>
                <a:ea typeface="Aptos"/>
                <a:cs typeface="Aptos"/>
              </a:rPr>
              <a:t>MENJAGA KEPERCAYAAN</a:t>
            </a:r>
          </a:p>
        </p:txBody>
      </p:sp>
      <p:sp>
        <p:nvSpPr>
          <p:cNvPr id="15" name="">
            <a:extLst xmlns:a="http://schemas.openxmlformats.org/drawingml/2006/main">
              <a:ext uri="{FF2B5EF4-FFF2-40B4-BE49-F238E27FC236}">
                <a16:creationId xmlns:a16="http://schemas.microsoft.com/office/drawing/2014/main" id="{2C7E5B0D-8AAC-4401-A2E2-665AEFBCC8E0}"/>
              </a:ext>
            </a:extLst>
          </p:cNvPr>
          <p:cNvSpPr>
            <a:spLocks xmlns:a="http://schemas.openxmlformats.org/drawingml/2006/main" noGrp="1"/>
          </p:cNvSpPr>
          <p:nvPr/>
        </p:nvSpPr>
        <p:spPr>
          <a:xfrm xmlns:a="http://schemas.openxmlformats.org/drawingml/2006/main">
            <a:off x="2628900" y="3743325"/>
            <a:ext cx="3810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0B2545"/>
                </a:solidFill>
                <a:latin typeface="Aptos"/>
                <a:ea typeface="Aptos"/>
                <a:cs typeface="Aptos"/>
              </a:defRPr>
            </a:pPr>
            <a:r>
              <a:rPr sz="1500" b="1">
                <a:solidFill>
                  <a:srgbClr val="0B2545"/>
                </a:solidFill>
                <a:latin typeface="Aptos"/>
                <a:ea typeface="Aptos"/>
                <a:cs typeface="Aptos"/>
              </a:rPr>
              <a:t>Sumber data dan validasi</a:t>
            </a:r>
          </a:p>
        </p:txBody>
      </p:sp>
      <p:sp>
        <p:nvSpPr>
          <p:cNvPr id="16" name="">
            <a:extLst xmlns:a="http://schemas.openxmlformats.org/drawingml/2006/main">
              <a:ext uri="{FF2B5EF4-FFF2-40B4-BE49-F238E27FC236}">
                <a16:creationId xmlns:a16="http://schemas.microsoft.com/office/drawing/2014/main" id="{D8DCB888-EF72-43EE-AE4D-DB16C84E45FC}"/>
              </a:ext>
            </a:extLst>
          </p:cNvPr>
          <p:cNvSpPr>
            <a:spLocks xmlns:a="http://schemas.openxmlformats.org/drawingml/2006/main" noGrp="1"/>
          </p:cNvSpPr>
          <p:nvPr/>
        </p:nvSpPr>
        <p:spPr>
          <a:xfrm xmlns:a="http://schemas.openxmlformats.org/drawingml/2006/main">
            <a:off x="6705600" y="3743325"/>
            <a:ext cx="4381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506274"/>
                </a:solidFill>
                <a:latin typeface="Aptos"/>
                <a:ea typeface="Aptos"/>
                <a:cs typeface="Aptos"/>
              </a:defRPr>
            </a:pPr>
            <a:r>
              <a:rPr sz="1350" b="0">
                <a:solidFill>
                  <a:srgbClr val="506274"/>
                </a:solidFill>
                <a:latin typeface="Aptos"/>
                <a:ea typeface="Aptos"/>
                <a:cs typeface="Aptos"/>
              </a:rPr>
              <a:t>Memperlihatkan asal angka, status pemeriksaan, dan catatan koreksi</a:t>
            </a:r>
          </a:p>
        </p:txBody>
      </p:sp>
      <p:sp>
        <p:nvSpPr>
          <p:cNvPr id="17" name="">
            <a:extLst xmlns:a="http://schemas.openxmlformats.org/drawingml/2006/main">
              <a:ext uri="{FF2B5EF4-FFF2-40B4-BE49-F238E27FC236}">
                <a16:creationId xmlns:a16="http://schemas.microsoft.com/office/drawing/2014/main" id="{DC44A12C-CAFC-4078-AA72-C4D9D1965382}"/>
              </a:ext>
            </a:extLst>
          </p:cNvPr>
          <p:cNvSpPr>
            <a:spLocks xmlns:a="http://schemas.openxmlformats.org/drawingml/2006/main" noGrp="1"/>
          </p:cNvSpPr>
          <p:nvPr/>
        </p:nvSpPr>
        <p:spPr>
          <a:xfrm xmlns:a="http://schemas.openxmlformats.org/drawingml/2006/main">
            <a:off x="2628900" y="4476750"/>
            <a:ext cx="8458200" cy="9525"/>
          </a:xfrm>
          <a:prstGeom xmlns:a="http://schemas.openxmlformats.org/drawingml/2006/main" prst="rect">
            <a:avLst/>
          </a:prstGeom>
          <a:solidFill xmlns:a="http://schemas.openxmlformats.org/drawingml/2006/main">
            <a:srgbClr val="CBD8E2"/>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15BC04F4-0C7E-4144-AA45-4041908C1752}"/>
              </a:ext>
            </a:extLst>
          </p:cNvPr>
          <p:cNvSpPr>
            <a:spLocks xmlns:a="http://schemas.openxmlformats.org/drawingml/2006/main" noGrp="1"/>
          </p:cNvSpPr>
          <p:nvPr/>
        </p:nvSpPr>
        <p:spPr>
          <a:xfrm xmlns:a="http://schemas.openxmlformats.org/drawingml/2006/main">
            <a:off x="723900" y="48577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1">
                <a:solidFill>
                  <a:srgbClr val="2C7A66"/>
                </a:solidFill>
                <a:latin typeface="Aptos"/>
                <a:ea typeface="Aptos"/>
                <a:cs typeface="Aptos"/>
              </a:defRPr>
            </a:pPr>
            <a:r>
              <a:rPr sz="1050" b="1">
                <a:solidFill>
                  <a:srgbClr val="2C7A66"/>
                </a:solidFill>
                <a:latin typeface="Aptos"/>
                <a:ea typeface="Aptos"/>
                <a:cs typeface="Aptos"/>
              </a:rPr>
              <a:t>MEMPERCEPAT AKSES</a:t>
            </a:r>
          </a:p>
        </p:txBody>
      </p:sp>
      <p:sp>
        <p:nvSpPr>
          <p:cNvPr id="19" name="">
            <a:extLst xmlns:a="http://schemas.openxmlformats.org/drawingml/2006/main">
              <a:ext uri="{FF2B5EF4-FFF2-40B4-BE49-F238E27FC236}">
                <a16:creationId xmlns:a16="http://schemas.microsoft.com/office/drawing/2014/main" id="{6B6A4D98-501E-4119-A556-60DCC1E62169}"/>
              </a:ext>
            </a:extLst>
          </p:cNvPr>
          <p:cNvSpPr>
            <a:spLocks xmlns:a="http://schemas.openxmlformats.org/drawingml/2006/main" noGrp="1"/>
          </p:cNvSpPr>
          <p:nvPr/>
        </p:nvSpPr>
        <p:spPr>
          <a:xfrm xmlns:a="http://schemas.openxmlformats.org/drawingml/2006/main">
            <a:off x="2628900" y="4810125"/>
            <a:ext cx="3810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0B2545"/>
                </a:solidFill>
                <a:latin typeface="Aptos"/>
                <a:ea typeface="Aptos"/>
                <a:cs typeface="Aptos"/>
              </a:defRPr>
            </a:pPr>
            <a:r>
              <a:rPr sz="1500" b="1">
                <a:solidFill>
                  <a:srgbClr val="0B2545"/>
                </a:solidFill>
                <a:latin typeface="Aptos"/>
                <a:ea typeface="Aptos"/>
                <a:cs typeface="Aptos"/>
              </a:rPr>
              <a:t>Pencarian dan Asisten Data</a:t>
            </a:r>
          </a:p>
        </p:txBody>
      </p:sp>
      <p:sp>
        <p:nvSpPr>
          <p:cNvPr id="20" name="">
            <a:extLst xmlns:a="http://schemas.openxmlformats.org/drawingml/2006/main">
              <a:ext uri="{FF2B5EF4-FFF2-40B4-BE49-F238E27FC236}">
                <a16:creationId xmlns:a16="http://schemas.microsoft.com/office/drawing/2014/main" id="{0904718A-0B34-4C1B-8D9C-25ECDC016A69}"/>
              </a:ext>
            </a:extLst>
          </p:cNvPr>
          <p:cNvSpPr>
            <a:spLocks xmlns:a="http://schemas.openxmlformats.org/drawingml/2006/main" noGrp="1"/>
          </p:cNvSpPr>
          <p:nvPr/>
        </p:nvSpPr>
        <p:spPr>
          <a:xfrm xmlns:a="http://schemas.openxmlformats.org/drawingml/2006/main">
            <a:off x="6705600" y="4810125"/>
            <a:ext cx="4381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506274"/>
                </a:solidFill>
                <a:latin typeface="Aptos"/>
                <a:ea typeface="Aptos"/>
                <a:cs typeface="Aptos"/>
              </a:defRPr>
            </a:pPr>
            <a:r>
              <a:rPr sz="1350" b="0">
                <a:solidFill>
                  <a:srgbClr val="506274"/>
                </a:solidFill>
                <a:latin typeface="Aptos"/>
                <a:ea typeface="Aptos"/>
                <a:cs typeface="Aptos"/>
              </a:rPr>
              <a:t>Membantu pengguna menemukan ringkasan tanpa membuka banyak laporan</a:t>
            </a:r>
          </a:p>
        </p:txBody>
      </p:sp>
      <p:sp>
        <p:nvSpPr>
          <p:cNvPr id="21" name="">
            <a:extLst xmlns:a="http://schemas.openxmlformats.org/drawingml/2006/main">
              <a:ext uri="{FF2B5EF4-FFF2-40B4-BE49-F238E27FC236}">
                <a16:creationId xmlns:a16="http://schemas.microsoft.com/office/drawing/2014/main" id="{427C0F7E-E588-4694-800F-5229648D33A0}"/>
              </a:ext>
            </a:extLst>
          </p:cNvPr>
          <p:cNvSpPr>
            <a:spLocks xmlns:a="http://schemas.openxmlformats.org/drawingml/2006/main" noGrp="1"/>
          </p:cNvSpPr>
          <p:nvPr/>
        </p:nvSpPr>
        <p:spPr>
          <a:xfrm xmlns:a="http://schemas.openxmlformats.org/drawingml/2006/main">
            <a:off x="2628900" y="5543550"/>
            <a:ext cx="8458200" cy="9525"/>
          </a:xfrm>
          <a:prstGeom xmlns:a="http://schemas.openxmlformats.org/drawingml/2006/main" prst="rect">
            <a:avLst/>
          </a:prstGeom>
          <a:solidFill xmlns:a="http://schemas.openxmlformats.org/drawingml/2006/main">
            <a:srgbClr val="CBD8E2"/>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EA6E2115-D5F9-4934-A48B-5B692091BDEF}"/>
              </a:ext>
            </a:extLst>
          </p:cNvPr>
          <p:cNvSpPr>
            <a:spLocks xmlns:a="http://schemas.openxmlformats.org/drawingml/2006/main" noGrp="1"/>
          </p:cNvSpPr>
          <p:nvPr/>
        </p:nvSpPr>
        <p:spPr>
          <a:xfrm xmlns:a="http://schemas.openxmlformats.org/drawingml/2006/main">
            <a:off x="723900" y="5981700"/>
            <a:ext cx="10363200" cy="19050"/>
          </a:xfrm>
          <a:prstGeom xmlns:a="http://schemas.openxmlformats.org/drawingml/2006/main" prst="rect">
            <a:avLst/>
          </a:prstGeom>
          <a:solidFill xmlns:a="http://schemas.openxmlformats.org/drawingml/2006/main">
            <a:srgbClr val="CBD8E2"/>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57DE9FFE-9553-4645-B3B3-18B3C58D773E}"/>
              </a:ext>
            </a:extLst>
          </p:cNvPr>
          <p:cNvSpPr>
            <a:spLocks xmlns:a="http://schemas.openxmlformats.org/drawingml/2006/main" noGrp="1"/>
          </p:cNvSpPr>
          <p:nvPr/>
        </p:nvSpPr>
        <p:spPr>
          <a:xfrm xmlns:a="http://schemas.openxmlformats.org/drawingml/2006/main">
            <a:off x="723900" y="6096000"/>
            <a:ext cx="10363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1E5A96"/>
                </a:solidFill>
                <a:latin typeface="Aptos"/>
                <a:ea typeface="Aptos"/>
                <a:cs typeface="Aptos"/>
              </a:defRPr>
            </a:pPr>
            <a:r>
              <a:rPr sz="1275" b="1">
                <a:solidFill>
                  <a:srgbClr val="1E5A96"/>
                </a:solidFill>
                <a:latin typeface="Aptos"/>
                <a:ea typeface="Aptos"/>
                <a:cs typeface="Aptos"/>
              </a:rPr>
              <a:t>Benang merahnya: informasi ringkas tetap dapat ditelusuri sampai ke sumber dan status validasinya.</a:t>
            </a:r>
          </a:p>
        </p:txBody>
      </p:sp>
    </p:spTree>
    <p:extLst>
      <p:ext uri="{BB962C8B-B14F-4D97-AF65-F5344CB8AC3E}">
        <p14:creationId xmlns:p14="http://schemas.microsoft.com/office/powerpoint/2010/main" val="27027493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F126C316-D702-4603-8CAC-BDA3D2089AC9}"/>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5DA9E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2D854B7-8C15-48D3-9EF4-2A850437F78D}"/>
              </a:ext>
            </a:extLst>
          </p:cNvPr>
          <p:cNvSpPr>
            <a:spLocks xmlns:a="http://schemas.openxmlformats.org/drawingml/2006/main" noGrp="1"/>
          </p:cNvSpPr>
          <p:nvPr/>
        </p:nvSpPr>
        <p:spPr>
          <a:xfrm xmlns:a="http://schemas.openxmlformats.org/drawingml/2006/main">
            <a:off x="590550" y="361950"/>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400" b="1">
                <a:solidFill>
                  <a:srgbClr val="0B2545"/>
                </a:solidFill>
                <a:latin typeface="Aptos"/>
                <a:ea typeface="Aptos"/>
                <a:cs typeface="Aptos"/>
              </a:defRPr>
            </a:pPr>
            <a:r>
              <a:rPr sz="2400" b="1">
                <a:solidFill>
                  <a:srgbClr val="0B2545"/>
                </a:solidFill>
                <a:latin typeface="Aptos"/>
                <a:ea typeface="Aptos"/>
                <a:cs typeface="Aptos"/>
              </a:rPr>
              <a:t>Fokus pembahasan dalam FGD</a:t>
            </a:r>
          </a:p>
        </p:txBody>
      </p:sp>
      <p:sp>
        <p:nvSpPr>
          <p:cNvPr id="3" name="">
            <a:extLst xmlns:a="http://schemas.openxmlformats.org/drawingml/2006/main">
              <a:ext uri="{FF2B5EF4-FFF2-40B4-BE49-F238E27FC236}">
                <a16:creationId xmlns:a16="http://schemas.microsoft.com/office/drawing/2014/main" id="{61C203B9-3C81-449B-802B-806525455E15}"/>
              </a:ext>
            </a:extLst>
          </p:cNvPr>
          <p:cNvSpPr>
            <a:spLocks xmlns:a="http://schemas.openxmlformats.org/drawingml/2006/main" noGrp="1"/>
          </p:cNvSpPr>
          <p:nvPr/>
        </p:nvSpPr>
        <p:spPr>
          <a:xfrm xmlns:a="http://schemas.openxmlformats.org/drawingml/2006/main">
            <a:off x="609600" y="857250"/>
            <a:ext cx="1028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506274"/>
                </a:solidFill>
                <a:latin typeface="Aptos"/>
                <a:ea typeface="Aptos"/>
                <a:cs typeface="Aptos"/>
              </a:defRPr>
            </a:pPr>
            <a:r>
              <a:rPr sz="1275" b="0">
                <a:solidFill>
                  <a:srgbClr val="506274"/>
                </a:solidFill>
                <a:latin typeface="Aptos"/>
                <a:ea typeface="Aptos"/>
                <a:cs typeface="Aptos"/>
              </a:rPr>
              <a:t>FGD mengubah prototipe menjadi rancangan yang sesuai proses kerja Kapuas</a:t>
            </a:r>
          </a:p>
        </p:txBody>
      </p:sp>
      <p:sp>
        <p:nvSpPr>
          <p:cNvPr id="4" name="">
            <a:extLst xmlns:a="http://schemas.openxmlformats.org/drawingml/2006/main">
              <a:ext uri="{FF2B5EF4-FFF2-40B4-BE49-F238E27FC236}">
                <a16:creationId xmlns:a16="http://schemas.microsoft.com/office/drawing/2014/main" id="{D1E9414D-13E1-43F2-BECD-C0A98026D535}"/>
              </a:ext>
            </a:extLst>
          </p:cNvPr>
          <p:cNvSpPr>
            <a:spLocks xmlns:a="http://schemas.openxmlformats.org/drawingml/2006/main" noGrp="1"/>
          </p:cNvSpPr>
          <p:nvPr/>
        </p:nvSpPr>
        <p:spPr>
          <a:xfrm xmlns:a="http://schemas.openxmlformats.org/drawingml/2006/main">
            <a:off x="590550" y="1219200"/>
            <a:ext cx="10953750" cy="19050"/>
          </a:xfrm>
          <a:prstGeom xmlns:a="http://schemas.openxmlformats.org/drawingml/2006/main" prst="rect">
            <a:avLst/>
          </a:prstGeom>
          <a:solidFill xmlns:a="http://schemas.openxmlformats.org/drawingml/2006/main">
            <a:srgbClr val="CBD8E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2EDCF55-17C0-4043-9CCD-85B440361D7B}"/>
              </a:ext>
            </a:extLst>
          </p:cNvPr>
          <p:cNvSpPr>
            <a:spLocks xmlns:a="http://schemas.openxmlformats.org/drawingml/2006/main" noGrp="1"/>
          </p:cNvSpPr>
          <p:nvPr/>
        </p:nvSpPr>
        <p:spPr>
          <a:xfrm xmlns:a="http://schemas.openxmlformats.org/drawingml/2006/main">
            <a:off x="11096625" y="400050"/>
            <a:ext cx="438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506274"/>
                </a:solidFill>
                <a:latin typeface="Aptos"/>
                <a:ea typeface="Aptos"/>
                <a:cs typeface="Aptos"/>
              </a:defRPr>
            </a:pPr>
            <a:r>
              <a:rPr sz="1125" b="1">
                <a:solidFill>
                  <a:srgbClr val="506274"/>
                </a:solidFill>
                <a:latin typeface="Aptos"/>
                <a:ea typeface="Aptos"/>
                <a:cs typeface="Aptos"/>
              </a:rPr>
              <a:t>09</a:t>
            </a:r>
          </a:p>
        </p:txBody>
      </p:sp>
      <p:sp>
        <p:nvSpPr>
          <p:cNvPr id="6" name="">
            <a:extLst xmlns:a="http://schemas.openxmlformats.org/drawingml/2006/main">
              <a:ext uri="{FF2B5EF4-FFF2-40B4-BE49-F238E27FC236}">
                <a16:creationId xmlns:a16="http://schemas.microsoft.com/office/drawing/2014/main" id="{FCF40E2A-39FA-40F0-A00C-7A0031CA0501}"/>
              </a:ext>
            </a:extLst>
          </p:cNvPr>
          <p:cNvSpPr>
            <a:spLocks xmlns:a="http://schemas.openxmlformats.org/drawingml/2006/main" noGrp="1"/>
          </p:cNvSpPr>
          <p:nvPr/>
        </p:nvSpPr>
        <p:spPr>
          <a:xfrm xmlns:a="http://schemas.openxmlformats.org/drawingml/2006/main">
            <a:off x="723900" y="1619250"/>
            <a:ext cx="457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1E5A96"/>
                </a:solidFill>
                <a:latin typeface="Aptos"/>
                <a:ea typeface="Aptos"/>
                <a:cs typeface="Aptos"/>
              </a:defRPr>
            </a:pPr>
            <a:r>
              <a:rPr sz="1125" b="1">
                <a:solidFill>
                  <a:srgbClr val="1E5A96"/>
                </a:solidFill>
                <a:latin typeface="Aptos"/>
                <a:ea typeface="Aptos"/>
                <a:cs typeface="Aptos"/>
              </a:rPr>
              <a:t>PERTANYAAN YANG DIBAHAS</a:t>
            </a:r>
          </a:p>
        </p:txBody>
      </p:sp>
      <p:sp>
        <p:nvSpPr>
          <p:cNvPr id="7" name="">
            <a:extLst xmlns:a="http://schemas.openxmlformats.org/drawingml/2006/main">
              <a:ext uri="{FF2B5EF4-FFF2-40B4-BE49-F238E27FC236}">
                <a16:creationId xmlns:a16="http://schemas.microsoft.com/office/drawing/2014/main" id="{616C21B3-6FB9-46C2-BDE4-24037ABF6338}"/>
              </a:ext>
            </a:extLst>
          </p:cNvPr>
          <p:cNvSpPr>
            <a:spLocks xmlns:a="http://schemas.openxmlformats.org/drawingml/2006/main" noGrp="1"/>
          </p:cNvSpPr>
          <p:nvPr/>
        </p:nvSpPr>
        <p:spPr>
          <a:xfrm xmlns:a="http://schemas.openxmlformats.org/drawingml/2006/main">
            <a:off x="742950" y="2076450"/>
            <a:ext cx="342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5DA9E9"/>
                </a:solidFill>
                <a:latin typeface="Aptos"/>
                <a:ea typeface="Aptos"/>
                <a:cs typeface="Aptos"/>
              </a:defRPr>
            </a:pPr>
            <a:r>
              <a:rPr sz="1275" b="1">
                <a:solidFill>
                  <a:srgbClr val="5DA9E9"/>
                </a:solidFill>
                <a:latin typeface="Aptos"/>
                <a:ea typeface="Aptos"/>
                <a:cs typeface="Aptos"/>
              </a:rPr>
              <a:t>1</a:t>
            </a:r>
          </a:p>
        </p:txBody>
      </p:sp>
      <p:sp>
        <p:nvSpPr>
          <p:cNvPr id="8" name="">
            <a:extLst xmlns:a="http://schemas.openxmlformats.org/drawingml/2006/main">
              <a:ext uri="{FF2B5EF4-FFF2-40B4-BE49-F238E27FC236}">
                <a16:creationId xmlns:a16="http://schemas.microsoft.com/office/drawing/2014/main" id="{CD2BEC6A-3C16-4531-9CF4-1761D3C1C5C0}"/>
              </a:ext>
            </a:extLst>
          </p:cNvPr>
          <p:cNvSpPr>
            <a:spLocks xmlns:a="http://schemas.openxmlformats.org/drawingml/2006/main" noGrp="1"/>
          </p:cNvSpPr>
          <p:nvPr/>
        </p:nvSpPr>
        <p:spPr>
          <a:xfrm xmlns:a="http://schemas.openxmlformats.org/drawingml/2006/main">
            <a:off x="1200150" y="2038350"/>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119"/>
          </a:bodyPr>
          <a:lstStyle xmlns:a="http://schemas.openxmlformats.org/drawingml/2006/main"/>
          <a:p xmlns:a="http://schemas.openxmlformats.org/drawingml/2006/main">
            <a:pPr>
              <a:defRPr sz="1350" b="0">
                <a:solidFill>
                  <a:srgbClr val="152536"/>
                </a:solidFill>
                <a:latin typeface="Aptos"/>
                <a:ea typeface="Aptos"/>
                <a:cs typeface="Aptos"/>
              </a:defRPr>
            </a:pPr>
            <a:r>
              <a:rPr sz="1350" b="0">
                <a:solidFill>
                  <a:srgbClr val="152536"/>
                </a:solidFill>
                <a:latin typeface="Aptos"/>
                <a:ea typeface="Aptos"/>
                <a:cs typeface="Aptos"/>
              </a:rPr>
              <a:t>Keputusan apa yang paling membutuhkan dukungan data?</a:t>
            </a:r>
          </a:p>
        </p:txBody>
      </p:sp>
      <p:sp>
        <p:nvSpPr>
          <p:cNvPr id="9" name="">
            <a:extLst xmlns:a="http://schemas.openxmlformats.org/drawingml/2006/main">
              <a:ext uri="{FF2B5EF4-FFF2-40B4-BE49-F238E27FC236}">
                <a16:creationId xmlns:a16="http://schemas.microsoft.com/office/drawing/2014/main" id="{B0A2C17C-0F45-472F-A364-1E74538FA95A}"/>
              </a:ext>
            </a:extLst>
          </p:cNvPr>
          <p:cNvSpPr>
            <a:spLocks xmlns:a="http://schemas.openxmlformats.org/drawingml/2006/main" noGrp="1"/>
          </p:cNvSpPr>
          <p:nvPr/>
        </p:nvSpPr>
        <p:spPr>
          <a:xfrm xmlns:a="http://schemas.openxmlformats.org/drawingml/2006/main">
            <a:off x="742950" y="2676525"/>
            <a:ext cx="342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5DA9E9"/>
                </a:solidFill>
                <a:latin typeface="Aptos"/>
                <a:ea typeface="Aptos"/>
                <a:cs typeface="Aptos"/>
              </a:defRPr>
            </a:pPr>
            <a:r>
              <a:rPr sz="1275" b="1">
                <a:solidFill>
                  <a:srgbClr val="5DA9E9"/>
                </a:solidFill>
                <a:latin typeface="Aptos"/>
                <a:ea typeface="Aptos"/>
                <a:cs typeface="Aptos"/>
              </a:rPr>
              <a:t>2</a:t>
            </a:r>
          </a:p>
        </p:txBody>
      </p:sp>
      <p:sp>
        <p:nvSpPr>
          <p:cNvPr id="10" name="">
            <a:extLst xmlns:a="http://schemas.openxmlformats.org/drawingml/2006/main">
              <a:ext uri="{FF2B5EF4-FFF2-40B4-BE49-F238E27FC236}">
                <a16:creationId xmlns:a16="http://schemas.microsoft.com/office/drawing/2014/main" id="{784ED4D1-157D-4271-B7F1-6BDAEDE8F3F3}"/>
              </a:ext>
            </a:extLst>
          </p:cNvPr>
          <p:cNvSpPr>
            <a:spLocks xmlns:a="http://schemas.openxmlformats.org/drawingml/2006/main" noGrp="1"/>
          </p:cNvSpPr>
          <p:nvPr/>
        </p:nvSpPr>
        <p:spPr>
          <a:xfrm xmlns:a="http://schemas.openxmlformats.org/drawingml/2006/main">
            <a:off x="1200150" y="2638425"/>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152536"/>
                </a:solidFill>
                <a:latin typeface="Aptos"/>
                <a:ea typeface="Aptos"/>
                <a:cs typeface="Aptos"/>
              </a:defRPr>
            </a:pPr>
            <a:r>
              <a:rPr sz="1350" b="0">
                <a:solidFill>
                  <a:srgbClr val="152536"/>
                </a:solidFill>
                <a:latin typeface="Aptos"/>
                <a:ea typeface="Aptos"/>
                <a:cs typeface="Aptos"/>
              </a:rPr>
              <a:t>Indikator mana yang masuk tahap awal?</a:t>
            </a:r>
          </a:p>
        </p:txBody>
      </p:sp>
      <p:sp>
        <p:nvSpPr>
          <p:cNvPr id="11" name="">
            <a:extLst xmlns:a="http://schemas.openxmlformats.org/drawingml/2006/main">
              <a:ext uri="{FF2B5EF4-FFF2-40B4-BE49-F238E27FC236}">
                <a16:creationId xmlns:a16="http://schemas.microsoft.com/office/drawing/2014/main" id="{1E44153B-4D8E-4730-83CA-73FAFB8BD0C9}"/>
              </a:ext>
            </a:extLst>
          </p:cNvPr>
          <p:cNvSpPr>
            <a:spLocks xmlns:a="http://schemas.openxmlformats.org/drawingml/2006/main" noGrp="1"/>
          </p:cNvSpPr>
          <p:nvPr/>
        </p:nvSpPr>
        <p:spPr>
          <a:xfrm xmlns:a="http://schemas.openxmlformats.org/drawingml/2006/main">
            <a:off x="742950" y="3276600"/>
            <a:ext cx="342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5DA9E9"/>
                </a:solidFill>
                <a:latin typeface="Aptos"/>
                <a:ea typeface="Aptos"/>
                <a:cs typeface="Aptos"/>
              </a:defRPr>
            </a:pPr>
            <a:r>
              <a:rPr sz="1275" b="1">
                <a:solidFill>
                  <a:srgbClr val="5DA9E9"/>
                </a:solidFill>
                <a:latin typeface="Aptos"/>
                <a:ea typeface="Aptos"/>
                <a:cs typeface="Aptos"/>
              </a:rPr>
              <a:t>3</a:t>
            </a:r>
          </a:p>
        </p:txBody>
      </p:sp>
      <p:sp>
        <p:nvSpPr>
          <p:cNvPr id="12" name="">
            <a:extLst xmlns:a="http://schemas.openxmlformats.org/drawingml/2006/main">
              <a:ext uri="{FF2B5EF4-FFF2-40B4-BE49-F238E27FC236}">
                <a16:creationId xmlns:a16="http://schemas.microsoft.com/office/drawing/2014/main" id="{FAF4F295-7AAF-4A74-929D-740915587593}"/>
              </a:ext>
            </a:extLst>
          </p:cNvPr>
          <p:cNvSpPr>
            <a:spLocks xmlns:a="http://schemas.openxmlformats.org/drawingml/2006/main" noGrp="1"/>
          </p:cNvSpPr>
          <p:nvPr/>
        </p:nvSpPr>
        <p:spPr>
          <a:xfrm xmlns:a="http://schemas.openxmlformats.org/drawingml/2006/main">
            <a:off x="1200150" y="3238500"/>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152536"/>
                </a:solidFill>
                <a:latin typeface="Aptos"/>
                <a:ea typeface="Aptos"/>
                <a:cs typeface="Aptos"/>
              </a:defRPr>
            </a:pPr>
            <a:r>
              <a:rPr sz="1350" b="0">
                <a:solidFill>
                  <a:srgbClr val="152536"/>
                </a:solidFill>
                <a:latin typeface="Aptos"/>
                <a:ea typeface="Aptos"/>
                <a:cs typeface="Aptos"/>
              </a:rPr>
              <a:t>Siapa pemilik, pemeriksa, dan pengguna setiap data?</a:t>
            </a:r>
          </a:p>
        </p:txBody>
      </p:sp>
      <p:sp>
        <p:nvSpPr>
          <p:cNvPr id="13" name="">
            <a:extLst xmlns:a="http://schemas.openxmlformats.org/drawingml/2006/main">
              <a:ext uri="{FF2B5EF4-FFF2-40B4-BE49-F238E27FC236}">
                <a16:creationId xmlns:a16="http://schemas.microsoft.com/office/drawing/2014/main" id="{5F34E6F2-A179-4EF2-BC77-5DE56F1A9E62}"/>
              </a:ext>
            </a:extLst>
          </p:cNvPr>
          <p:cNvSpPr>
            <a:spLocks xmlns:a="http://schemas.openxmlformats.org/drawingml/2006/main" noGrp="1"/>
          </p:cNvSpPr>
          <p:nvPr/>
        </p:nvSpPr>
        <p:spPr>
          <a:xfrm xmlns:a="http://schemas.openxmlformats.org/drawingml/2006/main">
            <a:off x="742950" y="3876675"/>
            <a:ext cx="342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5DA9E9"/>
                </a:solidFill>
                <a:latin typeface="Aptos"/>
                <a:ea typeface="Aptos"/>
                <a:cs typeface="Aptos"/>
              </a:defRPr>
            </a:pPr>
            <a:r>
              <a:rPr sz="1275" b="1">
                <a:solidFill>
                  <a:srgbClr val="5DA9E9"/>
                </a:solidFill>
                <a:latin typeface="Aptos"/>
                <a:ea typeface="Aptos"/>
                <a:cs typeface="Aptos"/>
              </a:rPr>
              <a:t>4</a:t>
            </a:r>
          </a:p>
        </p:txBody>
      </p:sp>
      <p:sp>
        <p:nvSpPr>
          <p:cNvPr id="14" name="">
            <a:extLst xmlns:a="http://schemas.openxmlformats.org/drawingml/2006/main">
              <a:ext uri="{FF2B5EF4-FFF2-40B4-BE49-F238E27FC236}">
                <a16:creationId xmlns:a16="http://schemas.microsoft.com/office/drawing/2014/main" id="{D45CE04B-1876-446B-AFC0-F4C9EEC6B21D}"/>
              </a:ext>
            </a:extLst>
          </p:cNvPr>
          <p:cNvSpPr>
            <a:spLocks xmlns:a="http://schemas.openxmlformats.org/drawingml/2006/main" noGrp="1"/>
          </p:cNvSpPr>
          <p:nvPr/>
        </p:nvSpPr>
        <p:spPr>
          <a:xfrm xmlns:a="http://schemas.openxmlformats.org/drawingml/2006/main">
            <a:off x="1200150" y="3838575"/>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152536"/>
                </a:solidFill>
                <a:latin typeface="Aptos"/>
                <a:ea typeface="Aptos"/>
                <a:cs typeface="Aptos"/>
              </a:defRPr>
            </a:pPr>
            <a:r>
              <a:rPr sz="1350" b="0">
                <a:solidFill>
                  <a:srgbClr val="152536"/>
                </a:solidFill>
                <a:latin typeface="Aptos"/>
                <a:ea typeface="Aptos"/>
                <a:cs typeface="Aptos"/>
              </a:rPr>
              <a:t>Bagaimana pembaruan serta koreksi berlangsung?</a:t>
            </a:r>
          </a:p>
        </p:txBody>
      </p:sp>
      <p:sp>
        <p:nvSpPr>
          <p:cNvPr id="15" name="">
            <a:extLst xmlns:a="http://schemas.openxmlformats.org/drawingml/2006/main">
              <a:ext uri="{FF2B5EF4-FFF2-40B4-BE49-F238E27FC236}">
                <a16:creationId xmlns:a16="http://schemas.microsoft.com/office/drawing/2014/main" id="{4510A245-5EC3-4622-860B-1CF8E782BD29}"/>
              </a:ext>
            </a:extLst>
          </p:cNvPr>
          <p:cNvSpPr>
            <a:spLocks xmlns:a="http://schemas.openxmlformats.org/drawingml/2006/main" noGrp="1"/>
          </p:cNvSpPr>
          <p:nvPr/>
        </p:nvSpPr>
        <p:spPr>
          <a:xfrm xmlns:a="http://schemas.openxmlformats.org/drawingml/2006/main">
            <a:off x="742950" y="4476750"/>
            <a:ext cx="342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5DA9E9"/>
                </a:solidFill>
                <a:latin typeface="Aptos"/>
                <a:ea typeface="Aptos"/>
                <a:cs typeface="Aptos"/>
              </a:defRPr>
            </a:pPr>
            <a:r>
              <a:rPr sz="1275" b="1">
                <a:solidFill>
                  <a:srgbClr val="5DA9E9"/>
                </a:solidFill>
                <a:latin typeface="Aptos"/>
                <a:ea typeface="Aptos"/>
                <a:cs typeface="Aptos"/>
              </a:rPr>
              <a:t>5</a:t>
            </a:r>
          </a:p>
        </p:txBody>
      </p:sp>
      <p:sp>
        <p:nvSpPr>
          <p:cNvPr id="16" name="">
            <a:extLst xmlns:a="http://schemas.openxmlformats.org/drawingml/2006/main">
              <a:ext uri="{FF2B5EF4-FFF2-40B4-BE49-F238E27FC236}">
                <a16:creationId xmlns:a16="http://schemas.microsoft.com/office/drawing/2014/main" id="{CA1CA9B6-414D-42DF-92E9-18B07F067749}"/>
              </a:ext>
            </a:extLst>
          </p:cNvPr>
          <p:cNvSpPr>
            <a:spLocks xmlns:a="http://schemas.openxmlformats.org/drawingml/2006/main" noGrp="1"/>
          </p:cNvSpPr>
          <p:nvPr/>
        </p:nvSpPr>
        <p:spPr>
          <a:xfrm xmlns:a="http://schemas.openxmlformats.org/drawingml/2006/main">
            <a:off x="1200150" y="4438650"/>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152536"/>
                </a:solidFill>
                <a:latin typeface="Aptos"/>
                <a:ea typeface="Aptos"/>
                <a:cs typeface="Aptos"/>
              </a:defRPr>
            </a:pPr>
            <a:r>
              <a:rPr sz="1350" b="0">
                <a:solidFill>
                  <a:srgbClr val="152536"/>
                </a:solidFill>
                <a:latin typeface="Aptos"/>
                <a:ea typeface="Aptos"/>
                <a:cs typeface="Aptos"/>
              </a:rPr>
              <a:t>Akses apa yang boleh tersedia untuk setiap peran?</a:t>
            </a:r>
          </a:p>
        </p:txBody>
      </p:sp>
      <p:sp>
        <p:nvSpPr>
          <p:cNvPr id="17" name="">
            <a:extLst xmlns:a="http://schemas.openxmlformats.org/drawingml/2006/main">
              <a:ext uri="{FF2B5EF4-FFF2-40B4-BE49-F238E27FC236}">
                <a16:creationId xmlns:a16="http://schemas.microsoft.com/office/drawing/2014/main" id="{9EA0F07A-124C-4948-B9DA-01CADF99686A}"/>
              </a:ext>
            </a:extLst>
          </p:cNvPr>
          <p:cNvSpPr>
            <a:spLocks xmlns:a="http://schemas.openxmlformats.org/drawingml/2006/main" noGrp="1"/>
          </p:cNvSpPr>
          <p:nvPr/>
        </p:nvSpPr>
        <p:spPr>
          <a:xfrm xmlns:a="http://schemas.openxmlformats.org/drawingml/2006/main">
            <a:off x="5905500" y="1581150"/>
            <a:ext cx="19050" cy="3733800"/>
          </a:xfrm>
          <a:prstGeom xmlns:a="http://schemas.openxmlformats.org/drawingml/2006/main" prst="rect">
            <a:avLst/>
          </a:prstGeom>
          <a:solidFill xmlns:a="http://schemas.openxmlformats.org/drawingml/2006/main">
            <a:srgbClr val="CBD8E2"/>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93F9F860-D444-4FB1-9EC1-03A62859ACB1}"/>
              </a:ext>
            </a:extLst>
          </p:cNvPr>
          <p:cNvSpPr>
            <a:spLocks xmlns:a="http://schemas.openxmlformats.org/drawingml/2006/main" noGrp="1"/>
          </p:cNvSpPr>
          <p:nvPr/>
        </p:nvSpPr>
        <p:spPr>
          <a:xfrm xmlns:a="http://schemas.openxmlformats.org/drawingml/2006/main">
            <a:off x="6496050" y="1619250"/>
            <a:ext cx="457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2C7A66"/>
                </a:solidFill>
                <a:latin typeface="Aptos"/>
                <a:ea typeface="Aptos"/>
                <a:cs typeface="Aptos"/>
              </a:defRPr>
            </a:pPr>
            <a:r>
              <a:rPr sz="1125" b="1">
                <a:solidFill>
                  <a:srgbClr val="2C7A66"/>
                </a:solidFill>
                <a:latin typeface="Aptos"/>
                <a:ea typeface="Aptos"/>
                <a:cs typeface="Aptos"/>
              </a:rPr>
              <a:t>HASIL YANG DICATAT</a:t>
            </a:r>
          </a:p>
        </p:txBody>
      </p:sp>
      <p:sp>
        <p:nvSpPr>
          <p:cNvPr id="19" name="">
            <a:extLst xmlns:a="http://schemas.openxmlformats.org/drawingml/2006/main">
              <a:ext uri="{FF2B5EF4-FFF2-40B4-BE49-F238E27FC236}">
                <a16:creationId xmlns:a16="http://schemas.microsoft.com/office/drawing/2014/main" id="{6C530EFA-8EED-411C-9493-E7AA2E178453}"/>
              </a:ext>
            </a:extLst>
          </p:cNvPr>
          <p:cNvSpPr>
            <a:spLocks xmlns:a="http://schemas.openxmlformats.org/drawingml/2006/main" noGrp="1"/>
          </p:cNvSpPr>
          <p:nvPr/>
        </p:nvSpPr>
        <p:spPr>
          <a:xfrm xmlns:a="http://schemas.openxmlformats.org/drawingml/2006/main">
            <a:off x="6515100" y="2076450"/>
            <a:ext cx="342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2C7A66"/>
                </a:solidFill>
                <a:latin typeface="Aptos"/>
                <a:ea typeface="Aptos"/>
                <a:cs typeface="Aptos"/>
              </a:defRPr>
            </a:pPr>
            <a:r>
              <a:rPr sz="1350" b="1">
                <a:solidFill>
                  <a:srgbClr val="2C7A66"/>
                </a:solidFill>
                <a:latin typeface="Aptos"/>
                <a:ea typeface="Aptos"/>
                <a:cs typeface="Aptos"/>
              </a:rPr>
              <a:t>✓</a:t>
            </a:r>
          </a:p>
        </p:txBody>
      </p:sp>
      <p:sp>
        <p:nvSpPr>
          <p:cNvPr id="20" name="">
            <a:extLst xmlns:a="http://schemas.openxmlformats.org/drawingml/2006/main">
              <a:ext uri="{FF2B5EF4-FFF2-40B4-BE49-F238E27FC236}">
                <a16:creationId xmlns:a16="http://schemas.microsoft.com/office/drawing/2014/main" id="{51655D9E-BA36-4851-A90A-13C765A8108E}"/>
              </a:ext>
            </a:extLst>
          </p:cNvPr>
          <p:cNvSpPr>
            <a:spLocks xmlns:a="http://schemas.openxmlformats.org/drawingml/2006/main" noGrp="1"/>
          </p:cNvSpPr>
          <p:nvPr/>
        </p:nvSpPr>
        <p:spPr>
          <a:xfrm xmlns:a="http://schemas.openxmlformats.org/drawingml/2006/main">
            <a:off x="6991350" y="2038350"/>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152536"/>
                </a:solidFill>
                <a:latin typeface="Aptos"/>
                <a:ea typeface="Aptos"/>
                <a:cs typeface="Aptos"/>
              </a:defRPr>
            </a:pPr>
            <a:r>
              <a:rPr sz="1350" b="0">
                <a:solidFill>
                  <a:srgbClr val="152536"/>
                </a:solidFill>
                <a:latin typeface="Aptos"/>
                <a:ea typeface="Aptos"/>
                <a:cs typeface="Aptos"/>
              </a:rPr>
              <a:t>Daftar indikator tahap awal</a:t>
            </a:r>
          </a:p>
        </p:txBody>
      </p:sp>
      <p:sp>
        <p:nvSpPr>
          <p:cNvPr id="21" name="">
            <a:extLst xmlns:a="http://schemas.openxmlformats.org/drawingml/2006/main">
              <a:ext uri="{FF2B5EF4-FFF2-40B4-BE49-F238E27FC236}">
                <a16:creationId xmlns:a16="http://schemas.microsoft.com/office/drawing/2014/main" id="{05872C7F-69A9-4AAC-819F-438D7F651A96}"/>
              </a:ext>
            </a:extLst>
          </p:cNvPr>
          <p:cNvSpPr>
            <a:spLocks xmlns:a="http://schemas.openxmlformats.org/drawingml/2006/main" noGrp="1"/>
          </p:cNvSpPr>
          <p:nvPr/>
        </p:nvSpPr>
        <p:spPr>
          <a:xfrm xmlns:a="http://schemas.openxmlformats.org/drawingml/2006/main">
            <a:off x="6515100" y="2676525"/>
            <a:ext cx="342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2C7A66"/>
                </a:solidFill>
                <a:latin typeface="Aptos"/>
                <a:ea typeface="Aptos"/>
                <a:cs typeface="Aptos"/>
              </a:defRPr>
            </a:pPr>
            <a:r>
              <a:rPr sz="1350" b="1">
                <a:solidFill>
                  <a:srgbClr val="2C7A66"/>
                </a:solidFill>
                <a:latin typeface="Aptos"/>
                <a:ea typeface="Aptos"/>
                <a:cs typeface="Aptos"/>
              </a:rPr>
              <a:t>✓</a:t>
            </a:r>
          </a:p>
        </p:txBody>
      </p:sp>
      <p:sp>
        <p:nvSpPr>
          <p:cNvPr id="22" name="">
            <a:extLst xmlns:a="http://schemas.openxmlformats.org/drawingml/2006/main">
              <a:ext uri="{FF2B5EF4-FFF2-40B4-BE49-F238E27FC236}">
                <a16:creationId xmlns:a16="http://schemas.microsoft.com/office/drawing/2014/main" id="{5A629DA9-AA86-491B-9B4C-3C92A8C396EC}"/>
              </a:ext>
            </a:extLst>
          </p:cNvPr>
          <p:cNvSpPr>
            <a:spLocks xmlns:a="http://schemas.openxmlformats.org/drawingml/2006/main" noGrp="1"/>
          </p:cNvSpPr>
          <p:nvPr/>
        </p:nvSpPr>
        <p:spPr>
          <a:xfrm xmlns:a="http://schemas.openxmlformats.org/drawingml/2006/main">
            <a:off x="6991350" y="2638425"/>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152536"/>
                </a:solidFill>
                <a:latin typeface="Aptos"/>
                <a:ea typeface="Aptos"/>
                <a:cs typeface="Aptos"/>
              </a:defRPr>
            </a:pPr>
            <a:r>
              <a:rPr sz="1350" b="0">
                <a:solidFill>
                  <a:srgbClr val="152536"/>
                </a:solidFill>
                <a:latin typeface="Aptos"/>
                <a:ea typeface="Aptos"/>
                <a:cs typeface="Aptos"/>
              </a:rPr>
              <a:t>Matriks pemilik dan alur validasi data</a:t>
            </a:r>
          </a:p>
        </p:txBody>
      </p:sp>
      <p:sp>
        <p:nvSpPr>
          <p:cNvPr id="23" name="">
            <a:extLst xmlns:a="http://schemas.openxmlformats.org/drawingml/2006/main">
              <a:ext uri="{FF2B5EF4-FFF2-40B4-BE49-F238E27FC236}">
                <a16:creationId xmlns:a16="http://schemas.microsoft.com/office/drawing/2014/main" id="{C1AA69E3-2EA1-4603-8928-B7A41E396CB0}"/>
              </a:ext>
            </a:extLst>
          </p:cNvPr>
          <p:cNvSpPr>
            <a:spLocks xmlns:a="http://schemas.openxmlformats.org/drawingml/2006/main" noGrp="1"/>
          </p:cNvSpPr>
          <p:nvPr/>
        </p:nvSpPr>
        <p:spPr>
          <a:xfrm xmlns:a="http://schemas.openxmlformats.org/drawingml/2006/main">
            <a:off x="6515100" y="3276600"/>
            <a:ext cx="342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2C7A66"/>
                </a:solidFill>
                <a:latin typeface="Aptos"/>
                <a:ea typeface="Aptos"/>
                <a:cs typeface="Aptos"/>
              </a:defRPr>
            </a:pPr>
            <a:r>
              <a:rPr sz="1350" b="1">
                <a:solidFill>
                  <a:srgbClr val="2C7A66"/>
                </a:solidFill>
                <a:latin typeface="Aptos"/>
                <a:ea typeface="Aptos"/>
                <a:cs typeface="Aptos"/>
              </a:rPr>
              <a:t>✓</a:t>
            </a:r>
          </a:p>
        </p:txBody>
      </p:sp>
      <p:sp>
        <p:nvSpPr>
          <p:cNvPr id="24" name="">
            <a:extLst xmlns:a="http://schemas.openxmlformats.org/drawingml/2006/main">
              <a:ext uri="{FF2B5EF4-FFF2-40B4-BE49-F238E27FC236}">
                <a16:creationId xmlns:a16="http://schemas.microsoft.com/office/drawing/2014/main" id="{B5950283-5A26-4190-B8AE-2EC9463E9921}"/>
              </a:ext>
            </a:extLst>
          </p:cNvPr>
          <p:cNvSpPr>
            <a:spLocks xmlns:a="http://schemas.openxmlformats.org/drawingml/2006/main" noGrp="1"/>
          </p:cNvSpPr>
          <p:nvPr/>
        </p:nvSpPr>
        <p:spPr>
          <a:xfrm xmlns:a="http://schemas.openxmlformats.org/drawingml/2006/main">
            <a:off x="6991350" y="3238500"/>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152536"/>
                </a:solidFill>
                <a:latin typeface="Aptos"/>
                <a:ea typeface="Aptos"/>
                <a:cs typeface="Aptos"/>
              </a:defRPr>
            </a:pPr>
            <a:r>
              <a:rPr sz="1350" b="0">
                <a:solidFill>
                  <a:srgbClr val="152536"/>
                </a:solidFill>
                <a:latin typeface="Aptos"/>
                <a:ea typeface="Aptos"/>
                <a:cs typeface="Aptos"/>
              </a:rPr>
              <a:t>Kebutuhan akses serta integrasi</a:t>
            </a:r>
          </a:p>
        </p:txBody>
      </p:sp>
      <p:sp>
        <p:nvSpPr>
          <p:cNvPr id="25" name="">
            <a:extLst xmlns:a="http://schemas.openxmlformats.org/drawingml/2006/main">
              <a:ext uri="{FF2B5EF4-FFF2-40B4-BE49-F238E27FC236}">
                <a16:creationId xmlns:a16="http://schemas.microsoft.com/office/drawing/2014/main" id="{FB986306-652F-4AF7-AF97-262D23CFF7D7}"/>
              </a:ext>
            </a:extLst>
          </p:cNvPr>
          <p:cNvSpPr>
            <a:spLocks xmlns:a="http://schemas.openxmlformats.org/drawingml/2006/main" noGrp="1"/>
          </p:cNvSpPr>
          <p:nvPr/>
        </p:nvSpPr>
        <p:spPr>
          <a:xfrm xmlns:a="http://schemas.openxmlformats.org/drawingml/2006/main">
            <a:off x="6515100" y="3876675"/>
            <a:ext cx="342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2C7A66"/>
                </a:solidFill>
                <a:latin typeface="Aptos"/>
                <a:ea typeface="Aptos"/>
                <a:cs typeface="Aptos"/>
              </a:defRPr>
            </a:pPr>
            <a:r>
              <a:rPr sz="1350" b="1">
                <a:solidFill>
                  <a:srgbClr val="2C7A66"/>
                </a:solidFill>
                <a:latin typeface="Aptos"/>
                <a:ea typeface="Aptos"/>
                <a:cs typeface="Aptos"/>
              </a:rPr>
              <a:t>✓</a:t>
            </a:r>
          </a:p>
        </p:txBody>
      </p:sp>
      <p:sp>
        <p:nvSpPr>
          <p:cNvPr id="26" name="">
            <a:extLst xmlns:a="http://schemas.openxmlformats.org/drawingml/2006/main">
              <a:ext uri="{FF2B5EF4-FFF2-40B4-BE49-F238E27FC236}">
                <a16:creationId xmlns:a16="http://schemas.microsoft.com/office/drawing/2014/main" id="{248C8AEA-F9ED-49D1-9C1F-644BCFEA9D52}"/>
              </a:ext>
            </a:extLst>
          </p:cNvPr>
          <p:cNvSpPr>
            <a:spLocks xmlns:a="http://schemas.openxmlformats.org/drawingml/2006/main" noGrp="1"/>
          </p:cNvSpPr>
          <p:nvPr/>
        </p:nvSpPr>
        <p:spPr>
          <a:xfrm xmlns:a="http://schemas.openxmlformats.org/drawingml/2006/main">
            <a:off x="6991350" y="3838575"/>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152536"/>
                </a:solidFill>
                <a:latin typeface="Aptos"/>
                <a:ea typeface="Aptos"/>
                <a:cs typeface="Aptos"/>
              </a:defRPr>
            </a:pPr>
            <a:r>
              <a:rPr sz="1350" b="0">
                <a:solidFill>
                  <a:srgbClr val="152536"/>
                </a:solidFill>
                <a:latin typeface="Aptos"/>
                <a:ea typeface="Aptos"/>
                <a:cs typeface="Aptos"/>
              </a:rPr>
              <a:t>Rencana pilot 90 hari</a:t>
            </a:r>
          </a:p>
        </p:txBody>
      </p:sp>
      <p:sp>
        <p:nvSpPr>
          <p:cNvPr id="27" name="">
            <a:extLst xmlns:a="http://schemas.openxmlformats.org/drawingml/2006/main">
              <a:ext uri="{FF2B5EF4-FFF2-40B4-BE49-F238E27FC236}">
                <a16:creationId xmlns:a16="http://schemas.microsoft.com/office/drawing/2014/main" id="{4CA8EE46-4A8B-4BF7-9D60-8AC701D2DD18}"/>
              </a:ext>
            </a:extLst>
          </p:cNvPr>
          <p:cNvSpPr>
            <a:spLocks xmlns:a="http://schemas.openxmlformats.org/drawingml/2006/main" noGrp="1"/>
          </p:cNvSpPr>
          <p:nvPr/>
        </p:nvSpPr>
        <p:spPr>
          <a:xfrm xmlns:a="http://schemas.openxmlformats.org/drawingml/2006/main">
            <a:off x="6515100" y="4476750"/>
            <a:ext cx="342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2C7A66"/>
                </a:solidFill>
                <a:latin typeface="Aptos"/>
                <a:ea typeface="Aptos"/>
                <a:cs typeface="Aptos"/>
              </a:defRPr>
            </a:pPr>
            <a:r>
              <a:rPr sz="1350" b="1">
                <a:solidFill>
                  <a:srgbClr val="2C7A66"/>
                </a:solidFill>
                <a:latin typeface="Aptos"/>
                <a:ea typeface="Aptos"/>
                <a:cs typeface="Aptos"/>
              </a:rPr>
              <a:t>✓</a:t>
            </a:r>
          </a:p>
        </p:txBody>
      </p:sp>
      <p:sp>
        <p:nvSpPr>
          <p:cNvPr id="28" name="">
            <a:extLst xmlns:a="http://schemas.openxmlformats.org/drawingml/2006/main">
              <a:ext uri="{FF2B5EF4-FFF2-40B4-BE49-F238E27FC236}">
                <a16:creationId xmlns:a16="http://schemas.microsoft.com/office/drawing/2014/main" id="{1ACC005E-8D3E-4BA0-9B78-15D28D628F2D}"/>
              </a:ext>
            </a:extLst>
          </p:cNvPr>
          <p:cNvSpPr>
            <a:spLocks xmlns:a="http://schemas.openxmlformats.org/drawingml/2006/main" noGrp="1"/>
          </p:cNvSpPr>
          <p:nvPr/>
        </p:nvSpPr>
        <p:spPr>
          <a:xfrm xmlns:a="http://schemas.openxmlformats.org/drawingml/2006/main">
            <a:off x="6991350" y="4438650"/>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152536"/>
                </a:solidFill>
                <a:latin typeface="Aptos"/>
                <a:ea typeface="Aptos"/>
                <a:cs typeface="Aptos"/>
              </a:defRPr>
            </a:pPr>
            <a:r>
              <a:rPr sz="1350" b="0">
                <a:solidFill>
                  <a:srgbClr val="152536"/>
                </a:solidFill>
                <a:latin typeface="Aptos"/>
                <a:ea typeface="Aptos"/>
                <a:cs typeface="Aptos"/>
              </a:rPr>
              <a:t>Berita acara keputusan dan tindak lanjut</a:t>
            </a:r>
          </a:p>
        </p:txBody>
      </p:sp>
      <p:sp>
        <p:nvSpPr>
          <p:cNvPr id="29" name="">
            <a:extLst xmlns:a="http://schemas.openxmlformats.org/drawingml/2006/main">
              <a:ext uri="{FF2B5EF4-FFF2-40B4-BE49-F238E27FC236}">
                <a16:creationId xmlns:a16="http://schemas.microsoft.com/office/drawing/2014/main" id="{DFEA3D53-B77E-40C3-B9F6-A40F4A78AD59}"/>
              </a:ext>
            </a:extLst>
          </p:cNvPr>
          <p:cNvSpPr>
            <a:spLocks xmlns:a="http://schemas.openxmlformats.org/drawingml/2006/main" noGrp="1"/>
          </p:cNvSpPr>
          <p:nvPr/>
        </p:nvSpPr>
        <p:spPr>
          <a:xfrm xmlns:a="http://schemas.openxmlformats.org/drawingml/2006/main">
            <a:off x="723900" y="5676900"/>
            <a:ext cx="10363200" cy="609600"/>
          </a:xfrm>
          <a:prstGeom xmlns:a="http://schemas.openxmlformats.org/drawingml/2006/main" prst="roundRect">
            <a:avLst>
              <a:gd name="adj" fmla="val 12500"/>
            </a:avLst>
          </a:prstGeom>
          <a:solidFill xmlns:a="http://schemas.openxmlformats.org/drawingml/2006/main">
            <a:srgbClr val="0B2545"/>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BFB4CB93-5906-4C1E-AD30-B8631A08CAA6}"/>
              </a:ext>
            </a:extLst>
          </p:cNvPr>
          <p:cNvSpPr>
            <a:spLocks xmlns:a="http://schemas.openxmlformats.org/drawingml/2006/main" noGrp="1"/>
          </p:cNvSpPr>
          <p:nvPr/>
        </p:nvSpPr>
        <p:spPr>
          <a:xfrm xmlns:a="http://schemas.openxmlformats.org/drawingml/2006/main">
            <a:off x="933450" y="5734050"/>
            <a:ext cx="99441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FFFFFF"/>
                </a:solidFill>
                <a:latin typeface="Aptos"/>
                <a:ea typeface="Aptos"/>
                <a:cs typeface="Aptos"/>
              </a:defRPr>
            </a:pPr>
            <a:r>
              <a:rPr sz="1350" b="1">
                <a:solidFill>
                  <a:srgbClr val="FFFFFF"/>
                </a:solidFill>
                <a:latin typeface="Aptos"/>
                <a:ea typeface="Aptos"/>
                <a:cs typeface="Aptos"/>
              </a:rPr>
              <a:t>Usulan awal: 10–15 indikator dan contoh data dua atau tiga periode diterima 3–5 hari kerja sebelum FGD.</a:t>
            </a:r>
          </a:p>
        </p:txBody>
      </p:sp>
    </p:spTree>
    <p:extLst>
      <p:ext uri="{BB962C8B-B14F-4D97-AF65-F5344CB8AC3E}">
        <p14:creationId xmlns:p14="http://schemas.microsoft.com/office/powerpoint/2010/main" val="176379212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3977C650-6790-40E5-9827-0FB8D4A0A1CF}"/>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5DA9E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E82884E-F4DD-4041-8048-D6319C389313}"/>
              </a:ext>
            </a:extLst>
          </p:cNvPr>
          <p:cNvSpPr>
            <a:spLocks xmlns:a="http://schemas.openxmlformats.org/drawingml/2006/main" noGrp="1"/>
          </p:cNvSpPr>
          <p:nvPr/>
        </p:nvSpPr>
        <p:spPr>
          <a:xfrm xmlns:a="http://schemas.openxmlformats.org/drawingml/2006/main">
            <a:off x="590550" y="361950"/>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400" b="1">
                <a:solidFill>
                  <a:srgbClr val="0B2545"/>
                </a:solidFill>
                <a:latin typeface="Aptos"/>
                <a:ea typeface="Aptos"/>
                <a:cs typeface="Aptos"/>
              </a:defRPr>
            </a:pPr>
            <a:r>
              <a:rPr sz="2400" b="1">
                <a:solidFill>
                  <a:srgbClr val="0B2545"/>
                </a:solidFill>
                <a:latin typeface="Aptos"/>
                <a:ea typeface="Aptos"/>
                <a:cs typeface="Aptos"/>
              </a:rPr>
              <a:t>Kesepakatan yang perlu dicatat hari ini</a:t>
            </a:r>
          </a:p>
        </p:txBody>
      </p:sp>
      <p:sp>
        <p:nvSpPr>
          <p:cNvPr id="3" name="">
            <a:extLst xmlns:a="http://schemas.openxmlformats.org/drawingml/2006/main">
              <a:ext uri="{FF2B5EF4-FFF2-40B4-BE49-F238E27FC236}">
                <a16:creationId xmlns:a16="http://schemas.microsoft.com/office/drawing/2014/main" id="{BB856736-02FE-4552-ACD9-C9FFAB62B58A}"/>
              </a:ext>
            </a:extLst>
          </p:cNvPr>
          <p:cNvSpPr>
            <a:spLocks xmlns:a="http://schemas.openxmlformats.org/drawingml/2006/main" noGrp="1"/>
          </p:cNvSpPr>
          <p:nvPr/>
        </p:nvSpPr>
        <p:spPr>
          <a:xfrm xmlns:a="http://schemas.openxmlformats.org/drawingml/2006/main">
            <a:off x="609600" y="857250"/>
            <a:ext cx="1028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506274"/>
                </a:solidFill>
                <a:latin typeface="Aptos"/>
                <a:ea typeface="Aptos"/>
                <a:cs typeface="Aptos"/>
              </a:defRPr>
            </a:pPr>
            <a:r>
              <a:rPr sz="1275" b="0">
                <a:solidFill>
                  <a:srgbClr val="506274"/>
                </a:solidFill>
                <a:latin typeface="Aptos"/>
                <a:ea typeface="Aptos"/>
                <a:cs typeface="Aptos"/>
              </a:rPr>
              <a:t>Tutup pertemuan dengan membaca ulang keputusan dan penanggung jawab</a:t>
            </a:r>
          </a:p>
        </p:txBody>
      </p:sp>
      <p:sp>
        <p:nvSpPr>
          <p:cNvPr id="4" name="">
            <a:extLst xmlns:a="http://schemas.openxmlformats.org/drawingml/2006/main">
              <a:ext uri="{FF2B5EF4-FFF2-40B4-BE49-F238E27FC236}">
                <a16:creationId xmlns:a16="http://schemas.microsoft.com/office/drawing/2014/main" id="{39318892-6F8F-45F3-B380-575EB064BECF}"/>
              </a:ext>
            </a:extLst>
          </p:cNvPr>
          <p:cNvSpPr>
            <a:spLocks xmlns:a="http://schemas.openxmlformats.org/drawingml/2006/main" noGrp="1"/>
          </p:cNvSpPr>
          <p:nvPr/>
        </p:nvSpPr>
        <p:spPr>
          <a:xfrm xmlns:a="http://schemas.openxmlformats.org/drawingml/2006/main">
            <a:off x="590550" y="1219200"/>
            <a:ext cx="10953750" cy="19050"/>
          </a:xfrm>
          <a:prstGeom xmlns:a="http://schemas.openxmlformats.org/drawingml/2006/main" prst="rect">
            <a:avLst/>
          </a:prstGeom>
          <a:solidFill xmlns:a="http://schemas.openxmlformats.org/drawingml/2006/main">
            <a:srgbClr val="CBD8E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9996DFB-51F9-497A-825E-66404B300583}"/>
              </a:ext>
            </a:extLst>
          </p:cNvPr>
          <p:cNvSpPr>
            <a:spLocks xmlns:a="http://schemas.openxmlformats.org/drawingml/2006/main" noGrp="1"/>
          </p:cNvSpPr>
          <p:nvPr/>
        </p:nvSpPr>
        <p:spPr>
          <a:xfrm xmlns:a="http://schemas.openxmlformats.org/drawingml/2006/main">
            <a:off x="11096625" y="400050"/>
            <a:ext cx="438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506274"/>
                </a:solidFill>
                <a:latin typeface="Aptos"/>
                <a:ea typeface="Aptos"/>
                <a:cs typeface="Aptos"/>
              </a:defRPr>
            </a:pPr>
            <a:r>
              <a:rPr sz="1125" b="1">
                <a:solidFill>
                  <a:srgbClr val="506274"/>
                </a:solidFill>
                <a:latin typeface="Aptos"/>
                <a:ea typeface="Aptos"/>
                <a:cs typeface="Aptos"/>
              </a:rPr>
              <a:t>10</a:t>
            </a:r>
          </a:p>
        </p:txBody>
      </p:sp>
      <p:sp>
        <p:nvSpPr>
          <p:cNvPr id="6" name="">
            <a:extLst xmlns:a="http://schemas.openxmlformats.org/drawingml/2006/main">
              <a:ext uri="{FF2B5EF4-FFF2-40B4-BE49-F238E27FC236}">
                <a16:creationId xmlns:a16="http://schemas.microsoft.com/office/drawing/2014/main" id="{73019DA7-5896-4A00-9FD1-3DBD459A497A}"/>
              </a:ext>
            </a:extLst>
          </p:cNvPr>
          <p:cNvSpPr>
            <a:spLocks xmlns:a="http://schemas.openxmlformats.org/drawingml/2006/main" noGrp="1"/>
          </p:cNvSpPr>
          <p:nvPr/>
        </p:nvSpPr>
        <p:spPr>
          <a:xfrm xmlns:a="http://schemas.openxmlformats.org/drawingml/2006/main">
            <a:off x="723900" y="1581150"/>
            <a:ext cx="342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1">
                <a:solidFill>
                  <a:srgbClr val="0B2545"/>
                </a:solidFill>
                <a:latin typeface="Aptos"/>
                <a:ea typeface="Aptos"/>
                <a:cs typeface="Aptos"/>
              </a:defRPr>
            </a:pPr>
            <a:r>
              <a:rPr sz="1425" b="1">
                <a:solidFill>
                  <a:srgbClr val="0B2545"/>
                </a:solidFill>
                <a:latin typeface="Aptos"/>
                <a:ea typeface="Aptos"/>
                <a:cs typeface="Aptos"/>
              </a:rPr>
              <a:t>Tujuan utama FGD</a:t>
            </a:r>
          </a:p>
        </p:txBody>
      </p:sp>
      <p:sp>
        <p:nvSpPr>
          <p:cNvPr id="7" name="">
            <a:extLst xmlns:a="http://schemas.openxmlformats.org/drawingml/2006/main">
              <a:ext uri="{FF2B5EF4-FFF2-40B4-BE49-F238E27FC236}">
                <a16:creationId xmlns:a16="http://schemas.microsoft.com/office/drawing/2014/main" id="{725C2D28-51B7-493B-8853-7E5CC97F9463}"/>
              </a:ext>
            </a:extLst>
          </p:cNvPr>
          <p:cNvSpPr>
            <a:spLocks xmlns:a="http://schemas.openxmlformats.org/drawingml/2006/main" noGrp="1"/>
          </p:cNvSpPr>
          <p:nvPr/>
        </p:nvSpPr>
        <p:spPr>
          <a:xfrm xmlns:a="http://schemas.openxmlformats.org/drawingml/2006/main">
            <a:off x="4286250" y="1581150"/>
            <a:ext cx="676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506274"/>
                </a:solidFill>
                <a:latin typeface="Aptos"/>
                <a:ea typeface="Aptos"/>
                <a:cs typeface="Aptos"/>
              </a:defRPr>
            </a:pPr>
            <a:r>
              <a:rPr sz="1350" b="0">
                <a:solidFill>
                  <a:srgbClr val="506274"/>
                </a:solidFill>
                <a:latin typeface="Aptos"/>
                <a:ea typeface="Aptos"/>
                <a:cs typeface="Aptos"/>
              </a:rPr>
              <a:t>____________________________________________</a:t>
            </a:r>
          </a:p>
        </p:txBody>
      </p:sp>
      <p:sp>
        <p:nvSpPr>
          <p:cNvPr id="8" name="">
            <a:extLst xmlns:a="http://schemas.openxmlformats.org/drawingml/2006/main">
              <a:ext uri="{FF2B5EF4-FFF2-40B4-BE49-F238E27FC236}">
                <a16:creationId xmlns:a16="http://schemas.microsoft.com/office/drawing/2014/main" id="{ABB3E498-862B-44D5-8E58-091CA670E1F3}"/>
              </a:ext>
            </a:extLst>
          </p:cNvPr>
          <p:cNvSpPr>
            <a:spLocks xmlns:a="http://schemas.openxmlformats.org/drawingml/2006/main" noGrp="1"/>
          </p:cNvSpPr>
          <p:nvPr/>
        </p:nvSpPr>
        <p:spPr>
          <a:xfrm xmlns:a="http://schemas.openxmlformats.org/drawingml/2006/main">
            <a:off x="723900" y="2085975"/>
            <a:ext cx="10363200" cy="9525"/>
          </a:xfrm>
          <a:prstGeom xmlns:a="http://schemas.openxmlformats.org/drawingml/2006/main" prst="rect">
            <a:avLst/>
          </a:prstGeom>
          <a:solidFill xmlns:a="http://schemas.openxmlformats.org/drawingml/2006/main">
            <a:srgbClr val="CBD8E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901048C-46FE-4CA8-A8B1-0E1EC9AD8B79}"/>
              </a:ext>
            </a:extLst>
          </p:cNvPr>
          <p:cNvSpPr>
            <a:spLocks xmlns:a="http://schemas.openxmlformats.org/drawingml/2006/main" noGrp="1"/>
          </p:cNvSpPr>
          <p:nvPr/>
        </p:nvSpPr>
        <p:spPr>
          <a:xfrm xmlns:a="http://schemas.openxmlformats.org/drawingml/2006/main">
            <a:off x="723900" y="2276475"/>
            <a:ext cx="342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1">
                <a:solidFill>
                  <a:srgbClr val="0B2545"/>
                </a:solidFill>
                <a:latin typeface="Aptos"/>
                <a:ea typeface="Aptos"/>
                <a:cs typeface="Aptos"/>
              </a:defRPr>
            </a:pPr>
            <a:r>
              <a:rPr sz="1425" b="1">
                <a:solidFill>
                  <a:srgbClr val="0B2545"/>
                </a:solidFill>
                <a:latin typeface="Aptos"/>
                <a:ea typeface="Aptos"/>
                <a:cs typeface="Aptos"/>
              </a:rPr>
              <a:t>Tanggal dan lokasi</a:t>
            </a:r>
          </a:p>
        </p:txBody>
      </p:sp>
      <p:sp>
        <p:nvSpPr>
          <p:cNvPr id="10" name="">
            <a:extLst xmlns:a="http://schemas.openxmlformats.org/drawingml/2006/main">
              <a:ext uri="{FF2B5EF4-FFF2-40B4-BE49-F238E27FC236}">
                <a16:creationId xmlns:a16="http://schemas.microsoft.com/office/drawing/2014/main" id="{B775D2E6-D24C-4C3B-9F79-76A34A3FEB1D}"/>
              </a:ext>
            </a:extLst>
          </p:cNvPr>
          <p:cNvSpPr>
            <a:spLocks xmlns:a="http://schemas.openxmlformats.org/drawingml/2006/main" noGrp="1"/>
          </p:cNvSpPr>
          <p:nvPr/>
        </p:nvSpPr>
        <p:spPr>
          <a:xfrm xmlns:a="http://schemas.openxmlformats.org/drawingml/2006/main">
            <a:off x="4286250" y="2276475"/>
            <a:ext cx="676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506274"/>
                </a:solidFill>
                <a:latin typeface="Aptos"/>
                <a:ea typeface="Aptos"/>
                <a:cs typeface="Aptos"/>
              </a:defRPr>
            </a:pPr>
            <a:r>
              <a:rPr sz="1350" b="0">
                <a:solidFill>
                  <a:srgbClr val="506274"/>
                </a:solidFill>
                <a:latin typeface="Aptos"/>
                <a:ea typeface="Aptos"/>
                <a:cs typeface="Aptos"/>
              </a:rPr>
              <a:t>____________________________________________</a:t>
            </a:r>
          </a:p>
        </p:txBody>
      </p:sp>
      <p:sp>
        <p:nvSpPr>
          <p:cNvPr id="11" name="">
            <a:extLst xmlns:a="http://schemas.openxmlformats.org/drawingml/2006/main">
              <a:ext uri="{FF2B5EF4-FFF2-40B4-BE49-F238E27FC236}">
                <a16:creationId xmlns:a16="http://schemas.microsoft.com/office/drawing/2014/main" id="{B5AB2B63-B789-4A98-8002-A80388A7B98F}"/>
              </a:ext>
            </a:extLst>
          </p:cNvPr>
          <p:cNvSpPr>
            <a:spLocks xmlns:a="http://schemas.openxmlformats.org/drawingml/2006/main" noGrp="1"/>
          </p:cNvSpPr>
          <p:nvPr/>
        </p:nvSpPr>
        <p:spPr>
          <a:xfrm xmlns:a="http://schemas.openxmlformats.org/drawingml/2006/main">
            <a:off x="723900" y="2781300"/>
            <a:ext cx="10363200" cy="9525"/>
          </a:xfrm>
          <a:prstGeom xmlns:a="http://schemas.openxmlformats.org/drawingml/2006/main" prst="rect">
            <a:avLst/>
          </a:prstGeom>
          <a:solidFill xmlns:a="http://schemas.openxmlformats.org/drawingml/2006/main">
            <a:srgbClr val="CBD8E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DCAF8C7-A91F-4025-9D41-331C1FB557E9}"/>
              </a:ext>
            </a:extLst>
          </p:cNvPr>
          <p:cNvSpPr>
            <a:spLocks xmlns:a="http://schemas.openxmlformats.org/drawingml/2006/main" noGrp="1"/>
          </p:cNvSpPr>
          <p:nvPr/>
        </p:nvSpPr>
        <p:spPr>
          <a:xfrm xmlns:a="http://schemas.openxmlformats.org/drawingml/2006/main">
            <a:off x="723900" y="2971800"/>
            <a:ext cx="342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1">
                <a:solidFill>
                  <a:srgbClr val="0B2545"/>
                </a:solidFill>
                <a:latin typeface="Aptos"/>
                <a:ea typeface="Aptos"/>
                <a:cs typeface="Aptos"/>
              </a:defRPr>
            </a:pPr>
            <a:r>
              <a:rPr sz="1425" b="1">
                <a:solidFill>
                  <a:srgbClr val="0B2545"/>
                </a:solidFill>
                <a:latin typeface="Aptos"/>
                <a:ea typeface="Aptos"/>
                <a:cs typeface="Aptos"/>
              </a:rPr>
              <a:t>PIC BAPPERIDA dan tim</a:t>
            </a:r>
          </a:p>
        </p:txBody>
      </p:sp>
      <p:sp>
        <p:nvSpPr>
          <p:cNvPr id="13" name="">
            <a:extLst xmlns:a="http://schemas.openxmlformats.org/drawingml/2006/main">
              <a:ext uri="{FF2B5EF4-FFF2-40B4-BE49-F238E27FC236}">
                <a16:creationId xmlns:a16="http://schemas.microsoft.com/office/drawing/2014/main" id="{08498ED2-E1EA-4D44-ABC5-5EC924EE9FEF}"/>
              </a:ext>
            </a:extLst>
          </p:cNvPr>
          <p:cNvSpPr>
            <a:spLocks xmlns:a="http://schemas.openxmlformats.org/drawingml/2006/main" noGrp="1"/>
          </p:cNvSpPr>
          <p:nvPr/>
        </p:nvSpPr>
        <p:spPr>
          <a:xfrm xmlns:a="http://schemas.openxmlformats.org/drawingml/2006/main">
            <a:off x="4286250" y="2971800"/>
            <a:ext cx="676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506274"/>
                </a:solidFill>
                <a:latin typeface="Aptos"/>
                <a:ea typeface="Aptos"/>
                <a:cs typeface="Aptos"/>
              </a:defRPr>
            </a:pPr>
            <a:r>
              <a:rPr sz="1350" b="0">
                <a:solidFill>
                  <a:srgbClr val="506274"/>
                </a:solidFill>
                <a:latin typeface="Aptos"/>
                <a:ea typeface="Aptos"/>
                <a:cs typeface="Aptos"/>
              </a:rPr>
              <a:t>____________________________________________</a:t>
            </a:r>
          </a:p>
        </p:txBody>
      </p:sp>
      <p:sp>
        <p:nvSpPr>
          <p:cNvPr id="14" name="">
            <a:extLst xmlns:a="http://schemas.openxmlformats.org/drawingml/2006/main">
              <a:ext uri="{FF2B5EF4-FFF2-40B4-BE49-F238E27FC236}">
                <a16:creationId xmlns:a16="http://schemas.microsoft.com/office/drawing/2014/main" id="{CDBA08D1-FBB5-4A7D-B194-4A7426302847}"/>
              </a:ext>
            </a:extLst>
          </p:cNvPr>
          <p:cNvSpPr>
            <a:spLocks xmlns:a="http://schemas.openxmlformats.org/drawingml/2006/main" noGrp="1"/>
          </p:cNvSpPr>
          <p:nvPr/>
        </p:nvSpPr>
        <p:spPr>
          <a:xfrm xmlns:a="http://schemas.openxmlformats.org/drawingml/2006/main">
            <a:off x="723900" y="3476625"/>
            <a:ext cx="10363200" cy="9525"/>
          </a:xfrm>
          <a:prstGeom xmlns:a="http://schemas.openxmlformats.org/drawingml/2006/main" prst="rect">
            <a:avLst/>
          </a:prstGeom>
          <a:solidFill xmlns:a="http://schemas.openxmlformats.org/drawingml/2006/main">
            <a:srgbClr val="CBD8E2"/>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36EAB94-B16D-4C23-B2BC-349DD2C272AA}"/>
              </a:ext>
            </a:extLst>
          </p:cNvPr>
          <p:cNvSpPr>
            <a:spLocks xmlns:a="http://schemas.openxmlformats.org/drawingml/2006/main" noGrp="1"/>
          </p:cNvSpPr>
          <p:nvPr/>
        </p:nvSpPr>
        <p:spPr>
          <a:xfrm xmlns:a="http://schemas.openxmlformats.org/drawingml/2006/main">
            <a:off x="723900" y="3667125"/>
            <a:ext cx="342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1">
                <a:solidFill>
                  <a:srgbClr val="0B2545"/>
                </a:solidFill>
                <a:latin typeface="Aptos"/>
                <a:ea typeface="Aptos"/>
                <a:cs typeface="Aptos"/>
              </a:defRPr>
            </a:pPr>
            <a:r>
              <a:rPr sz="1425" b="1">
                <a:solidFill>
                  <a:srgbClr val="0B2545"/>
                </a:solidFill>
                <a:latin typeface="Aptos"/>
                <a:ea typeface="Aptos"/>
                <a:cs typeface="Aptos"/>
              </a:rPr>
              <a:t>Perangkat daerah yang diundang</a:t>
            </a:r>
          </a:p>
        </p:txBody>
      </p:sp>
      <p:sp>
        <p:nvSpPr>
          <p:cNvPr id="16" name="">
            <a:extLst xmlns:a="http://schemas.openxmlformats.org/drawingml/2006/main">
              <a:ext uri="{FF2B5EF4-FFF2-40B4-BE49-F238E27FC236}">
                <a16:creationId xmlns:a16="http://schemas.microsoft.com/office/drawing/2014/main" id="{AE6CBF38-FB6D-4129-B472-305A65D3A27B}"/>
              </a:ext>
            </a:extLst>
          </p:cNvPr>
          <p:cNvSpPr>
            <a:spLocks xmlns:a="http://schemas.openxmlformats.org/drawingml/2006/main" noGrp="1"/>
          </p:cNvSpPr>
          <p:nvPr/>
        </p:nvSpPr>
        <p:spPr>
          <a:xfrm xmlns:a="http://schemas.openxmlformats.org/drawingml/2006/main">
            <a:off x="4286250" y="3667125"/>
            <a:ext cx="676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506274"/>
                </a:solidFill>
                <a:latin typeface="Aptos"/>
                <a:ea typeface="Aptos"/>
                <a:cs typeface="Aptos"/>
              </a:defRPr>
            </a:pPr>
            <a:r>
              <a:rPr sz="1350" b="0">
                <a:solidFill>
                  <a:srgbClr val="506274"/>
                </a:solidFill>
                <a:latin typeface="Aptos"/>
                <a:ea typeface="Aptos"/>
                <a:cs typeface="Aptos"/>
              </a:rPr>
              <a:t>____________________________________________</a:t>
            </a:r>
          </a:p>
        </p:txBody>
      </p:sp>
      <p:sp>
        <p:nvSpPr>
          <p:cNvPr id="17" name="">
            <a:extLst xmlns:a="http://schemas.openxmlformats.org/drawingml/2006/main">
              <a:ext uri="{FF2B5EF4-FFF2-40B4-BE49-F238E27FC236}">
                <a16:creationId xmlns:a16="http://schemas.microsoft.com/office/drawing/2014/main" id="{CAD3FB85-6938-4B7A-AB7F-1C97DB2A74A4}"/>
              </a:ext>
            </a:extLst>
          </p:cNvPr>
          <p:cNvSpPr>
            <a:spLocks xmlns:a="http://schemas.openxmlformats.org/drawingml/2006/main" noGrp="1"/>
          </p:cNvSpPr>
          <p:nvPr/>
        </p:nvSpPr>
        <p:spPr>
          <a:xfrm xmlns:a="http://schemas.openxmlformats.org/drawingml/2006/main">
            <a:off x="723900" y="4171950"/>
            <a:ext cx="10363200" cy="9525"/>
          </a:xfrm>
          <a:prstGeom xmlns:a="http://schemas.openxmlformats.org/drawingml/2006/main" prst="rect">
            <a:avLst/>
          </a:prstGeom>
          <a:solidFill xmlns:a="http://schemas.openxmlformats.org/drawingml/2006/main">
            <a:srgbClr val="CBD8E2"/>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7F45638-91FD-4A68-A77B-DBFAC1D9AB3E}"/>
              </a:ext>
            </a:extLst>
          </p:cNvPr>
          <p:cNvSpPr>
            <a:spLocks xmlns:a="http://schemas.openxmlformats.org/drawingml/2006/main" noGrp="1"/>
          </p:cNvSpPr>
          <p:nvPr/>
        </p:nvSpPr>
        <p:spPr>
          <a:xfrm xmlns:a="http://schemas.openxmlformats.org/drawingml/2006/main">
            <a:off x="723900" y="4362450"/>
            <a:ext cx="342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1">
                <a:solidFill>
                  <a:srgbClr val="0B2545"/>
                </a:solidFill>
                <a:latin typeface="Aptos"/>
                <a:ea typeface="Aptos"/>
                <a:cs typeface="Aptos"/>
              </a:defRPr>
            </a:pPr>
            <a:r>
              <a:rPr sz="1425" b="1">
                <a:solidFill>
                  <a:srgbClr val="0B2545"/>
                </a:solidFill>
                <a:latin typeface="Aptos"/>
                <a:ea typeface="Aptos"/>
                <a:cs typeface="Aptos"/>
              </a:rPr>
              <a:t>Bahan dan tenggat pengiriman</a:t>
            </a:r>
          </a:p>
        </p:txBody>
      </p:sp>
      <p:sp>
        <p:nvSpPr>
          <p:cNvPr id="19" name="">
            <a:extLst xmlns:a="http://schemas.openxmlformats.org/drawingml/2006/main">
              <a:ext uri="{FF2B5EF4-FFF2-40B4-BE49-F238E27FC236}">
                <a16:creationId xmlns:a16="http://schemas.microsoft.com/office/drawing/2014/main" id="{159159D3-1AD0-4999-8099-F6BD67550355}"/>
              </a:ext>
            </a:extLst>
          </p:cNvPr>
          <p:cNvSpPr>
            <a:spLocks xmlns:a="http://schemas.openxmlformats.org/drawingml/2006/main" noGrp="1"/>
          </p:cNvSpPr>
          <p:nvPr/>
        </p:nvSpPr>
        <p:spPr>
          <a:xfrm xmlns:a="http://schemas.openxmlformats.org/drawingml/2006/main">
            <a:off x="4286250" y="4362450"/>
            <a:ext cx="676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506274"/>
                </a:solidFill>
                <a:latin typeface="Aptos"/>
                <a:ea typeface="Aptos"/>
                <a:cs typeface="Aptos"/>
              </a:defRPr>
            </a:pPr>
            <a:r>
              <a:rPr sz="1350" b="0">
                <a:solidFill>
                  <a:srgbClr val="506274"/>
                </a:solidFill>
                <a:latin typeface="Aptos"/>
                <a:ea typeface="Aptos"/>
                <a:cs typeface="Aptos"/>
              </a:rPr>
              <a:t>____________________________________________</a:t>
            </a:r>
          </a:p>
        </p:txBody>
      </p:sp>
      <p:sp>
        <p:nvSpPr>
          <p:cNvPr id="20" name="">
            <a:extLst xmlns:a="http://schemas.openxmlformats.org/drawingml/2006/main">
              <a:ext uri="{FF2B5EF4-FFF2-40B4-BE49-F238E27FC236}">
                <a16:creationId xmlns:a16="http://schemas.microsoft.com/office/drawing/2014/main" id="{EF7071DC-1DC7-4F79-8FD2-FEF272750A5E}"/>
              </a:ext>
            </a:extLst>
          </p:cNvPr>
          <p:cNvSpPr>
            <a:spLocks xmlns:a="http://schemas.openxmlformats.org/drawingml/2006/main" noGrp="1"/>
          </p:cNvSpPr>
          <p:nvPr/>
        </p:nvSpPr>
        <p:spPr>
          <a:xfrm xmlns:a="http://schemas.openxmlformats.org/drawingml/2006/main">
            <a:off x="723900" y="4867275"/>
            <a:ext cx="10363200" cy="9525"/>
          </a:xfrm>
          <a:prstGeom xmlns:a="http://schemas.openxmlformats.org/drawingml/2006/main" prst="rect">
            <a:avLst/>
          </a:prstGeom>
          <a:solidFill xmlns:a="http://schemas.openxmlformats.org/drawingml/2006/main">
            <a:srgbClr val="CBD8E2"/>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179EEDE0-DB48-4214-859C-92BA3EB5070C}"/>
              </a:ext>
            </a:extLst>
          </p:cNvPr>
          <p:cNvSpPr>
            <a:spLocks xmlns:a="http://schemas.openxmlformats.org/drawingml/2006/main" noGrp="1"/>
          </p:cNvSpPr>
          <p:nvPr/>
        </p:nvSpPr>
        <p:spPr>
          <a:xfrm xmlns:a="http://schemas.openxmlformats.org/drawingml/2006/main">
            <a:off x="723900" y="5057775"/>
            <a:ext cx="342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1">
                <a:solidFill>
                  <a:srgbClr val="0B2545"/>
                </a:solidFill>
                <a:latin typeface="Aptos"/>
                <a:ea typeface="Aptos"/>
                <a:cs typeface="Aptos"/>
              </a:defRPr>
            </a:pPr>
            <a:r>
              <a:rPr sz="1425" b="1">
                <a:solidFill>
                  <a:srgbClr val="0B2545"/>
                </a:solidFill>
                <a:latin typeface="Aptos"/>
                <a:ea typeface="Aptos"/>
                <a:cs typeface="Aptos"/>
              </a:rPr>
              <a:t>Waktu koordinasi berikutnya</a:t>
            </a:r>
          </a:p>
        </p:txBody>
      </p:sp>
      <p:sp>
        <p:nvSpPr>
          <p:cNvPr id="22" name="">
            <a:extLst xmlns:a="http://schemas.openxmlformats.org/drawingml/2006/main">
              <a:ext uri="{FF2B5EF4-FFF2-40B4-BE49-F238E27FC236}">
                <a16:creationId xmlns:a16="http://schemas.microsoft.com/office/drawing/2014/main" id="{95495A9C-AD42-43AB-B075-FAA7E27D05F8}"/>
              </a:ext>
            </a:extLst>
          </p:cNvPr>
          <p:cNvSpPr>
            <a:spLocks xmlns:a="http://schemas.openxmlformats.org/drawingml/2006/main" noGrp="1"/>
          </p:cNvSpPr>
          <p:nvPr/>
        </p:nvSpPr>
        <p:spPr>
          <a:xfrm xmlns:a="http://schemas.openxmlformats.org/drawingml/2006/main">
            <a:off x="4286250" y="5057775"/>
            <a:ext cx="676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506274"/>
                </a:solidFill>
                <a:latin typeface="Aptos"/>
                <a:ea typeface="Aptos"/>
                <a:cs typeface="Aptos"/>
              </a:defRPr>
            </a:pPr>
            <a:r>
              <a:rPr sz="1350" b="0">
                <a:solidFill>
                  <a:srgbClr val="506274"/>
                </a:solidFill>
                <a:latin typeface="Aptos"/>
                <a:ea typeface="Aptos"/>
                <a:cs typeface="Aptos"/>
              </a:rPr>
              <a:t>____________________________________________</a:t>
            </a:r>
          </a:p>
        </p:txBody>
      </p:sp>
      <p:sp>
        <p:nvSpPr>
          <p:cNvPr id="23" name="">
            <a:extLst xmlns:a="http://schemas.openxmlformats.org/drawingml/2006/main">
              <a:ext uri="{FF2B5EF4-FFF2-40B4-BE49-F238E27FC236}">
                <a16:creationId xmlns:a16="http://schemas.microsoft.com/office/drawing/2014/main" id="{A098EE3E-B860-4670-91C3-AFB12A4C0E2C}"/>
              </a:ext>
            </a:extLst>
          </p:cNvPr>
          <p:cNvSpPr>
            <a:spLocks xmlns:a="http://schemas.openxmlformats.org/drawingml/2006/main" noGrp="1"/>
          </p:cNvSpPr>
          <p:nvPr/>
        </p:nvSpPr>
        <p:spPr>
          <a:xfrm xmlns:a="http://schemas.openxmlformats.org/drawingml/2006/main">
            <a:off x="723900" y="5562600"/>
            <a:ext cx="10363200" cy="9525"/>
          </a:xfrm>
          <a:prstGeom xmlns:a="http://schemas.openxmlformats.org/drawingml/2006/main" prst="rect">
            <a:avLst/>
          </a:prstGeom>
          <a:solidFill xmlns:a="http://schemas.openxmlformats.org/drawingml/2006/main">
            <a:srgbClr val="CBD8E2"/>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DDFE414D-BD70-4F28-B222-4286DC9FC51F}"/>
              </a:ext>
            </a:extLst>
          </p:cNvPr>
          <p:cNvSpPr>
            <a:spLocks xmlns:a="http://schemas.openxmlformats.org/drawingml/2006/main" noGrp="1"/>
          </p:cNvSpPr>
          <p:nvPr/>
        </p:nvSpPr>
        <p:spPr>
          <a:xfrm xmlns:a="http://schemas.openxmlformats.org/drawingml/2006/main">
            <a:off x="723900" y="5962650"/>
            <a:ext cx="10363200" cy="476250"/>
          </a:xfrm>
          <a:prstGeom xmlns:a="http://schemas.openxmlformats.org/drawingml/2006/main" prst="roundRect">
            <a:avLst>
              <a:gd name="adj" fmla="val 16000"/>
            </a:avLst>
          </a:prstGeom>
          <a:solidFill xmlns:a="http://schemas.openxmlformats.org/drawingml/2006/main">
            <a:srgbClr val="EEF4F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2B7F3D1C-EA97-4A55-8E9D-D03AD138EE35}"/>
              </a:ext>
            </a:extLst>
          </p:cNvPr>
          <p:cNvSpPr>
            <a:spLocks xmlns:a="http://schemas.openxmlformats.org/drawingml/2006/main" noGrp="1"/>
          </p:cNvSpPr>
          <p:nvPr/>
        </p:nvSpPr>
        <p:spPr>
          <a:xfrm xmlns:a="http://schemas.openxmlformats.org/drawingml/2006/main">
            <a:off x="914400" y="6019800"/>
            <a:ext cx="9982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1E5A96"/>
                </a:solidFill>
                <a:latin typeface="Aptos"/>
                <a:ea typeface="Aptos"/>
                <a:cs typeface="Aptos"/>
              </a:defRPr>
            </a:pPr>
            <a:r>
              <a:rPr sz="1350" b="1">
                <a:solidFill>
                  <a:srgbClr val="1E5A96"/>
                </a:solidFill>
                <a:latin typeface="Aptos"/>
                <a:ea typeface="Aptos"/>
                <a:cs typeface="Aptos"/>
              </a:rPr>
              <a:t>Penutup: SABABUKA akan dikembangkan dari kebutuhan dan tata kelola yang disepakati bersama, bukan dari asumsi teknis semata.</a:t>
            </a:r>
          </a:p>
        </p:txBody>
      </p:sp>
    </p:spTree>
    <p:extLst>
      <p:ext uri="{BB962C8B-B14F-4D97-AF65-F5344CB8AC3E}">
        <p14:creationId xmlns:p14="http://schemas.microsoft.com/office/powerpoint/2010/main" val="198490524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2026-09-11T03:49:36.7210000Z</dcterms:created>
  <dcterms:modified xsi:type="dcterms:W3CDTF">2026-09-11T03:49:36.7220000Z</dcterms:modified>
</coreProperties>
</file>