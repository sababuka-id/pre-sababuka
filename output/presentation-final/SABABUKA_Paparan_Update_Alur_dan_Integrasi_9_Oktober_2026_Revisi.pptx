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d1e09477504d55" /><Relationship Type="http://schemas.openxmlformats.org/officeDocument/2006/relationships/extended-properties" Target="/docProps/app.xml" Id="R27572a92205e4152" /><Relationship Type="http://schemas.openxmlformats.org/officeDocument/2006/relationships/officeDocument" Target="/ppt/presentation.xml" Id="R44d0b19b2d5747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8dd7a5d4344c2a"/>
  </p:sldMasterIdLst>
  <p:notesMasterIdLst>
    <p:notesMasterId xmlns:r="http://schemas.openxmlformats.org/officeDocument/2006/relationships" r:id="R1d8fb7d432764689"/>
  </p:notesMasterIdLst>
  <p:sldIdLst>
    <p:sldId xmlns:r="http://schemas.openxmlformats.org/officeDocument/2006/relationships" id="256" r:id="R3ed870ded21d409f"/>
    <p:sldId xmlns:r="http://schemas.openxmlformats.org/officeDocument/2006/relationships" id="257" r:id="R6d5903f07f9a4dcc"/>
    <p:sldId xmlns:r="http://schemas.openxmlformats.org/officeDocument/2006/relationships" id="258" r:id="R6cf423939ca3455a"/>
    <p:sldId xmlns:r="http://schemas.openxmlformats.org/officeDocument/2006/relationships" id="259" r:id="Rc4deca021f2648c7"/>
    <p:sldId xmlns:r="http://schemas.openxmlformats.org/officeDocument/2006/relationships" id="260" r:id="Raa00acd51a1a44a8"/>
    <p:sldId xmlns:r="http://schemas.openxmlformats.org/officeDocument/2006/relationships" id="261" r:id="R08032a3a2d7d4e3c"/>
    <p:sldId xmlns:r="http://schemas.openxmlformats.org/officeDocument/2006/relationships" id="262" r:id="Rd5987b59e8374843"/>
    <p:sldId xmlns:r="http://schemas.openxmlformats.org/officeDocument/2006/relationships" id="263" r:id="Rdf0823562b1c4e4f"/>
    <p:sldId xmlns:r="http://schemas.openxmlformats.org/officeDocument/2006/relationships" id="264" r:id="R996f87d51ec8492a"/>
    <p:sldId xmlns:r="http://schemas.openxmlformats.org/officeDocument/2006/relationships" id="265" r:id="R8dd84377d953499f"/>
    <p:sldId xmlns:r="http://schemas.openxmlformats.org/officeDocument/2006/relationships" id="266" r:id="Rdead577878fc42fe"/>
    <p:sldId xmlns:r="http://schemas.openxmlformats.org/officeDocument/2006/relationships" id="267" r:id="R9cd87ceb49ea4eea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5de5431190456a" /><Relationship Type="http://schemas.openxmlformats.org/officeDocument/2006/relationships/slideMaster" Target="/ppt/slideMasters/slideMaster1.xml" Id="Re98dd7a5d4344c2a" /><Relationship Type="http://schemas.openxmlformats.org/officeDocument/2006/relationships/notesMaster" Target="/ppt/notesMasters/notesMaster1.xml" Id="R1d8fb7d432764689" /><Relationship Type="http://schemas.openxmlformats.org/officeDocument/2006/relationships/presProps" Target="/ppt/presProps.xml" Id="Re64e594b5022426f" /><Relationship Type="http://schemas.openxmlformats.org/officeDocument/2006/relationships/viewProps" Target="/ppt/viewProps.xml" Id="R1455424e96f848df" /><Relationship Type="http://schemas.openxmlformats.org/officeDocument/2006/relationships/tableStyles" Target="/ppt/tableStyles.xml" Id="R8ea20dbf85694c97" /><Relationship Type="http://schemas.openxmlformats.org/officeDocument/2006/relationships/slide" Target="/ppt/slides/slide1.xml" Id="R3ed870ded21d409f" /><Relationship Type="http://schemas.openxmlformats.org/officeDocument/2006/relationships/slide" Target="/ppt/slides/slide2.xml" Id="R6d5903f07f9a4dcc" /><Relationship Type="http://schemas.openxmlformats.org/officeDocument/2006/relationships/slide" Target="/ppt/slides/slide3.xml" Id="R6cf423939ca3455a" /><Relationship Type="http://schemas.openxmlformats.org/officeDocument/2006/relationships/slide" Target="/ppt/slides/slide4.xml" Id="Rc4deca021f2648c7" /><Relationship Type="http://schemas.openxmlformats.org/officeDocument/2006/relationships/slide" Target="/ppt/slides/slide5.xml" Id="Raa00acd51a1a44a8" /><Relationship Type="http://schemas.openxmlformats.org/officeDocument/2006/relationships/slide" Target="/ppt/slides/slide6.xml" Id="R08032a3a2d7d4e3c" /><Relationship Type="http://schemas.openxmlformats.org/officeDocument/2006/relationships/slide" Target="/ppt/slides/slide7.xml" Id="Rd5987b59e8374843" /><Relationship Type="http://schemas.openxmlformats.org/officeDocument/2006/relationships/slide" Target="/ppt/slides/slide8.xml" Id="Rdf0823562b1c4e4f" /><Relationship Type="http://schemas.openxmlformats.org/officeDocument/2006/relationships/slide" Target="/ppt/slides/slide9.xml" Id="R996f87d51ec8492a" /><Relationship Type="http://schemas.openxmlformats.org/officeDocument/2006/relationships/slide" Target="/ppt/slides/slide10.xml" Id="R8dd84377d953499f" /><Relationship Type="http://schemas.openxmlformats.org/officeDocument/2006/relationships/slide" Target="/ppt/slides/slide11.xml" Id="Rdead577878fc42fe" /><Relationship Type="http://schemas.openxmlformats.org/officeDocument/2006/relationships/slide" Target="/ppt/slides/slide12.xml" Id="R9cd87ceb49ea4e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3ec2d656f24e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5b62a558da467c" /><Relationship Type="http://schemas.openxmlformats.org/officeDocument/2006/relationships/notesMaster" Target="/ppt/notesMasters/notesMaster1.xml" Id="Rd0293d628ccf42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9651e64afc4461" /><Relationship Type="http://schemas.openxmlformats.org/officeDocument/2006/relationships/notesMaster" Target="/ppt/notesMasters/notesMaster1.xml" Id="R61304af85adc4d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413719a871485f" /><Relationship Type="http://schemas.openxmlformats.org/officeDocument/2006/relationships/notesMaster" Target="/ppt/notesMasters/notesMaster1.xml" Id="Rbb88195d60304f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8c78ce1c0e4ef0" /><Relationship Type="http://schemas.openxmlformats.org/officeDocument/2006/relationships/notesMaster" Target="/ppt/notesMasters/notesMaster1.xml" Id="Ra0415b05393c41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466d851bb14245" /><Relationship Type="http://schemas.openxmlformats.org/officeDocument/2006/relationships/notesMaster" Target="/ppt/notesMasters/notesMaster1.xml" Id="R8b40663bb00e44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ef186c79f84f0c" /><Relationship Type="http://schemas.openxmlformats.org/officeDocument/2006/relationships/notesMaster" Target="/ppt/notesMasters/notesMaster1.xml" Id="R8b8c618a285249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629defa874fe1" /><Relationship Type="http://schemas.openxmlformats.org/officeDocument/2006/relationships/notesMaster" Target="/ppt/notesMasters/notesMaster1.xml" Id="R1720614e43f84d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23ff55e0214f1d" /><Relationship Type="http://schemas.openxmlformats.org/officeDocument/2006/relationships/notesMaster" Target="/ppt/notesMasters/notesMaster1.xml" Id="Rbf944e3f9aba4a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5df12681e34ce0" /><Relationship Type="http://schemas.openxmlformats.org/officeDocument/2006/relationships/notesMaster" Target="/ppt/notesMasters/notesMaster1.xml" Id="R557a8265ac7544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41b12f572b41e1" /><Relationship Type="http://schemas.openxmlformats.org/officeDocument/2006/relationships/notesMaster" Target="/ppt/notesMasters/notesMaster1.xml" Id="Raa4ebe63b9d34e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be690618b345cd" /><Relationship Type="http://schemas.openxmlformats.org/officeDocument/2006/relationships/notesMaster" Target="/ppt/notesMasters/notesMaster1.xml" Id="R3137cf5efda34f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48a1e0d16245d1" /><Relationship Type="http://schemas.openxmlformats.org/officeDocument/2006/relationships/notesMaster" Target="/ppt/notesMasters/notesMaster1.xml" Id="Rc99f9d440f0849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Matrix RPJMD dan catatan keputusan tata kelola SABABUKA. Lingkungan yang ditampilkan adalah demo/UAT lokal.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docs/18-rundown-ekspose-antara-2026-10-09.md dan audit release 8 Oktober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Angka pilot dan batasan demo mengikuti rundown ekspose antara.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Matrix RPJMD dan keputusan struktur fokus-kategori-indikator pada diskusi proyek.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Perubahan role Kominfo diterapkan melalui migration 027: Kominfo tidak lagi memiliki menu input atau permission aksi konektor.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Alur ini membedakan persetujuan kebijakan, validasi teknis, dan publikasi data.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Skenario menggunakan data latihan. Sinkronisasi yang ditunjukkan berarti SABABUKA membaca dataset Satu Data, bukan menulis balik.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 pemeriksaan data masuk menjadi kebutuhan yang perlu diperjelas di aplikasi.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Tidak semua OPD harus memiliki website atau API pada tahap awal.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Daftar organisasi dipakai sebagai bahan konfirmasi forum, bukan langsung sebagai keputusan final.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Daftar keputusan mengikuti kebutuhan konfirmasi organisasi, indikator, sumber, dan koordinasi.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Penutup. Tekankan bahwa sistem siap menjadi wadah master data dan alur validasi sebelum integrasi resmi diperluas.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7c85351f849a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92252d7d964ed6" /><Relationship Type="http://schemas.openxmlformats.org/officeDocument/2006/relationships/slideLayout" Target="/ppt/slideLayouts/slideLayout1.xml" Id="R522990ac477c474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2990ac477c474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36710348b44f1" /><Relationship Type="http://schemas.openxmlformats.org/officeDocument/2006/relationships/notesSlide" Target="/ppt/notesSlides/notesSlide1.xml" Id="R163d1126ea8442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319dec143456e" /><Relationship Type="http://schemas.openxmlformats.org/officeDocument/2006/relationships/notesSlide" Target="/ppt/notesSlides/notesSlide2.xml" Id="R0ef23870c2dd4f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ac6ed95c64a00" /><Relationship Type="http://schemas.openxmlformats.org/officeDocument/2006/relationships/notesSlide" Target="/ppt/notesSlides/notesSlide3.xml" Id="R8138b518f0a84f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4977ba8d74cdb" /><Relationship Type="http://schemas.openxmlformats.org/officeDocument/2006/relationships/notesSlide" Target="/ppt/notesSlides/notesSlide4.xml" Id="R47b3c66833094b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bf77227084f90" /><Relationship Type="http://schemas.openxmlformats.org/officeDocument/2006/relationships/notesSlide" Target="/ppt/notesSlides/notesSlide5.xml" Id="R656212a5b7b945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96d76bb31454f" /><Relationship Type="http://schemas.openxmlformats.org/officeDocument/2006/relationships/notesSlide" Target="/ppt/notesSlides/notesSlide6.xml" Id="Rec7937f7284547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337e3dde44a67" /><Relationship Type="http://schemas.openxmlformats.org/officeDocument/2006/relationships/notesSlide" Target="/ppt/notesSlides/notesSlide7.xml" Id="R4414040e47e34a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a51ed3c8f4c1e" /><Relationship Type="http://schemas.openxmlformats.org/officeDocument/2006/relationships/notesSlide" Target="/ppt/notesSlides/notesSlide8.xml" Id="Rf10deef4e9b24d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3c1c5577c4ae7" /><Relationship Type="http://schemas.openxmlformats.org/officeDocument/2006/relationships/notesSlide" Target="/ppt/notesSlides/notesSlide9.xml" Id="R220efc9992b445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db6c4c5854fbb" /><Relationship Type="http://schemas.openxmlformats.org/officeDocument/2006/relationships/notesSlide" Target="/ppt/notesSlides/notesSlide10.xml" Id="Rdb20da85773e4b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6357daae645c9" /><Relationship Type="http://schemas.openxmlformats.org/officeDocument/2006/relationships/notesSlide" Target="/ppt/notesSlides/notesSlide11.xml" Id="Rd9c345a9037c47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d23b16e4c4ecf" /><Relationship Type="http://schemas.openxmlformats.org/officeDocument/2006/relationships/notesSlide" Target="/ppt/notesSlides/notesSlide12.xml" Id="R1c1e42697c914e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3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3151156-7BD3-4B9D-82A1-18A45316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E30BC6D-24A1-4C7A-803C-6D9A28F1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"/>
            <a:ext cx="4572000" cy="6766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58A">
              <a:alpha val="45000"/>
            </a:srgbClr>
          </a:solidFill>
          <a:ln xmlns:a="http://schemas.openxmlformats.org/drawingml/2006/main"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82018F-5F47-4B24-978F-AD231525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">
            <a:off x="8321040" y="822960"/>
            <a:ext cx="4389120" cy="438912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D83">
                <a:alpha val="85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451AE14-3D20-4AFB-89B0-E380BA02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">
            <a:off x="8823960" y="1325880"/>
            <a:ext cx="3383280" cy="338328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7A2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5E3BF70-AF7D-4009-B51B-1815CDF2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914400"/>
            <a:ext cx="4206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8EE2D9"/>
                </a:solidFill>
                <a:latin typeface="Aptos"/>
                <a:ea typeface="Aptos"/>
                <a:cs typeface="Aptos"/>
              </a:rPr>
              <a:t>SABABUKA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520995E-07F7-4324-BA68-E2BB2336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98448"/>
            <a:ext cx="4206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BERSINAR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04A2C1-BFA6-4F9E-8712-A3E57016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58368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 master data,</a:t>
            </a:r>
            <a:endParaRPr sz="3100"/>
          </a:p>
          <a:p xmlns:a="http://schemas.openxmlformats.org/drawingml/2006/main">
            <a:pPr marL="0" indent="0" algn="l">
              <a:buNone/>
            </a:pPr>
            <a:r>
              <a:rPr sz="3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alur validasi, dan</a:t>
            </a:r>
            <a:endParaRPr sz="3100"/>
          </a:p>
          <a:p xmlns:a="http://schemas.openxmlformats.org/drawingml/2006/main">
            <a:pPr marL="0" indent="0" algn="l">
              <a:buNone/>
            </a:pPr>
            <a:r>
              <a:rPr sz="3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rencana integrasi</a:t>
            </a:r>
            <a:endParaRPr sz="3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625EFF8-19D2-4A06-86A5-7E339F78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20640"/>
            <a:ext cx="4114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C9D8E7"/>
                </a:solidFill>
                <a:latin typeface="Aptos"/>
                <a:ea typeface="Aptos"/>
                <a:cs typeface="Aptos"/>
              </a:rPr>
              <a:t>Bahan paparan antara</a:t>
            </a:r>
            <a:endParaRPr sz="1400"/>
          </a:p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C9D8E7"/>
                </a:solidFill>
                <a:latin typeface="Aptos"/>
                <a:ea typeface="Aptos"/>
                <a:cs typeface="Aptos"/>
              </a:rPr>
              <a:t>Jumat, 9 Oktober 2026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195F85-342F-44F9-ADBC-6C776C9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468112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Kabupaten Kapuas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DC65D3B-4465-4E70-B483-A3E39FA3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5806440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C9D8E7"/>
                </a:solidFill>
                <a:latin typeface="Aptos"/>
                <a:ea typeface="Aptos"/>
                <a:cs typeface="Aptos"/>
              </a:rPr>
              <a:t>Master data indikator pembangunan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24470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EBD30C-5DCF-48B8-A265-C97052E4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CCEB48-E799-4044-A7E0-807D3B17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404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B2344"/>
                </a:solidFill>
                <a:latin typeface="Aptos Display"/>
                <a:ea typeface="Aptos Display"/>
                <a:cs typeface="Aptos Display"/>
              </a:rPr>
              <a:t>Posisi SABABUKA saat ini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DCEA870-4158-40A0-A91D-FF8D5DFD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6112"/>
            <a:ext cx="10424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D7186"/>
                </a:solidFill>
                <a:latin typeface="Aptos"/>
                <a:ea typeface="Aptos"/>
                <a:cs typeface="Aptos"/>
              </a:rPr>
              <a:t>Sistem sedang menata fondasi sebelum sinkronisasi data resmi</a:t>
            </a:r>
            <a:endParaRPr sz="11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829156-B435-4590-BC18-D075EFDE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760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D7186"/>
                </a:solidFill>
                <a:latin typeface="Aptos"/>
                <a:ea typeface="Aptos"/>
                <a:cs typeface="Aptos"/>
              </a:rPr>
              <a:t>SABABUKA BERSINAR · KABUPATEN KAPUAS</a:t>
            </a:r>
            <a:endParaRPr sz="7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1FBE2F-0F76-4686-8E4D-D747C465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02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CEFB89-EA13-4A59-97F8-9ED81597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SABABUKA berfungsi sebagai master data indikator dan ruang tata kelola. Angka realisasi dari sumber resmi masuk setelah definisi, pemilik, dan alurnya disepakati.</a:t>
            </a:r>
            <a:endParaRPr sz="1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351208C-FF48-44EB-9B23-6FFC1A44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31720"/>
            <a:ext cx="342900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078498D-5E5D-4753-8DD7-62CC6336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3172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CD18C61-17AF-4189-BC30-1834E5B4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496312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Yang sudah tersedia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5A1C96D-7178-4A7C-AAF8-F94B03E2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862072"/>
            <a:ext cx="3081528" cy="1581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Master kategori dan indikator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Target tahunan 2025-2029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Role dan scope akses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Alur draft, review, verifikasi, publikasi</a:t>
            </a:r>
            <a:endParaRPr sz="12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26B755B-80C7-400C-B267-E058823A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331720"/>
            <a:ext cx="342900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3877B7E-E0CD-4AA9-B3EB-ED64033A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33172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2166866-18ED-42AD-BD9E-2D5121F2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6312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Yang sedang disepakati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8D9CA77-B88A-4047-90B9-805523EB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62072"/>
            <a:ext cx="3081528" cy="1581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Fokus kebijakan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Isu atau kategori strategis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OPD pemilik dan bidang pengelola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Status organisasi yang masuk</a:t>
            </a:r>
            <a:endParaRPr sz="12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2784500-C4AA-4B09-B553-DDE5159B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331720"/>
            <a:ext cx="342900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6148595-DCAD-44AB-B2CD-F7FB47B5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33172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58A"/>
          </a:solidFill>
          <a:ln xmlns:a="http://schemas.openxmlformats.org/drawingml/2006/main"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F59FE76-3D05-419A-B3E7-E19BCA8D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496312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Tahap berikutnya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915C239-BDF0-4564-9F5B-C5F687BA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862072"/>
            <a:ext cx="3081528" cy="1581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Integrasi BPS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Mapping Satu Data Kapuas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Validasi observasi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Rilis data yang dapat ditelusuri</a:t>
            </a:r>
            <a:endParaRPr sz="12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2B9679F-CC74-4AF8-A0EC-2940E0A3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074920"/>
            <a:ext cx="11887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558A"/>
          </a:solidFill>
          <a:ln xmlns:a="http://schemas.openxmlformats.org/drawingml/2006/main"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72DF3A5-338D-4651-AEF4-A52810A7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111496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MASTER DATA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E0C9234-328F-4DBD-A05C-61FF2028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5093208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D7186"/>
                </a:solidFill>
                <a:latin typeface="Aptos"/>
                <a:ea typeface="Aptos"/>
                <a:cs typeface="Aptos"/>
              </a:rPr>
              <a:t>menyimpan struktur dan aturan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E9BB5CB-7EA8-47AE-A919-058F2A64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074920"/>
            <a:ext cx="138988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5EA4E8F-52EF-4327-8BA9-6BCB0A66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5111496"/>
            <a:ext cx="12070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SUMBER RESMI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A1E120F-15E7-4A62-B96F-12B07CB9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093208"/>
            <a:ext cx="2194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D7186"/>
                </a:solidFill>
                <a:latin typeface="Aptos"/>
                <a:ea typeface="Aptos"/>
                <a:cs typeface="Aptos"/>
              </a:rPr>
              <a:t>menyediakan realisasi</a:t>
            </a:r>
            <a:endParaRPr sz="12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E9E6EFB-72A3-4C13-954E-678367AD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5074920"/>
            <a:ext cx="9601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F6FB9EB-5191-42B1-B050-96878128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51114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PIMPINAN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2B6D1F7-DCDF-42C9-AE44-2D1E2A68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093208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D7186"/>
                </a:solidFill>
                <a:latin typeface="Aptos"/>
                <a:ea typeface="Aptos"/>
                <a:cs typeface="Aptos"/>
              </a:rPr>
              <a:t>membaca hasil yang disetujui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626577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CBEB6A8-BB56-4C29-A69F-62FDC42B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A306BF2-5CA5-405C-AAEB-28F121F5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404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B2344"/>
                </a:solidFill>
                <a:latin typeface="Aptos Display"/>
                <a:ea typeface="Aptos Display"/>
                <a:cs typeface="Aptos Display"/>
              </a:rPr>
              <a:t>Fondasi yang sudah berjalan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6BB4532-728F-4B09-B93A-C3E4AEFA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6112"/>
            <a:ext cx="10424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D7186"/>
                </a:solidFill>
                <a:latin typeface="Aptos"/>
                <a:ea typeface="Aptos"/>
                <a:cs typeface="Aptos"/>
              </a:rPr>
              <a:t>Pilot lokal memisahkan master, data demo, dan data bersumber resmi</a:t>
            </a:r>
            <a:endParaRPr sz="11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FD998FB-9150-4061-A540-8BEB8DE0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760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D7186"/>
                </a:solidFill>
                <a:latin typeface="Aptos"/>
                <a:ea typeface="Aptos"/>
                <a:cs typeface="Aptos"/>
              </a:rPr>
              <a:t>SABABUKA BERSINAR · KABUPATEN KAPUAS</a:t>
            </a:r>
            <a:endParaRPr sz="7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DECF23-F2FF-4253-9A45-027BEFE8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03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1B42E3F-6B35-44F6-ADB2-A29072BE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423160" cy="1078992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6B090D5-AF80-4076-B1A7-91BF0E38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572768"/>
            <a:ext cx="2103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5</a:t>
            </a:r>
            <a:endParaRPr sz="2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205227F-6169-4D74-A6D6-15A3517B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993392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D7186"/>
                </a:solidFill>
                <a:latin typeface="Aptos"/>
                <a:ea typeface="Aptos"/>
                <a:cs typeface="Aptos"/>
              </a:rPr>
              <a:t>kategori pilot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C625158-1F28-40B3-8CB3-AC8B1B3F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17320"/>
            <a:ext cx="2423160" cy="1078992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A5105D-BF6A-4E4E-88D5-2B9D8278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572768"/>
            <a:ext cx="2103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15</a:t>
            </a:r>
            <a:endParaRPr sz="2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A05FC54-6E7C-4282-8319-FA16D8C6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993392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D7186"/>
                </a:solidFill>
                <a:latin typeface="Aptos"/>
                <a:ea typeface="Aptos"/>
                <a:cs typeface="Aptos"/>
              </a:rPr>
              <a:t>indikator pilot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379A7EA-078D-4A14-BCE4-BB3042DF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2423160" cy="1078992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D3B9977-0602-4905-BCE6-DC6DA864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572768"/>
            <a:ext cx="2103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2025-2029</a:t>
            </a:r>
            <a:endParaRPr sz="2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F2DF221-CB6B-48AA-BE7D-528883B8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993392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D7186"/>
                </a:solidFill>
                <a:latin typeface="Aptos"/>
                <a:ea typeface="Aptos"/>
                <a:cs typeface="Aptos"/>
              </a:rPr>
              <a:t>cakupan target tahunan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97A4736-ACE3-4EDE-B805-80168B52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417320"/>
            <a:ext cx="2423160" cy="1078992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30FC377-7536-4D5D-AB21-2213E9F4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1572768"/>
            <a:ext cx="2103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5</a:t>
            </a:r>
            <a:endParaRPr sz="2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2E0A451-8141-4A48-986A-43048B94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1993392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D7186"/>
                </a:solidFill>
                <a:latin typeface="Aptos"/>
                <a:ea typeface="Aptos"/>
                <a:cs typeface="Aptos"/>
              </a:rPr>
              <a:t>role aplikasi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AC83CA1-6119-4381-9FB4-DE57BBD8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71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58A"/>
          </a:solidFill>
          <a:ln xmlns:a="http://schemas.openxmlformats.org/drawingml/2006/main"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D45B1B-B35C-48E7-BB6F-1614D7F8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90088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6643429-1F26-4ED5-A426-1EFE94C2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62656"/>
            <a:ext cx="44074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Master indikator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D7E81DD-9970-4710-B975-AD2A8034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246120"/>
            <a:ext cx="440740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D7186"/>
                </a:solidFill>
                <a:latin typeface="Aptos"/>
                <a:ea typeface="Aptos"/>
                <a:cs typeface="Aptos"/>
              </a:rPr>
              <a:t>Definisi, satuan, target, OPD pemilik, dan status workflow.</a:t>
            </a:r>
            <a:endParaRPr sz="10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9544F9D-93D0-44E0-84F7-5EC4839C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11208E-E874-4FA7-8474-E6FEDDF4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13048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A41E2A6-47EA-4E60-972E-DC9814AA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785616"/>
            <a:ext cx="44074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Review dan verifikasi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9423D1E-4596-4EF6-8FC1-F1A8F5DD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069080"/>
            <a:ext cx="440740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D7186"/>
                </a:solidFill>
                <a:latin typeface="Aptos"/>
                <a:ea typeface="Aptos"/>
                <a:cs typeface="Aptos"/>
              </a:rPr>
              <a:t>BAPPERIDA memutuskan substansi. OPD memeriksa sisi teknis.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33BDC72-76D1-4446-BA4E-0C582196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1AE614-6F61-4970-BEF9-475D9883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90088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72062F6-5B7C-4472-AC74-9C2F07EA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962656"/>
            <a:ext cx="44074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Sumber data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9609521-BAB4-4CD0-AA41-0590EE27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246120"/>
            <a:ext cx="440740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D7186"/>
                </a:solidFill>
                <a:latin typeface="Aptos"/>
                <a:ea typeface="Aptos"/>
                <a:cs typeface="Aptos"/>
              </a:rPr>
              <a:t>Koneksi teknis ke Satu Data dan profil BPS sudah disiapkan untuk tahap berikutnya.</a:t>
            </a:r>
            <a:endParaRPr sz="10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3BA9267-7E73-44E8-BDB0-DC19AFA6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47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A61"/>
          </a:solidFill>
          <a:ln xmlns:a="http://schemas.openxmlformats.org/drawingml/2006/main" w="12700">
            <a:solidFill>
              <a:srgbClr val="2D7A61">
                <a:alpha val="0"/>
              </a:srgbClr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32F9EE4-EE11-4C3F-BBF5-F523FAF0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3048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D58ACEB-D4BE-498D-9371-2E2971C4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785616"/>
            <a:ext cx="44074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Dashboard pimpinan</a:t>
            </a:r>
            <a:endParaRPr sz="14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D70F0F1-F5A2-442A-9B72-68082DEC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069080"/>
            <a:ext cx="440740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D7186"/>
                </a:solidFill>
                <a:latin typeface="Aptos"/>
                <a:ea typeface="Aptos"/>
                <a:cs typeface="Aptos"/>
              </a:rPr>
              <a:t>Hanya membaca data yang sudah disetujui dan dipublikasikan.</a:t>
            </a:r>
            <a:endParaRPr sz="10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E6C449A1-4F4C-4F4B-992A-647DE70F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10424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3423E"/>
                </a:solidFill>
                <a:latin typeface="Aptos"/>
                <a:ea typeface="Aptos"/>
                <a:cs typeface="Aptos"/>
              </a:rPr>
              <a:t>Label demo tetap dipertahankan sampai OPD dan sumber resmi mengonfirmasi angka.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662427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4F31C4-9084-42BB-811F-96CB5F84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863A11B-23A2-45CD-A4CF-624543C8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404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B2344"/>
                </a:solidFill>
                <a:latin typeface="Aptos Display"/>
                <a:ea typeface="Aptos Display"/>
                <a:cs typeface="Aptos Display"/>
              </a:rPr>
              <a:t>Struktur master data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940C0E6-BAE4-4526-9E65-57DA42A4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6112"/>
            <a:ext cx="10424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D7186"/>
                </a:solidFill>
                <a:latin typeface="Aptos"/>
                <a:ea typeface="Aptos"/>
                <a:cs typeface="Aptos"/>
              </a:rPr>
              <a:t>Matrix RPJMD menjadi bahan awal untuk membangun struktur yang dapat menerima sumber data</a:t>
            </a:r>
            <a:endParaRPr sz="11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FC6EE45-B6ED-4D4B-A3BE-B9738A36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760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D7186"/>
                </a:solidFill>
                <a:latin typeface="Aptos"/>
                <a:ea typeface="Aptos"/>
                <a:cs typeface="Aptos"/>
              </a:rPr>
              <a:t>SABABUKA BERSINAR · KABUPATEN KAPUAS</a:t>
            </a:r>
            <a:endParaRPr sz="7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21AB8F-C7CB-4F69-8B97-98D92DD6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04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1698353-4EB9-4E2F-890D-AE9C529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1572768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7558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836405-3EA8-412B-B291-55F2AC29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58568"/>
            <a:ext cx="13533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Matrix RPJMD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AAF5D94-EE64-4D35-A1F6-038C2BD6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70632"/>
            <a:ext cx="13533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D7186"/>
                </a:solidFill>
                <a:latin typeface="Aptos"/>
                <a:ea typeface="Aptos"/>
                <a:cs typeface="Aptos"/>
              </a:rPr>
              <a:t>bahan draft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CEEAD0-142B-4B09-83C0-70E5A0F6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265176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7186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6315F16-00AD-44D6-80C6-CAC0263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057400"/>
            <a:ext cx="1572768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8D8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48BEA32-F722-48CD-9397-4FBE11AF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258568"/>
            <a:ext cx="13533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Fokus kebijakan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4BACC9F-68F4-4ACA-B83E-D7D9AC20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770632"/>
            <a:ext cx="13533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D7186"/>
                </a:solidFill>
                <a:latin typeface="Aptos"/>
                <a:ea typeface="Aptos"/>
                <a:cs typeface="Aptos"/>
              </a:rPr>
              <a:t>pengelompokan strategis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7887F53-7CA4-414C-9FC9-AC7886D3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5176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718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0D616DB-FF84-42EB-8696-3967A968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057400"/>
            <a:ext cx="1572768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7A22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994213C-AE7C-4FA7-9D34-F0D7BD48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258568"/>
            <a:ext cx="13533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Isu / kategori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6B8B277-5DBD-46F6-BD61-10DFE59F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770632"/>
            <a:ext cx="13533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D7186"/>
                </a:solidFill>
                <a:latin typeface="Aptos"/>
                <a:ea typeface="Aptos"/>
                <a:cs typeface="Aptos"/>
              </a:rPr>
              <a:t>unit pengelolaan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7F131A5-FE6B-42A1-9A4C-DBC1DA27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265176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7186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2DF0887-C4B7-4FB0-9285-3D058939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057400"/>
            <a:ext cx="1572768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7558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2E0B87A-AB45-4E33-B5A4-85DFC5D5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258568"/>
            <a:ext cx="13533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Indikator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C74E88E-45F7-4447-8112-7269DE96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70632"/>
            <a:ext cx="13533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D7186"/>
                </a:solidFill>
                <a:latin typeface="Aptos"/>
                <a:ea typeface="Aptos"/>
                <a:cs typeface="Aptos"/>
              </a:rPr>
              <a:t>definisi dan versi</a:t>
            </a:r>
            <a:endParaRPr sz="9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BD93BCC-5ACB-4B84-A2A7-2C5557E7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65176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7186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56DF47B-E203-4E86-80FF-6363F3A2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057400"/>
            <a:ext cx="1572768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8D83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2952DD1-2CFA-441F-AC5C-A734F459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258568"/>
            <a:ext cx="13533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Target tahunan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FB01951-3267-40C9-B1D8-8BDB011C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770632"/>
            <a:ext cx="13533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D7186"/>
                </a:solidFill>
                <a:latin typeface="Aptos"/>
                <a:ea typeface="Aptos"/>
                <a:cs typeface="Aptos"/>
              </a:rPr>
              <a:t>rencana capaian</a:t>
            </a:r>
            <a:endParaRPr sz="9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84E012F-7D1D-4010-9708-F7709879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265176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7186"/>
            </a:solidFill>
            <a:prstDash val="solid"/>
            <a:headEnd type="none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02A0429-B46E-4030-9DA6-61C29205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057400"/>
            <a:ext cx="1572768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7A61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8E7F97B-2ED9-495C-BE84-E62D2190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2258568"/>
            <a:ext cx="13533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Sumber dan realisasi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DEA7D59-AD5F-4CA8-9F65-398BD6D2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2770632"/>
            <a:ext cx="13533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D7186"/>
                </a:solidFill>
                <a:latin typeface="Aptos"/>
                <a:ea typeface="Aptos"/>
                <a:cs typeface="Aptos"/>
              </a:rPr>
              <a:t>data masuk setelah validasi</a:t>
            </a:r>
            <a:endParaRPr sz="9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F059544-7989-45F2-94A7-E5513EAA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60520"/>
            <a:ext cx="301752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47D75DD-2228-4F79-AE04-9ADF09F3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60520"/>
            <a:ext cx="731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D949021-0B46-4B7A-B330-2B1540D5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4325112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Aturan istilah</a:t>
            </a:r>
            <a:endParaRPr sz="15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A67BC8C-9CF5-4A29-9C45-03362019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4690872"/>
            <a:ext cx="2670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Fokus menjadi pengelompokan. Kategori atau isu menjadi unit yang dikelola.</a:t>
            </a:r>
            <a:endParaRPr sz="122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0DF2A1B-E8CD-4BB9-B195-8350CEEA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60520"/>
            <a:ext cx="301752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6BB8F3A7-23A8-4A68-A1F0-E673BAC5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60520"/>
            <a:ext cx="731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3249B3D-E607-4566-A9BE-D3950048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325112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Status</a:t>
            </a:r>
            <a:endParaRPr sz="15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EDCB718-41FB-49BF-91C7-C5535C55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690872"/>
            <a:ext cx="2670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Draft, review, verifikasi, approved, active, published.</a:t>
            </a:r>
            <a:endParaRPr sz="122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BA0FE04-C11D-4FC6-AAFA-7A02FFD3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160520"/>
            <a:ext cx="301752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5CAF3107-F211-4ECD-94C9-3AA002FF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160520"/>
            <a:ext cx="731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58A"/>
          </a:solidFill>
          <a:ln xmlns:a="http://schemas.openxmlformats.org/drawingml/2006/main"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7C36374-8352-4F72-BD70-FAC3FE91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4325112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Batas tahap ini</a:t>
            </a:r>
            <a:endParaRPr sz="15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50CACE2-D7CB-4F45-93F7-5070815C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4690872"/>
            <a:ext cx="2670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Master dan alur sudah disiapkan. Sinkronisasi dilakukan bertahap.</a:t>
            </a:r>
            <a:endParaRPr sz="1220"/>
          </a:p>
        </p:txBody>
      </p:sp>
    </p:spTree>
    <p:extLst>
      <p:ext uri="{BB962C8B-B14F-4D97-AF65-F5344CB8AC3E}">
        <p14:creationId xmlns:p14="http://schemas.microsoft.com/office/powerpoint/2010/main" val="1426733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C4234EC-FAD0-44A9-9BF6-E067D361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9272B9-0377-4B21-B587-4F95BA67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404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B2344"/>
                </a:solidFill>
                <a:latin typeface="Aptos Display"/>
                <a:ea typeface="Aptos Display"/>
                <a:cs typeface="Aptos Display"/>
              </a:rPr>
              <a:t>Peran dan fungsi yang diperbarui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76F2B6-8E26-4F9E-B5A0-063AB9A1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6112"/>
            <a:ext cx="10424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D7186"/>
                </a:solidFill>
                <a:latin typeface="Aptos"/>
                <a:ea typeface="Aptos"/>
                <a:cs typeface="Aptos"/>
              </a:rPr>
              <a:t>Keputusan substansi berada pada BAPPERIDA dan OPD pemilik</a:t>
            </a:r>
            <a:endParaRPr sz="11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C5DE48C-EDE9-4D76-B768-F5BBC6B3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760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D7186"/>
                </a:solidFill>
                <a:latin typeface="Aptos"/>
                <a:ea typeface="Aptos"/>
                <a:cs typeface="Aptos"/>
              </a:rPr>
              <a:t>SABABUKA BERSINAR · KABUPATEN KAPUAS</a:t>
            </a:r>
            <a:endParaRPr sz="7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2E77BD9-1884-4FEC-8DEE-2C8D5B9F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05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D40DDA3-AE31-4DD3-A17D-E97C2BB5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98448"/>
            <a:ext cx="205740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58A"/>
          </a:solidFill>
          <a:ln xmlns:a="http://schemas.openxmlformats.org/drawingml/2006/main"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552D101-2C62-46B3-97BA-65936C74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417320"/>
            <a:ext cx="17922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UPR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14F1DAA-F5D5-4874-AAF4-0B1925C8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1298448"/>
            <a:ext cx="854964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C6FBAD8-5F6F-4638-BD07-E5F909EF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417320"/>
            <a:ext cx="8001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Menyusun draft dari Matrix RPJMD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8F400AA-53C0-4F3B-A7DC-99F25EA7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84248"/>
            <a:ext cx="205740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9AAAB80-4D8B-4EF3-96B3-4788ACAF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03120"/>
            <a:ext cx="17922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BAPPERIDA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A0467FC-0BFB-41C1-84B9-E1AC5B49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1984248"/>
            <a:ext cx="854964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326A8D0-FCF3-44DE-A817-20F02F46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103120"/>
            <a:ext cx="8001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Menilai fokus, isu, indikator, target, dan kelayakan tayang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AD2F323-E7D3-4243-B09D-7403CD0F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70048"/>
            <a:ext cx="205740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39166A4-D681-42DC-BBEF-0356D0BF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88920"/>
            <a:ext cx="17922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OPD pemilik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34D31B0-8DAD-41BE-9D5A-3761D355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670048"/>
            <a:ext cx="854964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2B9E109-230A-4A7E-9171-2DDE003E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88920"/>
            <a:ext cx="8001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Memvalidasi kewenangan, definisi, sumber, dan nilai data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FF22261-53A9-48F3-A4E3-FFBAD91E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55848"/>
            <a:ext cx="205740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44"/>
          </a:solidFill>
          <a:ln xmlns:a="http://schemas.openxmlformats.org/drawingml/2006/main"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60DBFA0-0C2D-4079-B124-571C2BC1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74720"/>
            <a:ext cx="17922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4286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Pengelola sistem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B2EA005-410A-4C30-B2B3-B13CFE23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3355848"/>
            <a:ext cx="854964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7F9A12F-D51B-47A4-B3F8-E7EA8666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474720"/>
            <a:ext cx="8001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Menjaga layanan, keamanan, akun, dan reset demo</a:t>
            </a:r>
            <a:endParaRPr sz="13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98E9E8B-3C7D-4146-9115-5E57902E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41648"/>
            <a:ext cx="205740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186"/>
          </a:solidFill>
          <a:ln xmlns:a="http://schemas.openxmlformats.org/drawingml/2006/main" w="12700">
            <a:solidFill>
              <a:srgbClr val="5D7186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E459BC0-7E17-4A87-9728-88E5D675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60520"/>
            <a:ext cx="17922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Kominfo</a:t>
            </a:r>
            <a:endParaRPr sz="14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844B81A-30D7-44BB-9C79-F33643A7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4041648"/>
            <a:ext cx="854964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6BA7C70-DDE5-4115-950B-EB1A4435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160520"/>
            <a:ext cx="8001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Memantau layanan, alur data, dan keterbukaan dalam mode baca saja</a:t>
            </a:r>
            <a:endParaRPr sz="13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74CEB7A-45B4-465E-B7CA-AF26FA91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27448"/>
            <a:ext cx="205740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1"/>
          </a:solidFill>
          <a:ln xmlns:a="http://schemas.openxmlformats.org/drawingml/2006/main" w="12700">
            <a:solidFill>
              <a:srgbClr val="2D7A61">
                <a:alpha val="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26E535F-B6C5-4CB8-B653-E89DD764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846320"/>
            <a:ext cx="17922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Pimpinan</a:t>
            </a:r>
            <a:endParaRPr sz="14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79864E7-BFCB-464B-BA16-66BFBE44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4727448"/>
            <a:ext cx="854964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37BDEC2-905D-4E55-87F8-BFC23DC1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46320"/>
            <a:ext cx="8001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Membaca data yang telah disetujui dan dipublikasikan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8D204D0-95E3-42CF-84DA-30295F63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42432"/>
            <a:ext cx="10607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D7186"/>
                </a:solidFill>
                <a:latin typeface="Aptos"/>
                <a:ea typeface="Aptos"/>
                <a:cs typeface="Aptos"/>
              </a:rPr>
              <a:t>Validasi tetap dilakukan BAPPERIDA dan OPD pemilik. Kominfo memantau layanan dan status data dalam mode baca saja.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554466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043E1BF-D908-48FB-8F82-FF7A50DD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345E14-CF60-480B-82C9-26E7E2F5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404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B2344"/>
                </a:solidFill>
                <a:latin typeface="Aptos Display"/>
                <a:ea typeface="Aptos Display"/>
                <a:cs typeface="Aptos Display"/>
              </a:rPr>
              <a:t>Alur persetujuan indikator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CFE6AF1-845F-4891-91F2-8D16D90D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6112"/>
            <a:ext cx="10424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D7186"/>
                </a:solidFill>
                <a:latin typeface="Aptos"/>
                <a:ea typeface="Aptos"/>
                <a:cs typeface="Aptos"/>
              </a:rPr>
              <a:t>Persetujuan BAPPERIDA dan verifikasi OPD memiliki fungsi yang berbeda</a:t>
            </a:r>
            <a:endParaRPr sz="11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CAE3FED-BBA0-4154-B068-643531FD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760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D7186"/>
                </a:solidFill>
                <a:latin typeface="Aptos"/>
                <a:ea typeface="Aptos"/>
                <a:cs typeface="Aptos"/>
              </a:rPr>
              <a:t>SABABUKA BERSINAR · KABUPATEN KAPUAS</a:t>
            </a:r>
            <a:endParaRPr sz="7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1A98B49-D766-4C78-978A-C4D41818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06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7566E32-970C-4CEF-9BC8-FDC55FEE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41732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58A"/>
          </a:solidFill>
          <a:ln xmlns:a="http://schemas.openxmlformats.org/drawingml/2006/main"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EF6F255-D054-49BD-ADD4-41A31B4E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600200"/>
            <a:ext cx="65836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1343012-273D-444C-AE92-1FE86509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1746504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8E3EC"/>
            </a:solidFill>
            <a:prstDash val="solid"/>
            <a:tailEnd type="triangle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DE9A1D0-25E1-4861-B67A-24409DE3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59152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Draft UPR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A09EE2-B8BD-4E48-9B37-1A0F2A78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24912"/>
            <a:ext cx="18745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D7186"/>
                </a:solidFill>
                <a:latin typeface="Aptos"/>
                <a:ea typeface="Aptos"/>
                <a:cs typeface="Aptos"/>
              </a:rPr>
              <a:t>Matrix RPJMD menjadi bahan awal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7D48206-ABDF-4791-96A5-115683CF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141732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26BC877-D688-4606-A8B8-9539814B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1600200"/>
            <a:ext cx="65836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7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476696B-DC4F-4D5A-80D7-CB9AC973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376" y="1746504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8E3EC"/>
            </a:solidFill>
            <a:prstDash val="solid"/>
            <a:tailEnd type="triangle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5E2D88F-AC23-4055-B0AD-314C464A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359152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Review BAPPERIDA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F036E5F-FEA6-43C7-AFED-CE66FD8C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724912"/>
            <a:ext cx="18745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D7186"/>
                </a:solidFill>
                <a:latin typeface="Aptos"/>
                <a:ea typeface="Aptos"/>
                <a:cs typeface="Aptos"/>
              </a:rPr>
              <a:t>Menilai fokus, isu, indikator, dan target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D69D820-695D-4093-B7E9-0DE8A3AE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1732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25E1458-91ED-4267-8BFA-65298F6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600200"/>
            <a:ext cx="65836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7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AEA9EC2-348B-4537-B8D1-A5B8E7BE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46504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8E3EC"/>
            </a:solidFill>
            <a:prstDash val="solid"/>
            <a:tailEnd type="triangle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AFDE72F-41DE-4AA5-B57E-527B3E74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359152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Verifikasi OPD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BE8C9EC-DA3D-4647-BBDE-E86519D2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745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D7186"/>
                </a:solidFill>
                <a:latin typeface="Aptos"/>
                <a:ea typeface="Aptos"/>
                <a:cs typeface="Aptos"/>
              </a:rPr>
              <a:t>Memastikan definisi, sumber, dan operator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8F99F1F-91A1-492F-81C3-02AE5353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41732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A61"/>
          </a:solidFill>
          <a:ln xmlns:a="http://schemas.openxmlformats.org/drawingml/2006/main" w="12700">
            <a:solidFill>
              <a:srgbClr val="2D7A61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C4B448A-D5D3-4D49-A5BA-8C2968AE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600200"/>
            <a:ext cx="65836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7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CA4D1B1-38E2-4799-9D94-259DFA56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46504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8E3EC"/>
            </a:solidFill>
            <a:prstDash val="solid"/>
            <a:tailEnd type="triangle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AB4FED7-F20D-405F-9B5F-C36DE362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359152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Persetujuan akhir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37845AA-1619-4C29-BBFB-C8650D0F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724912"/>
            <a:ext cx="18745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D7186"/>
                </a:solidFill>
                <a:latin typeface="Aptos"/>
                <a:ea typeface="Aptos"/>
                <a:cs typeface="Aptos"/>
              </a:rPr>
              <a:t>BAPPERIDA menetapkan indikator aktif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F3AE4D7-DCD8-459B-97B7-CF6BA0C9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141732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344"/>
          </a:solidFill>
          <a:ln xmlns:a="http://schemas.openxmlformats.org/drawingml/2006/main"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07E4FCD-B87C-4C6F-A829-4F37F70F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1600200"/>
            <a:ext cx="65836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7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846DDED-0165-41B7-B837-0B71E833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359152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Data dan rilis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2B3BC20-C0D6-4762-959D-909F8084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724912"/>
            <a:ext cx="18745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D7186"/>
                </a:solidFill>
                <a:latin typeface="Aptos"/>
                <a:ea typeface="Aptos"/>
                <a:cs typeface="Aptos"/>
              </a:rPr>
              <a:t>Sumber masuk, diperiksa, lalu dipublikasikan</a:t>
            </a:r>
            <a:endParaRPr sz="10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675F787F-6B57-4B2B-A9E8-D23A970C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14800"/>
            <a:ext cx="31546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E4B70AB2-9085-4742-AFF3-A066F3EF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1480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23E"/>
          </a:solidFill>
          <a:ln xmlns:a="http://schemas.openxmlformats.org/drawingml/2006/main" w="12700">
            <a:solidFill>
              <a:srgbClr val="B3423E">
                <a:alpha val="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9C8C337-1B33-4336-8976-0948784D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279392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Jika tidak sesuai</a:t>
            </a:r>
            <a:endParaRPr sz="15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62A5C9F-13C4-4F19-96F1-CFE56DBB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645152"/>
            <a:ext cx="280720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BAPPERIDA mengembalikan atau menolak dengan catatan.</a:t>
            </a:r>
            <a:endParaRPr sz="122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9C18695-BBA0-4FBF-99BC-EBB6F5BB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114800"/>
            <a:ext cx="31546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CBB7217-806C-40BD-89E1-53AB79C1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11480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CBF25A2-F2FD-4524-8DFD-523399A0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4279392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Jika teknis belum siap</a:t>
            </a:r>
            <a:endParaRPr sz="15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48A05A3-4922-4A54-9A19-9A327A5A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4645152"/>
            <a:ext cx="280720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OPD mengembalikan kepada BAPPERIDA dengan koreksi sumber.</a:t>
            </a:r>
            <a:endParaRPr sz="122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346968CF-1AAA-4417-B25E-52E38206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114800"/>
            <a:ext cx="31546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EE833CA-48C9-4F50-BDD2-F4A1B304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11480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1"/>
          </a:solidFill>
          <a:ln xmlns:a="http://schemas.openxmlformats.org/drawingml/2006/main" w="12700">
            <a:solidFill>
              <a:srgbClr val="2D7A61">
                <a:alpha val="0"/>
              </a:srgbClr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AC07DBBF-BE98-4AB4-8349-40793C2A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4279392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Jika sudah lengkap</a:t>
            </a:r>
            <a:endParaRPr sz="15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90FC45F3-A7F1-42DF-A5F8-96DE8B32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4645152"/>
            <a:ext cx="280720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Master aktif dan data dapat masuk antrean pemeriksaan.</a:t>
            </a:r>
            <a:endParaRPr sz="1220"/>
          </a:p>
        </p:txBody>
      </p:sp>
    </p:spTree>
    <p:extLst>
      <p:ext uri="{BB962C8B-B14F-4D97-AF65-F5344CB8AC3E}">
        <p14:creationId xmlns:p14="http://schemas.microsoft.com/office/powerpoint/2010/main" val="4854394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A79C40-A484-45D7-BE70-19374FC3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C0BE59-A425-4376-A2E3-F5BD5CFB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404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B2344"/>
                </a:solidFill>
                <a:latin typeface="Aptos Display"/>
                <a:ea typeface="Aptos Display"/>
                <a:cs typeface="Aptos Display"/>
              </a:rPr>
              <a:t>Skenario simulasi lintas dashboard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6F551C4-7A07-4059-9F57-7F793193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6112"/>
            <a:ext cx="10424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D7186"/>
                </a:solidFill>
                <a:latin typeface="Aptos"/>
                <a:ea typeface="Aptos"/>
                <a:cs typeface="Aptos"/>
              </a:rPr>
              <a:t>Satu indikator diproses dari draft sampai terlihat oleh Pimpinan</a:t>
            </a:r>
            <a:endParaRPr sz="11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2FC3D0E-51E1-4B50-9B5A-ACF13126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760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D7186"/>
                </a:solidFill>
                <a:latin typeface="Aptos"/>
                <a:ea typeface="Aptos"/>
                <a:cs typeface="Aptos"/>
              </a:rPr>
              <a:t>SABABUKA BERSINAR · KABUPATEN KAPUAS</a:t>
            </a:r>
            <a:endParaRPr sz="7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82CA132-5C73-42BD-8EFF-36F5B3D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07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5C56288-41BA-4A53-944F-29BEF3E1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34440"/>
            <a:ext cx="11430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2D7B6AF-03AB-4BCF-BA9F-25102A56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271016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CONTOH DEMO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1B9795B-3403-493D-BA35-A871C8F1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271016"/>
            <a:ext cx="9509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Ketahanan Pangan Daerah · Ketersediaan Pangan · Indeks Ketahanan Pangan</a:t>
            </a:r>
            <a:endParaRPr sz="15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8F5CAB1-C9CD-46A8-8C96-0F1F2383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324612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7558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E5264C7-1B3D-4A5D-AB4D-588CE930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134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58A"/>
          </a:solidFill>
          <a:ln xmlns:a="http://schemas.openxmlformats.org/drawingml/2006/main"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971ED0D-82E6-4015-9436-255AEDEF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414016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23B8459-0680-4C20-9D1A-30FE18AB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267712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UPR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7272E12-7FB1-4904-A1AD-A4957386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51176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D7186"/>
                </a:solidFill>
                <a:latin typeface="Aptos"/>
                <a:ea typeface="Aptos"/>
                <a:cs typeface="Aptos"/>
              </a:rPr>
              <a:t>membuat draft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90D64A1-90C0-4C40-8EFF-CABDFCF0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057400"/>
            <a:ext cx="324612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8D83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E5C5FB3-15E1-466F-A750-FD3656CF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3134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7316571-AACE-4B0C-9EE4-B90A8F2F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414016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4904DFB-808E-42FE-848B-56B1904F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267712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BAPPERIDA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FEB529C-300D-412B-9F44-C8813902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551176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D7186"/>
                </a:solidFill>
                <a:latin typeface="Aptos"/>
                <a:ea typeface="Aptos"/>
                <a:cs typeface="Aptos"/>
              </a:rPr>
              <a:t>menyetujui kategori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693CB7F-526B-4DAF-901D-4F88FE52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057400"/>
            <a:ext cx="324612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7A22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599D13E-6199-47D4-8D20-6D609324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3134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1FB105A-ACDB-4A11-8C28-D7111041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414016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A17CBAF-09B8-4EFA-9630-F9236B04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2267712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DKPP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2DF8B13-D717-4EEF-A3CD-854AC676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2551176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D7186"/>
                </a:solidFill>
                <a:latin typeface="Aptos"/>
                <a:ea typeface="Aptos"/>
                <a:cs typeface="Aptos"/>
              </a:rPr>
              <a:t>memvalidasi teknis</a:t>
            </a:r>
            <a:endParaRPr sz="11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C26242A-9477-466F-AD23-C4829D8A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324612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2344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3F99EE6-D179-4F10-A142-3903B4A4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221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344"/>
          </a:solidFill>
          <a:ln xmlns:a="http://schemas.openxmlformats.org/drawingml/2006/main"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B087DF6-C23E-45B7-9E56-CF843A24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922776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36A5437-24BA-4BCF-ACCF-C8AB77EA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776472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Tim teknis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5E41C66-1DE6-4FFA-B444-3B1A9364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059936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D7186"/>
                </a:solidFill>
                <a:latin typeface="Aptos"/>
                <a:ea typeface="Aptos"/>
                <a:cs typeface="Aptos"/>
              </a:rPr>
              <a:t>menyiapkan mapping sumber</a:t>
            </a:r>
            <a:endParaRPr sz="11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D5190F5-E96C-4204-AE7F-528AE16A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566160"/>
            <a:ext cx="324612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7A61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8EC7D62-6026-4477-A5CC-CAAB701C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8221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A61"/>
          </a:solidFill>
          <a:ln xmlns:a="http://schemas.openxmlformats.org/drawingml/2006/main" w="12700">
            <a:solidFill>
              <a:srgbClr val="2D7A61">
                <a:alpha val="0"/>
              </a:srgbClr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8FF329C-94BB-4989-9380-F58CA5DC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922776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1FC135D-5443-4689-8179-1ABDC905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3776472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BAPPERIDA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617BEB3-87AE-412F-8280-3D87FECA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4059936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D7186"/>
                </a:solidFill>
                <a:latin typeface="Aptos"/>
                <a:ea typeface="Aptos"/>
                <a:cs typeface="Aptos"/>
              </a:rPr>
              <a:t>menyetujui data</a:t>
            </a:r>
            <a:endParaRPr sz="11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A012603-1C0C-4142-BEC9-1C484943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0"/>
            <a:ext cx="324612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7558A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32563CE-58D9-44FF-824C-C5D6865D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8221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58A"/>
          </a:solidFill>
          <a:ln xmlns:a="http://schemas.openxmlformats.org/drawingml/2006/main"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CD5719F-B603-45C9-890A-2B1DA4A1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922776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endParaRPr sz="10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8125DBB4-9754-42DF-9D9F-C45D2F79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3776472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Pimpinan</a:t>
            </a:r>
            <a:endParaRPr sz="13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D571AE41-E9E2-4249-B86D-00D1B2AA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059936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D7186"/>
                </a:solidFill>
                <a:latin typeface="Aptos"/>
                <a:ea typeface="Aptos"/>
                <a:cs typeface="Aptos"/>
              </a:rPr>
              <a:t>melihat rilis</a:t>
            </a:r>
            <a:endParaRPr sz="11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5055DF4-FE76-4556-85B6-8D99C679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3423E"/>
                </a:solidFill>
                <a:latin typeface="Aptos"/>
                <a:ea typeface="Aptos"/>
                <a:cs typeface="Aptos"/>
              </a:rPr>
              <a:t>Paket demo dapat di-reset setelah latihan tanpa menghapus master resmi.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8008297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5F5C01-CCC9-44CB-980F-6AC8BF62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FDCFAAC-EF5E-48DB-A572-C137FE61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404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B2344"/>
                </a:solidFill>
                <a:latin typeface="Aptos Display"/>
                <a:ea typeface="Aptos Display"/>
                <a:cs typeface="Aptos Display"/>
              </a:rPr>
              <a:t>Validasi data sebelum tayang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10E1945-3138-4BA2-83B1-D8B5958D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6112"/>
            <a:ext cx="10424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D7186"/>
                </a:solidFill>
                <a:latin typeface="Aptos"/>
                <a:ea typeface="Aptos"/>
                <a:cs typeface="Aptos"/>
              </a:rPr>
              <a:t>BAPPERIDA memutuskan data mana yang siap dipublikasikan</a:t>
            </a:r>
            <a:endParaRPr sz="11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461690-CD04-4EDF-B514-47D8F7B7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760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D7186"/>
                </a:solidFill>
                <a:latin typeface="Aptos"/>
                <a:ea typeface="Aptos"/>
                <a:cs typeface="Aptos"/>
              </a:rPr>
              <a:t>SABABUKA BERSINAR · KABUPATEN KAPUAS</a:t>
            </a:r>
            <a:endParaRPr sz="7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EEA5E8A-93CE-4D1B-8481-B5141053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08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EAFF6A-5CAE-4ACC-BE37-C84015FE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Sumber masuk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0995A12-891E-497F-A7D2-B8565F1E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91640"/>
            <a:ext cx="16002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7D2B2FF-BBFC-41F2-BF9C-DF402915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28216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Satu Data Kapuas</a:t>
            </a:r>
            <a:endParaRPr sz="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FC076D8-51BC-48C3-A5FF-0CFAC457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21408"/>
            <a:ext cx="16002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FF4735C-05BE-415C-BF81-04A387DA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57984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BPS</a:t>
            </a:r>
            <a:endParaRPr sz="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169269C-6EB9-4C07-8245-F838796E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51176"/>
            <a:ext cx="16002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267B03F-6E22-4D00-8CD2-CC5523B5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587752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Unggah OPD</a:t>
            </a:r>
            <a:endParaRPr sz="9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4443C2C-4F37-4974-AAC1-3AA36F91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80944"/>
            <a:ext cx="16002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A6BE700-C038-4870-949A-988AB84A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175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 manual</a:t>
            </a:r>
            <a:endParaRPr sz="9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D193CDC-3BB7-4361-B4CB-8280BCED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14600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8E3EC"/>
            </a:solidFill>
            <a:prstDash val="solid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A639B7B-50C4-4145-A2B4-7E45D6D0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463040"/>
            <a:ext cx="25146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9D44FB5-A733-4303-8700-420CFEBF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46304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F4F4561-B767-4E05-A131-3128041C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162763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Validasi sistem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DE72430-487D-4F26-B75C-8D705C39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1993392"/>
            <a:ext cx="2167128" cy="1490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Tahun dan wilayah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Satuan dan tipe nilai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Kelengkapan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Duplikasi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Rentang nilai</a:t>
            </a:r>
            <a:endParaRPr sz="122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860D785-805E-41D4-B1A7-365D3DB1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14600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8E3EC"/>
            </a:solidFill>
            <a:prstDash val="solid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D51E896-6023-41AC-B72D-E26E2DFB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463040"/>
            <a:ext cx="352044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B62811E-1760-44B8-8DD5-0F98C62D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46304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B2CD0E-A843-47E6-8406-BB10F7CE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1627632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Keputusan BAPPERIDA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EF799F1-779D-42E2-87A8-B439BF79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1993392"/>
            <a:ext cx="3172968" cy="1490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Setujui untuk publikasi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Kembalikan untuk koreksi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Tolak dengan catatan</a:t>
            </a:r>
            <a:endParaRPr sz="1220"/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Simpan sumber dan waktu pengambilan</a:t>
            </a:r>
            <a:endParaRPr sz="122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49F7E68-7460-4932-B0E3-8CE53510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0520"/>
            <a:ext cx="2834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Yang diperiksa BAPPERIDA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0F37132-EDE0-4CAB-9E60-084E0BE1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2628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5D7186"/>
                </a:solidFill>
                <a:latin typeface="Aptos"/>
                <a:ea typeface="Aptos"/>
                <a:cs typeface="Aptos"/>
              </a:rPr>
              <a:t>Indikator dan versinya · sumber dan URL · periode · wilayah · satuan · status OPD · kewajaran nilai · kesesuaian target</a:t>
            </a:r>
            <a:endParaRPr sz="16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B5495C9-0366-4674-9437-738CBC1E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7784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3423E"/>
                </a:solidFill>
                <a:latin typeface="Aptos"/>
                <a:ea typeface="Aptos"/>
                <a:cs typeface="Aptos"/>
              </a:rPr>
              <a:t>Data yang belum disetujui tidak masuk publikasi pimpinan.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3552150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F0D136-02BF-4394-82B1-D4DFAD5A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7E70E2-6901-4FB0-B0E5-0A8517D4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404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B2344"/>
                </a:solidFill>
                <a:latin typeface="Aptos Display"/>
                <a:ea typeface="Aptos Display"/>
                <a:cs typeface="Aptos Display"/>
              </a:rPr>
              <a:t>Jika OPD belum punya dataset atau website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B1507F0-030B-4E68-B0E1-BF2F8D9E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6112"/>
            <a:ext cx="10424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D7186"/>
                </a:solidFill>
                <a:latin typeface="Aptos"/>
                <a:ea typeface="Aptos"/>
                <a:cs typeface="Aptos"/>
              </a:rPr>
              <a:t>Ketiadaan API tidak menghalangi OPD menjadi pemilik indikator</a:t>
            </a:r>
            <a:endParaRPr sz="11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DAB20B-A755-4436-B4E4-2982161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760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D7186"/>
                </a:solidFill>
                <a:latin typeface="Aptos"/>
                <a:ea typeface="Aptos"/>
                <a:cs typeface="Aptos"/>
              </a:rPr>
              <a:t>SABABUKA BERSINAR · KABUPATEN KAPUAS</a:t>
            </a:r>
            <a:endParaRPr sz="7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5F7230-30B9-47F6-AF3C-4C3CB4E1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09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70777CD-A409-4AB7-9E67-868C203A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0292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8A0CE76-C43D-4692-BFB4-C73DCDAA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58A"/>
          </a:solidFill>
          <a:ln xmlns:a="http://schemas.openxmlformats.org/drawingml/2006/main"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4F3952-B701-4214-AA06-3836CD8C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81912"/>
            <a:ext cx="4709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Form SABABUKA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2D670D2-5214-4BCD-9D90-61EF7C8A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46817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Input capaian dan keterangan sumber</a:t>
            </a:r>
            <a:endParaRPr sz="12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3D26333-814F-400D-9055-30F6676A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50292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596D37A-6912-4800-96A6-1EB611C9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A478DE-F576-48EA-BE31-AC5EF1D0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81912"/>
            <a:ext cx="4709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CSV atau XLSX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B031B0F-4816-464A-89B8-E13DE16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947672"/>
            <a:ext cx="46817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Template terstruktur dengan periode dan satuan</a:t>
            </a:r>
            <a:endParaRPr sz="12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C6C1B74-CDC8-461C-B71F-F96EF4FD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50292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8D86127-07DE-42BB-818A-B7947C8C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E0D8545-F12E-4B64-BE14-CE4B6DB2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999232"/>
            <a:ext cx="4709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Dokumen resmi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F72782D-A0B2-476D-AB2E-1CCEEC62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364992"/>
            <a:ext cx="46817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Berkas yang disahkan OPD dan dapat ditelusuri</a:t>
            </a:r>
            <a:endParaRPr sz="122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7ECAEE2-02F5-4E38-8F9F-5B6BFF09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4640"/>
            <a:ext cx="50292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D191118-2DB7-49BD-9C6F-30D06D32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464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1"/>
          </a:solidFill>
          <a:ln xmlns:a="http://schemas.openxmlformats.org/drawingml/2006/main" w="12700">
            <a:solidFill>
              <a:srgbClr val="2D7A61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7724727-DBE1-4D9A-8067-F4CCDFAE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999232"/>
            <a:ext cx="4709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Sumber resmi lain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26561BC-D068-46B3-8ACA-296C9DAF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364992"/>
            <a:ext cx="46817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BPS atau dataset yang disepakati kemudian</a:t>
            </a:r>
            <a:endParaRPr sz="12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4C18A03-D88A-4369-9A95-2B2F71BD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0916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Setiap data tetap membutuhkan pemilik, periode, satuan, wilayah, waktu pembaruan, dan status verifikasi.</a:t>
            </a:r>
            <a:endParaRPr sz="16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C27C85-783C-4142-A5A5-787A9F1F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3492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D7186"/>
                </a:solidFill>
                <a:latin typeface="Aptos"/>
                <a:ea typeface="Aptos"/>
                <a:cs typeface="Aptos"/>
              </a:rPr>
              <a:t>Sumber diberi label: Manual OPD · Dokumen resmi OPD · Satu Data Kapuas · BPS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8023676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00BA00-E1AA-4B87-AEB1-5B4E6149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00875C-A896-4489-B992-0F4A25D1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404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B2344"/>
                </a:solidFill>
                <a:latin typeface="Aptos Display"/>
                <a:ea typeface="Aptos Display"/>
                <a:cs typeface="Aptos Display"/>
              </a:rPr>
              <a:t>Konfirmasi organisasi dan kontak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70506C-E787-461B-837D-F6ABB57A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6112"/>
            <a:ext cx="10424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D7186"/>
                </a:solidFill>
                <a:latin typeface="Aptos"/>
                <a:ea typeface="Aptos"/>
                <a:cs typeface="Aptos"/>
              </a:rPr>
              <a:t>Daftar organisasi perlu disepakati sebelum pemetaan indikator diperluas</a:t>
            </a:r>
            <a:endParaRPr sz="11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5D0DFB3-AC29-40B6-B866-81179D3D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760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D7186"/>
                </a:solidFill>
                <a:latin typeface="Aptos"/>
                <a:ea typeface="Aptos"/>
                <a:cs typeface="Aptos"/>
              </a:rPr>
              <a:t>SABABUKA BERSINAR · KABUPATEN KAPUAS</a:t>
            </a:r>
            <a:endParaRPr sz="7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C92732E-AF24-4490-BBB5-EB6CD260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10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AC48FCB-628D-4929-AA37-FC1EB970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89888"/>
            <a:ext cx="3337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44"/>
          </a:solidFill>
          <a:ln xmlns:a="http://schemas.openxmlformats.org/drawingml/2006/main"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5895CBA-A5B7-40E4-9BFF-308A7D7F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527048"/>
            <a:ext cx="3118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Organisasi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D1C3C66-DF2B-476A-865B-FD564306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389888"/>
            <a:ext cx="1417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44"/>
          </a:solidFill>
          <a:ln xmlns:a="http://schemas.openxmlformats.org/drawingml/2006/main"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2A7E91F-F27E-4D12-9984-3A004FF8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527048"/>
            <a:ext cx="119786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Jenis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A19916F-F939-49A3-B7DD-3484B602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389888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44"/>
          </a:solidFill>
          <a:ln xmlns:a="http://schemas.openxmlformats.org/drawingml/2006/main"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EC1C863-02F5-4687-8DEC-63A241F4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1527048"/>
            <a:ext cx="1975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D36A8AC-C048-473B-BF43-91F70836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89888"/>
            <a:ext cx="4297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44"/>
          </a:solidFill>
          <a:ln xmlns:a="http://schemas.openxmlformats.org/drawingml/2006/main"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297FEE4-8817-46DC-9C7F-7C74CD13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1527048"/>
            <a:ext cx="4078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Catatan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F0A7C4D-F40A-4C96-814F-20193ACA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47088"/>
            <a:ext cx="3337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1ADAFFF-120E-43EF-9F6C-23C787F1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993392"/>
            <a:ext cx="3118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17324D"/>
                </a:solidFill>
                <a:latin typeface="Aptos"/>
                <a:ea typeface="Aptos"/>
                <a:cs typeface="Aptos"/>
              </a:rPr>
              <a:t>Dinas contoh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2B50345-DC3B-4204-85E9-35B2CAD4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847088"/>
            <a:ext cx="14173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007F35F-2104-408B-8E48-E6B7869D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993392"/>
            <a:ext cx="119786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17324D"/>
                </a:solidFill>
                <a:latin typeface="Aptos"/>
                <a:ea typeface="Aptos"/>
                <a:cs typeface="Aptos"/>
              </a:rPr>
              <a:t>OPD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116E4BF-0561-47A9-9D1B-7968AD65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847088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E45EAD8-B5B9-46B6-BAC1-A2F27741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1993392"/>
            <a:ext cx="1975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17324D"/>
                </a:solidFill>
                <a:latin typeface="Aptos"/>
                <a:ea typeface="Aptos"/>
                <a:cs typeface="Aptos"/>
              </a:rPr>
              <a:t>Menunggu konfirmasi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DA0E7DB-4070-409A-89B1-49D4CE98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47088"/>
            <a:ext cx="4297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7A660FE-9DEA-440C-A7EA-C7D8421A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1993392"/>
            <a:ext cx="4078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17324D"/>
                </a:solidFill>
                <a:latin typeface="Aptos"/>
                <a:ea typeface="Aptos"/>
                <a:cs typeface="Aptos"/>
              </a:rPr>
              <a:t>Pastikan masuk atau dikeluarkan</a:t>
            </a:r>
            <a:endParaRPr sz="10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EEB2596-3E3B-4E83-A7B0-97D669E4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77440"/>
            <a:ext cx="3337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6537537-71BF-427C-8C6B-05A81852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523744"/>
            <a:ext cx="3118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17324D"/>
                </a:solidFill>
                <a:latin typeface="Aptos"/>
                <a:ea typeface="Aptos"/>
                <a:cs typeface="Aptos"/>
              </a:rPr>
              <a:t>Kecamatan contoh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C41F8D3-9937-45A9-A19E-83EDA467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377440"/>
            <a:ext cx="14173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D825C78-7685-4DCC-8211-5AB397D9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523744"/>
            <a:ext cx="119786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17324D"/>
                </a:solidFill>
                <a:latin typeface="Aptos"/>
                <a:ea typeface="Aptos"/>
                <a:cs typeface="Aptos"/>
              </a:rPr>
              <a:t>Kecamatan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A0B1C2F-85BD-41C1-9113-ED8CD36D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377440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2BF69FD-53CB-4D81-9B96-C32ECA43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2523744"/>
            <a:ext cx="1975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17324D"/>
                </a:solidFill>
                <a:latin typeface="Aptos"/>
                <a:ea typeface="Aptos"/>
                <a:cs typeface="Aptos"/>
              </a:rPr>
              <a:t>Terdaftar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859A292-65BA-41B2-908B-4DF846E1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77440"/>
            <a:ext cx="4297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E8A7184-87BB-4899-83C4-4674FD07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2523744"/>
            <a:ext cx="4078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17324D"/>
                </a:solidFill>
                <a:latin typeface="Aptos"/>
                <a:ea typeface="Aptos"/>
                <a:cs typeface="Aptos"/>
              </a:rPr>
              <a:t>Pisahkan dari daftar OPD</a:t>
            </a:r>
            <a:endParaRPr sz="10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A9A0A3E-559D-45EF-AD40-68C0DF07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07792"/>
            <a:ext cx="3337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F1A8B23-4C0C-4FF8-9945-000991F8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54096"/>
            <a:ext cx="3118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17324D"/>
                </a:solidFill>
                <a:latin typeface="Aptos"/>
                <a:ea typeface="Aptos"/>
                <a:cs typeface="Aptos"/>
              </a:rPr>
              <a:t>Organisasi contoh</a:t>
            </a:r>
            <a:endParaRPr sz="10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997DE4B-AA41-4603-86B4-6DC76445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907792"/>
            <a:ext cx="14173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DF7A94C-E2DC-4B83-B1DC-CA12A16C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054096"/>
            <a:ext cx="119786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17324D"/>
                </a:solidFill>
                <a:latin typeface="Aptos"/>
                <a:ea typeface="Aptos"/>
                <a:cs typeface="Aptos"/>
              </a:rPr>
              <a:t>OPD</a:t>
            </a:r>
            <a:endParaRPr sz="10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157A40CF-942F-42DE-BF35-8CAA0DDB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907792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822B127-F00F-4600-A85B-BA4F98E1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054096"/>
            <a:ext cx="1975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17324D"/>
                </a:solidFill>
                <a:latin typeface="Aptos"/>
                <a:ea typeface="Aptos"/>
                <a:cs typeface="Aptos"/>
              </a:rPr>
              <a:t>Perlu koreksi</a:t>
            </a:r>
            <a:endParaRPr sz="10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E9EE49D-EFCA-49C0-9639-CB068A71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07792"/>
            <a:ext cx="4297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FD10694-E835-4554-9931-193C0B6C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3054096"/>
            <a:ext cx="4078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17324D"/>
                </a:solidFill>
                <a:latin typeface="Aptos"/>
                <a:ea typeface="Aptos"/>
                <a:cs typeface="Aptos"/>
              </a:rPr>
              <a:t>Periksa kode dan nama resmi</a:t>
            </a:r>
            <a:endParaRPr sz="10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BD006654-FB40-4CE6-8219-7A243593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Pilihan status: Masuk · Tidak masuk · Perlu koreksi · Perlu digabung · Menunggu forum</a:t>
            </a:r>
            <a:endParaRPr sz="140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B178059D-23BB-4BC2-BA59-3A23FED8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572000"/>
            <a:ext cx="36576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961827E-C19C-4B60-82B8-7317316D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57200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0BD3A6C-2ED6-44A2-B37B-D3BC4F73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4736592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Form OPD</a:t>
            </a:r>
            <a:endParaRPr sz="15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63F8048-EA38-4EAC-A986-5F14B9FD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5102352"/>
            <a:ext cx="33101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Website, portal data, PIC, operator, kontak resmi, dan kebutuhan integrasi.</a:t>
            </a:r>
            <a:endParaRPr sz="122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64B46A1-969D-439F-93F3-14C4B594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36576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C"/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91A59D10-7D56-459C-A38D-8348B445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BA5E89BF-13D7-46CF-BB92-0F62F17E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736592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0B2344"/>
                </a:solidFill>
                <a:latin typeface="Aptos"/>
                <a:ea typeface="Aptos"/>
                <a:cs typeface="Aptos"/>
              </a:rPr>
              <a:t>Koordinasi</a:t>
            </a:r>
            <a:endParaRPr sz="15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19770135-A9F3-4BDA-B702-9BB3811F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102352"/>
            <a:ext cx="33101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5D7186"/>
                </a:solidFill>
                <a:latin typeface="Aptos"/>
                <a:ea typeface="Aptos"/>
                <a:cs typeface="Aptos"/>
              </a:rPr>
              <a:t>URL grup resmi dan QR code ditampilkan setelah link dikonfirmasi.</a:t>
            </a:r>
            <a:endParaRPr sz="1220"/>
          </a:p>
        </p:txBody>
      </p:sp>
    </p:spTree>
    <p:extLst>
      <p:ext uri="{BB962C8B-B14F-4D97-AF65-F5344CB8AC3E}">
        <p14:creationId xmlns:p14="http://schemas.microsoft.com/office/powerpoint/2010/main" val="1873349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0AF594-27FA-4C65-8FDB-C62CD52D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AADECDD-0C99-44E8-9307-66D45785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404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B2344"/>
                </a:solidFill>
                <a:latin typeface="Aptos Display"/>
                <a:ea typeface="Aptos Display"/>
                <a:cs typeface="Aptos Display"/>
              </a:rPr>
              <a:t>Keputusan forum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3BB7F9-EB4D-4DEF-AD1C-27E41EF4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6112"/>
            <a:ext cx="10424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D7186"/>
                </a:solidFill>
                <a:latin typeface="Aptos"/>
                <a:ea typeface="Aptos"/>
                <a:cs typeface="Aptos"/>
              </a:rPr>
              <a:t>Hasil forum menentukan isi master dan urutan integrasi</a:t>
            </a:r>
            <a:endParaRPr sz="11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CD69E2-E2C6-46E6-9BD2-FB2CBF37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760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D7186"/>
                </a:solidFill>
                <a:latin typeface="Aptos"/>
                <a:ea typeface="Aptos"/>
                <a:cs typeface="Aptos"/>
              </a:rPr>
              <a:t>SABABUKA BERSINAR · KABUPATEN KAPUAS</a:t>
            </a:r>
            <a:endParaRPr sz="7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40BBFA0-06D7-4476-B91D-D4C6ABBC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11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27DA568-7AF5-4AA1-9A10-BEFFFAC2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6245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E1FCF11-5F1F-4FB5-897A-D0A9E5A7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35608"/>
            <a:ext cx="29260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5CE5C13-9ED3-4DE0-B02F-DABB0C92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380744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OPD dan kecamatan yang masuk SABABUKA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50B63FC-B89A-408F-A2F8-AEF4EDCD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36245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8E1444E-98E5-441E-B1A7-2568B68D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35608"/>
            <a:ext cx="29260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572C5C2-34E2-4202-B8C7-396CED03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1380744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Fokus dan kategori strategis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1AAE3C6-5E09-4F27-873F-AACABF2F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3113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2AEDDAA-0DEF-4E5E-BE53-9A832784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04288"/>
            <a:ext cx="29260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7E06C66-C0FC-448F-8E4A-794142ED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249424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Indikator pilot dan OPD pemilik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4F683DF-0C7B-4530-AE14-51B5FB06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3113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C4D49B3-D93F-479E-B51D-39F3CB4A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04288"/>
            <a:ext cx="29260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FAB12D3-E16F-4CB4-9ED8-89F33946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249424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Bidang, PIC, dan operator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601A4EF-E778-4F79-BFFE-A0C28429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9981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A8F9E9-EB98-440C-83DA-435A9A5E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72968"/>
            <a:ext cx="29260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99A9504-7E3D-4B46-855F-DA453879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118104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Sumber data serta jadwal pembaruan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28E5C34-75BA-455E-A7E3-84548389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09981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222C4D9-296E-480E-83AB-FDF53D3A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72968"/>
            <a:ext cx="29260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8C1D4F1-B7FC-457D-83D7-1C7076E8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118104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Batas data untuk dashboard pimpinan</a:t>
            </a:r>
            <a:endParaRPr sz="13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CE7C4B7-19CC-4B32-AC3D-0840B065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6849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57A0BBF-C9B8-43D1-AEED-7276F8FC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41648"/>
            <a:ext cx="29260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  <a:endParaRPr sz="8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AAFCF3A-E86E-49CE-BCA2-BBAED38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986784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Dataset Satu Data dan rujukan BPS</a:t>
            </a:r>
            <a:endParaRPr sz="13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6FC2E8B-582F-4568-9F0B-4B3A3277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6849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2"/>
          </a:solidFill>
          <a:ln xmlns:a="http://schemas.openxmlformats.org/drawingml/2006/main"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CE08EE9-2076-45AC-A2F8-9EB8E30A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041648"/>
            <a:ext cx="29260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  <a:endParaRPr sz="8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5D7A7C7-115B-4BDF-B2D1-334F8059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986784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7324D"/>
                </a:solidFill>
                <a:latin typeface="Aptos"/>
                <a:ea typeface="Aptos"/>
                <a:cs typeface="Aptos"/>
              </a:rPr>
              <a:t>URL grup koordinasi dan persetujuan simulasi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CA8983C-2C8C-4BE7-A210-DBF6D1F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7558A"/>
                </a:solidFill>
                <a:latin typeface="Aptos"/>
                <a:ea typeface="Aptos"/>
                <a:cs typeface="Aptos"/>
              </a:rPr>
              <a:t>Keputusan forum menjadi dasar perubahan status draft menjadi master resmi.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0642301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23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8CE8433-60B6-4E92-8B3A-FB5F0361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3"/>
          </a:solidFill>
          <a:ln xmlns:a="http://schemas.openxmlformats.org/drawingml/2006/main"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2CAF5C-7DD8-4309-99F1-2602E321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1440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8EE2D9"/>
                </a:solidFill>
                <a:latin typeface="Aptos"/>
                <a:ea typeface="Aptos"/>
                <a:cs typeface="Aptos"/>
              </a:rPr>
              <a:t>SABABUKA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D0082D5-B993-4547-B9F7-BCDEA851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813816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Fondasi sudah disiapkan.</a:t>
            </a:r>
            <a:endParaRPr sz="3000"/>
          </a:p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Tahap berikutnya adalah</a:t>
            </a:r>
            <a:endParaRPr sz="3000"/>
          </a:p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menetapkan master dan sumber resmi.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34E1D4-DF2E-4235-957A-5CE87098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43400"/>
            <a:ext cx="7772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C9D8E7"/>
                </a:solidFill>
                <a:latin typeface="Aptos"/>
                <a:ea typeface="Aptos"/>
                <a:cs typeface="Aptos"/>
              </a:rPr>
              <a:t>BAPPERIDA menetapkan arah dan kelayakan. OPD memastikan data. Sistem menjaga alur dan bukti.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8330DFD-CECB-4716-8D87-F0C37546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9496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Terima kasih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75E96B0-7EEC-4315-B212-3B948B36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806440"/>
            <a:ext cx="3749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C9D8E7"/>
                </a:solidFill>
                <a:latin typeface="Aptos"/>
                <a:ea typeface="Aptos"/>
                <a:cs typeface="Aptos"/>
              </a:rPr>
              <a:t>Kabupaten Kapuas · 9 Oktober 2026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955616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2026-10-08T18:16:16.6050000Z</dcterms:created>
  <dcterms:modified xsi:type="dcterms:W3CDTF">2026-10-08T18:16:16.6050000Z</dcterms:modified>
</coreProperties>
</file>