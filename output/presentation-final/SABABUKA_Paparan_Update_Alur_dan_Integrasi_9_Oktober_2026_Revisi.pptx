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4fd2b0cba3450e" /><Relationship Type="http://schemas.openxmlformats.org/officeDocument/2006/relationships/extended-properties" Target="/docProps/app.xml" Id="R8ea68c39f0674e88" /><Relationship Type="http://schemas.openxmlformats.org/officeDocument/2006/relationships/officeDocument" Target="/ppt/presentation.xml" Id="R1dd36ac2a4444c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a3f90aefc043fe"/>
  </p:sldMasterIdLst>
  <p:notesMasterIdLst>
    <p:notesMasterId xmlns:r="http://schemas.openxmlformats.org/officeDocument/2006/relationships" r:id="R4a8633e837154f61"/>
  </p:notesMasterIdLst>
  <p:sldIdLst>
    <p:sldId xmlns:r="http://schemas.openxmlformats.org/officeDocument/2006/relationships" id="256" r:id="R6557c10a4ec3444e"/>
    <p:sldId xmlns:r="http://schemas.openxmlformats.org/officeDocument/2006/relationships" id="257" r:id="Rf953ed07c60d4acc"/>
    <p:sldId xmlns:r="http://schemas.openxmlformats.org/officeDocument/2006/relationships" id="258" r:id="R58b6f76af5d24fab"/>
    <p:sldId xmlns:r="http://schemas.openxmlformats.org/officeDocument/2006/relationships" id="259" r:id="R94f10db08e144638"/>
    <p:sldId xmlns:r="http://schemas.openxmlformats.org/officeDocument/2006/relationships" id="260" r:id="R14458c041c434854"/>
    <p:sldId xmlns:r="http://schemas.openxmlformats.org/officeDocument/2006/relationships" id="261" r:id="R69b0af0437884ff8"/>
    <p:sldId xmlns:r="http://schemas.openxmlformats.org/officeDocument/2006/relationships" id="262" r:id="R25f086ec5da2451e"/>
    <p:sldId xmlns:r="http://schemas.openxmlformats.org/officeDocument/2006/relationships" id="263" r:id="R0c4949f8658c4b98"/>
    <p:sldId xmlns:r="http://schemas.openxmlformats.org/officeDocument/2006/relationships" id="264" r:id="R075eaa9cd974404e"/>
    <p:sldId xmlns:r="http://schemas.openxmlformats.org/officeDocument/2006/relationships" id="265" r:id="R462c305585be4b68"/>
    <p:sldId xmlns:r="http://schemas.openxmlformats.org/officeDocument/2006/relationships" id="266" r:id="Rc6eb0e6c0734447b"/>
    <p:sldId xmlns:r="http://schemas.openxmlformats.org/officeDocument/2006/relationships" id="267" r:id="R171ad1eddd524f8c"/>
    <p:sldId xmlns:r="http://schemas.openxmlformats.org/officeDocument/2006/relationships" id="268" r:id="R1d87b2f5f0364892"/>
    <p:sldId xmlns:r="http://schemas.openxmlformats.org/officeDocument/2006/relationships" id="269" r:id="R50cb602f9f3b4540"/>
    <p:sldId xmlns:r="http://schemas.openxmlformats.org/officeDocument/2006/relationships" id="270" r:id="Rf5d0f510295e4975"/>
    <p:sldId xmlns:r="http://schemas.openxmlformats.org/officeDocument/2006/relationships" id="271" r:id="R2e9c64dad9b04502"/>
    <p:sldId xmlns:r="http://schemas.openxmlformats.org/officeDocument/2006/relationships" id="272" r:id="R2d20be93b78e48a4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f931c7c3134db8" /><Relationship Type="http://schemas.openxmlformats.org/officeDocument/2006/relationships/slideMaster" Target="/ppt/slideMasters/slideMaster1.xml" Id="Re6a3f90aefc043fe" /><Relationship Type="http://schemas.openxmlformats.org/officeDocument/2006/relationships/notesMaster" Target="/ppt/notesMasters/notesMaster1.xml" Id="R4a8633e837154f61" /><Relationship Type="http://schemas.openxmlformats.org/officeDocument/2006/relationships/presProps" Target="/ppt/presProps.xml" Id="R2cd8e4e0bebb48df" /><Relationship Type="http://schemas.openxmlformats.org/officeDocument/2006/relationships/viewProps" Target="/ppt/viewProps.xml" Id="Rd80ef515e874462e" /><Relationship Type="http://schemas.openxmlformats.org/officeDocument/2006/relationships/tableStyles" Target="/ppt/tableStyles.xml" Id="R808b6ed06bcc4b55" /><Relationship Type="http://schemas.openxmlformats.org/officeDocument/2006/relationships/slide" Target="/ppt/slides/slide1.xml" Id="R6557c10a4ec3444e" /><Relationship Type="http://schemas.openxmlformats.org/officeDocument/2006/relationships/slide" Target="/ppt/slides/slide2.xml" Id="Rf953ed07c60d4acc" /><Relationship Type="http://schemas.openxmlformats.org/officeDocument/2006/relationships/slide" Target="/ppt/slides/slide3.xml" Id="R58b6f76af5d24fab" /><Relationship Type="http://schemas.openxmlformats.org/officeDocument/2006/relationships/slide" Target="/ppt/slides/slide4.xml" Id="R94f10db08e144638" /><Relationship Type="http://schemas.openxmlformats.org/officeDocument/2006/relationships/slide" Target="/ppt/slides/slide5.xml" Id="R14458c041c434854" /><Relationship Type="http://schemas.openxmlformats.org/officeDocument/2006/relationships/slide" Target="/ppt/slides/slide6.xml" Id="R69b0af0437884ff8" /><Relationship Type="http://schemas.openxmlformats.org/officeDocument/2006/relationships/slide" Target="/ppt/slides/slide7.xml" Id="R25f086ec5da2451e" /><Relationship Type="http://schemas.openxmlformats.org/officeDocument/2006/relationships/slide" Target="/ppt/slides/slide8.xml" Id="R0c4949f8658c4b98" /><Relationship Type="http://schemas.openxmlformats.org/officeDocument/2006/relationships/slide" Target="/ppt/slides/slide9.xml" Id="R075eaa9cd974404e" /><Relationship Type="http://schemas.openxmlformats.org/officeDocument/2006/relationships/slide" Target="/ppt/slides/slide10.xml" Id="R462c305585be4b68" /><Relationship Type="http://schemas.openxmlformats.org/officeDocument/2006/relationships/slide" Target="/ppt/slides/slide11.xml" Id="Rc6eb0e6c0734447b" /><Relationship Type="http://schemas.openxmlformats.org/officeDocument/2006/relationships/slide" Target="/ppt/slides/slide12.xml" Id="R171ad1eddd524f8c" /><Relationship Type="http://schemas.openxmlformats.org/officeDocument/2006/relationships/slide" Target="/ppt/slides/slide13.xml" Id="R1d87b2f5f0364892" /><Relationship Type="http://schemas.openxmlformats.org/officeDocument/2006/relationships/slide" Target="/ppt/slides/slide14.xml" Id="R50cb602f9f3b4540" /><Relationship Type="http://schemas.openxmlformats.org/officeDocument/2006/relationships/slide" Target="/ppt/slides/slide15.xml" Id="Rf5d0f510295e4975" /><Relationship Type="http://schemas.openxmlformats.org/officeDocument/2006/relationships/slide" Target="/ppt/slides/slide16.xml" Id="R2e9c64dad9b04502" /><Relationship Type="http://schemas.openxmlformats.org/officeDocument/2006/relationships/slide" Target="/ppt/slides/slide17.xml" Id="R2d20be93b78e48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41b5d2e3be47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7f9328fbed4a9b" /><Relationship Type="http://schemas.openxmlformats.org/officeDocument/2006/relationships/notesMaster" Target="/ppt/notesMasters/notesMaster1.xml" Id="Rd1ecf5241dbd4f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b26e94a9fd43f2" /><Relationship Type="http://schemas.openxmlformats.org/officeDocument/2006/relationships/notesMaster" Target="/ppt/notesMasters/notesMaster1.xml" Id="R7987f4fd3a5c49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9049ecc9274122" /><Relationship Type="http://schemas.openxmlformats.org/officeDocument/2006/relationships/notesMaster" Target="/ppt/notesMasters/notesMaster1.xml" Id="R85964326f72d4c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944c4407e84217" /><Relationship Type="http://schemas.openxmlformats.org/officeDocument/2006/relationships/notesMaster" Target="/ppt/notesMasters/notesMaster1.xml" Id="R61e76ca563204b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0a6bb1627f4683" /><Relationship Type="http://schemas.openxmlformats.org/officeDocument/2006/relationships/notesMaster" Target="/ppt/notesMasters/notesMaster1.xml" Id="R9df4f239578448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28f5ff659a4fdc" /><Relationship Type="http://schemas.openxmlformats.org/officeDocument/2006/relationships/notesMaster" Target="/ppt/notesMasters/notesMaster1.xml" Id="R7cf89b43193c45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514dc71ad34b36" /><Relationship Type="http://schemas.openxmlformats.org/officeDocument/2006/relationships/notesMaster" Target="/ppt/notesMasters/notesMaster1.xml" Id="R72a38130a0e04a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732612413e437b" /><Relationship Type="http://schemas.openxmlformats.org/officeDocument/2006/relationships/notesMaster" Target="/ppt/notesMasters/notesMaster1.xml" Id="R858c6a9e4cce47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dcda2482924fc1" /><Relationship Type="http://schemas.openxmlformats.org/officeDocument/2006/relationships/notesMaster" Target="/ppt/notesMasters/notesMaster1.xml" Id="R78b6c9b416954a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f12dc1b4354d5f" /><Relationship Type="http://schemas.openxmlformats.org/officeDocument/2006/relationships/notesMaster" Target="/ppt/notesMasters/notesMaster1.xml" Id="R459c99b263df43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480f8e90c34c1c" /><Relationship Type="http://schemas.openxmlformats.org/officeDocument/2006/relationships/notesMaster" Target="/ppt/notesMasters/notesMaster1.xml" Id="R7998852a68f842b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e39bc0797f94434" /><Relationship Type="http://schemas.openxmlformats.org/officeDocument/2006/relationships/notesMaster" Target="/ppt/notesMasters/notesMaster1.xml" Id="R5b0a5359318c4c0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7be7673ffa14e3f" /><Relationship Type="http://schemas.openxmlformats.org/officeDocument/2006/relationships/notesMaster" Target="/ppt/notesMasters/notesMaster1.xml" Id="R3b0c32b373a349c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55b52a72217414d" /><Relationship Type="http://schemas.openxmlformats.org/officeDocument/2006/relationships/notesMaster" Target="/ppt/notesMasters/notesMaster1.xml" Id="Rac76fdb1629c498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551cf3b7d34bad" /><Relationship Type="http://schemas.openxmlformats.org/officeDocument/2006/relationships/notesMaster" Target="/ppt/notesMasters/notesMaster1.xml" Id="R157260859de4496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eb0db0a47894804" /><Relationship Type="http://schemas.openxmlformats.org/officeDocument/2006/relationships/notesMaster" Target="/ppt/notesMasters/notesMaster1.xml" Id="R84254a7c59f645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8cb0708e1ef4172" /><Relationship Type="http://schemas.openxmlformats.org/officeDocument/2006/relationships/notesMaster" Target="/ppt/notesMasters/notesMaster1.xml" Id="R076f3c75fd6246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Matrix RPJMD dan catatan keputusan tata kelola SABABUKA. Lingkungan yang ditampilkan adalah demo/UAT lokal.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Buka dengan konteks expose antara. Tekankan bahwa sumber awal yang sedang dipetakan adalah Matrix RPJMD, sedangkan forum akan mengonfirmasi struktur dan pemiliknya.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docs/18-rundown-ekspose-antara-2026-10-09.md dan audit release 8 Oktober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Angka pilot dan batasan demo mengikuti rundown ekspose antara.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Sumber: Matrix RPJMD dan keputusan struktur fokus-kategori-indikator pada diskusi proyek.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Perubahan role Kominfo diterapkan melalui migration 027: Kominfo tidak lagi memiliki menu input atau permission aksi konektor.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Alur ini membedakan persetujuan kebijakan, validasi teknis, dan publikasi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Skenario menggunakan data latihan. Sinkronisasi yang ditunjukkan berarti SABABUKA membaca dataset Satu Data, bukan menulis balik.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Dashboard pemeriksaan data masuk menjadi kebutuhan yang perlu diperjelas di aplikasi.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Tidak semua OPD harus memiliki website atau API pada tahap awal.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Daftar organisasi dipakai sebagai bahan konfirmasi forum, bukan langsung sebagai keputusan final.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Daftar keputusan mengikuti kebutuhan konfirmasi organisasi, indikator, sumber, dan koordinasi.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Lampiran ini merangkum Matrix RPJMD yang menjadi sumber acuan awal. Jangan menyebutnya sebagai master final sebelum forum mengonfirmasi.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Gunakan daftar ini untuk mengonfirmasi organisasi mana yang masuk, dikoreksi, ditambah, atau dikeluarkan dari ruang lingkup SABABUKA.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Pastikan nama dan kode mengikuti nomenklatur resmi. Kecamatan menjadi entitas tersendiri untuk penetapan pengguna, hak akses, dan pelaporan.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Sisakan ruang ini untuk menempelkan QR code grup koordinasi setelah URL resmi disepakati. Jangan menampilkan link sementara saat paparan.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Penutup. Tekankan bahwa sistem siap menjadi wadah master data dan alur validasi sebelum integrasi resmi diperluas.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e18a1281c4ef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573884b510494e" /><Relationship Type="http://schemas.openxmlformats.org/officeDocument/2006/relationships/slideLayout" Target="/ppt/slideLayouts/slideLayout1.xml" Id="Rb206d3a47187419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06d3a47187419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3db70990a43f1" /><Relationship Type="http://schemas.openxmlformats.org/officeDocument/2006/relationships/notesSlide" Target="/ppt/notesSlides/notesSlide1.xml" Id="Raebe1df464a246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9d07c3db047be" /><Relationship Type="http://schemas.openxmlformats.org/officeDocument/2006/relationships/notesSlide" Target="/ppt/notesSlides/notesSlide2.xml" Id="R20ab851f5bf942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1f25069d04c6f" /><Relationship Type="http://schemas.openxmlformats.org/officeDocument/2006/relationships/notesSlide" Target="/ppt/notesSlides/notesSlide3.xml" Id="Rb419c91b86c24d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cdad0a3c6404a" /><Relationship Type="http://schemas.openxmlformats.org/officeDocument/2006/relationships/notesSlide" Target="/ppt/notesSlides/notesSlide4.xml" Id="R573f66a7717d4c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a01119b724137" /><Relationship Type="http://schemas.openxmlformats.org/officeDocument/2006/relationships/notesSlide" Target="/ppt/notesSlides/notesSlide5.xml" Id="R0f2cd5df8bcd49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063285f794cd9" /><Relationship Type="http://schemas.openxmlformats.org/officeDocument/2006/relationships/notesSlide" Target="/ppt/notesSlides/notesSlide6.xml" Id="R7ade476591d441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4afa99d9d45d2" /><Relationship Type="http://schemas.openxmlformats.org/officeDocument/2006/relationships/notesSlide" Target="/ppt/notesSlides/notesSlide7.xml" Id="Rca8d004b90624b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c01b71f6b42a4" /><Relationship Type="http://schemas.openxmlformats.org/officeDocument/2006/relationships/notesSlide" Target="/ppt/notesSlides/notesSlide8.xml" Id="Re35d1f6f2d594f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707f5930a8428c" /><Relationship Type="http://schemas.openxmlformats.org/officeDocument/2006/relationships/notesSlide" Target="/ppt/notesSlides/notesSlide9.xml" Id="Rffad836b68a540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959b13b9184e34" /><Relationship Type="http://schemas.openxmlformats.org/officeDocument/2006/relationships/notesSlide" Target="/ppt/notesSlides/notesSlide10.xml" Id="R78ad293cbba74a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e6bb50d0f44c9" /><Relationship Type="http://schemas.openxmlformats.org/officeDocument/2006/relationships/notesSlide" Target="/ppt/notesSlides/notesSlide11.xml" Id="Rb98b41ddda0841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f7aee381a4de7" /><Relationship Type="http://schemas.openxmlformats.org/officeDocument/2006/relationships/notesSlide" Target="/ppt/notesSlides/notesSlide12.xml" Id="R97a28ce7a47147c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947d1ae304908" /><Relationship Type="http://schemas.openxmlformats.org/officeDocument/2006/relationships/notesSlide" Target="/ppt/notesSlides/notesSlide13.xml" Id="R39bdadea48994b2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6a717d7e44ef3" /><Relationship Type="http://schemas.openxmlformats.org/officeDocument/2006/relationships/notesSlide" Target="/ppt/notesSlides/notesSlide14.xml" Id="Rd5f101b0683a489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461d8fe168461b" /><Relationship Type="http://schemas.openxmlformats.org/officeDocument/2006/relationships/notesSlide" Target="/ppt/notesSlides/notesSlide15.xml" Id="R1db6d283ad3d4e3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5e740de6b446b" /><Relationship Type="http://schemas.openxmlformats.org/officeDocument/2006/relationships/notesSlide" Target="/ppt/notesSlides/notesSlide16.xml" Id="R261dc57a0df948f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72676f11d40e5" /><Relationship Type="http://schemas.openxmlformats.org/officeDocument/2006/relationships/notesSlide" Target="/ppt/notesSlides/notesSlide17.xml" Id="R787fde31196c4d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3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3151156-7BD3-4B9D-82A1-18A45316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E30BC6D-24A1-4C7A-803C-6D9A28F1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1440"/>
            <a:ext cx="4572000" cy="6766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58A">
              <a:alpha val="45000"/>
            </a:srgbClr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382018F-5F47-4B24-978F-AD231525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">
            <a:off x="8321040" y="822960"/>
            <a:ext cx="4389120" cy="4389120"/>
          </a:xfrm>
          <a:prstGeom xmlns:a="http://schemas.openxmlformats.org/drawingml/2006/main" prst="arc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08D83">
                <a:alpha val="85000"/>
              </a:srgbClr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451AE14-3D20-4AFB-89B0-E380BA02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">
            <a:off x="8823960" y="1325880"/>
            <a:ext cx="3383280" cy="3383280"/>
          </a:xfrm>
          <a:prstGeom xmlns:a="http://schemas.openxmlformats.org/drawingml/2006/main" prst="arc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7A22">
                <a:alpha val="85000"/>
              </a:srgbClr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5E3BF70-AF7D-4009-B51B-1815CDF2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914400"/>
            <a:ext cx="42062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8EE2D9"/>
                </a:solidFill>
                <a:latin typeface="Aptos"/>
                <a:ea typeface="Aptos"/>
                <a:cs typeface="Aptos"/>
              </a:rPr>
              <a:t>SABABUKA</a:t>
            </a:r>
            <a:endParaRPr sz="1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20995E-07F7-4324-BA68-E2BB2336D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298448"/>
            <a:ext cx="42062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BERSINAR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B04A2C1-BFA6-4F9E-8712-A3E57016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583680" cy="150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 master data,</a:t>
            </a:r>
            <a:endParaRPr sz="3100"/>
          </a:p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alur validasi, dan</a:t>
            </a:r>
            <a:endParaRPr sz="3100"/>
          </a:p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rencana integrasi</a:t>
            </a:r>
            <a:endParaRPr sz="3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625EFF8-19D2-4A06-86A5-7E339F78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120640"/>
            <a:ext cx="41148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C9D8E7"/>
                </a:solidFill>
                <a:latin typeface="Aptos"/>
                <a:ea typeface="Aptos"/>
                <a:cs typeface="Aptos"/>
              </a:rPr>
              <a:t>Bahan paparan antara</a:t>
            </a:r>
            <a:endParaRPr sz="1400"/>
          </a:p>
          <a:p xmlns:a="http://schemas.openxmlformats.org/drawingml/2006/main">
            <a:pPr marL="0" indent="0" algn="l">
              <a:buNone/>
            </a:pPr>
            <a:r>
              <a:rPr sz="1400">
                <a:solidFill>
                  <a:srgbClr val="C9D8E7"/>
                </a:solidFill>
                <a:latin typeface="Aptos"/>
                <a:ea typeface="Aptos"/>
                <a:cs typeface="Aptos"/>
              </a:rPr>
              <a:t>Jumat, 9 Oktober 2026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5195F85-342F-44F9-ADBC-6C776C9F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468112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Kabupaten Kapuas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DC65D3B-4465-4E70-B483-A3E39FA3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5806440"/>
            <a:ext cx="3749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C9D8E7"/>
                </a:solidFill>
                <a:latin typeface="Aptos"/>
                <a:ea typeface="Aptos"/>
                <a:cs typeface="Aptos"/>
              </a:rPr>
              <a:t>Master data indikator pembangunan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244700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77EA0A-D702-4C82-B23A-D5226152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7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0B2344"/>
                </a:solidFill>
              </a:defRPr>
            </a:pPr>
            <a:r>
              <a:rPr sz="2475" b="1">
                <a:solidFill>
                  <a:srgbClr val="0B2344"/>
                </a:solidFill>
              </a:rPr>
              <a:t>Exposé antara: dari RPJMD ke SABABUKA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156EA-45B4-45DD-922E-7C7FECB7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D7186"/>
                </a:solidFill>
              </a:defRPr>
            </a:pPr>
            <a:r>
              <a:rPr sz="1125" b="0">
                <a:solidFill>
                  <a:srgbClr val="5D7186"/>
                </a:solidFill>
              </a:rPr>
              <a:t>Paparan ini melanjutkan expose pendahuluan dan menunjukkan pekerjaan yang sedang disusun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D7B0B-B288-44C3-B182-B03E7D1B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5D7186"/>
                </a:solidFill>
              </a:defRPr>
            </a:pPr>
            <a:r>
              <a:rPr sz="750" b="0">
                <a:solidFill>
                  <a:srgbClr val="5D7186"/>
                </a:solidFill>
              </a:rPr>
              <a:t>SABABUKA BERSINAR · KABUPATEN KAPUAS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ECB944-3C66-4E1D-9E54-EB2BE945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17558A"/>
                </a:solidFill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17558A"/>
                </a:solidFill>
              </a:defRPr>
            </a:pPr>
            <a:r>
              <a:rPr sz="900" b="1">
                <a:solidFill>
                  <a:srgbClr val="17558A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4979F-BB72-402F-A1B1-5BCD7924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>
                <a:solidFill>
                  <a:srgbClr val="17558A"/>
                </a:solidFill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558A"/>
                </a:solidFill>
              </a:defRPr>
            </a:pPr>
            <a:r>
              <a:rPr sz="1800" b="1">
                <a:solidFill>
                  <a:srgbClr val="17558A"/>
                </a:solidFill>
              </a:rPr>
              <a:t>Setelah expose pendahuluan kemarin, tim berangkat dari dokumen RPJMD Kabupaten Kapuas untuk membangun master data indikator dan alur pemeriksaannya.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479746-2D88-4B11-834C-9061883D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3333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239DF-B0D8-4979-B234-F3079005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9525">
            <a:solidFill>
              <a:srgbClr val="1755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48F21-A8DA-4F0A-A2B3-5E80713D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0B2344"/>
                </a:solidFill>
              </a:defRPr>
            </a:pPr>
            <a:r>
              <a:rPr sz="1425" b="1">
                <a:solidFill>
                  <a:srgbClr val="0B2344"/>
                </a:solidFill>
              </a:rPr>
              <a:t>Expose pendahuluan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61D401-CF51-44E1-AA1A-2258EC0E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95625"/>
            <a:ext cx="2971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D7186"/>
                </a:solidFill>
              </a:defRPr>
            </a:pPr>
            <a:r>
              <a:rPr sz="1050" b="0">
                <a:solidFill>
                  <a:srgbClr val="5D7186"/>
                </a:solidFill>
              </a:rPr>
              <a:t>Arah produk, kebutuhan dashboard pimpinan, dan ruang lingkup awal dibahas sebagai baseline.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08E58F-07A2-4A21-A58E-309BA8FC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3333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C0924-4992-494B-8CF8-A9778FBF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717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9525">
            <a:solidFill>
              <a:srgbClr val="008D8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077DD-A542-455F-B46E-AA5F60FC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74320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0B2344"/>
                </a:solidFill>
              </a:defRPr>
            </a:pPr>
            <a:r>
              <a:rPr sz="1425" b="1">
                <a:solidFill>
                  <a:srgbClr val="0B2344"/>
                </a:solidFill>
              </a:rPr>
              <a:t>Sumber acuan saat ini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DC2490-A54F-48A8-AEBA-03974643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095625"/>
            <a:ext cx="2971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D7186"/>
                </a:solidFill>
              </a:defRPr>
            </a:pPr>
            <a:r>
              <a:rPr sz="1050" b="0">
                <a:solidFill>
                  <a:srgbClr val="5D7186"/>
                </a:solidFill>
              </a:rPr>
              <a:t>Resume Matrix RPJMD: 8 fokus, 29 kelompok isu, 69 indikator, dan 9 indikator tingkat tujuan.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F5180B-2BD3-4D3E-9C38-808DCF4F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3333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F7BB7C-DC87-4794-88E3-239966FD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9525">
            <a:solidFill>
              <a:srgbClr val="D97A2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CE1E54-D73E-42F1-8C75-0C13FB4A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0B2344"/>
                </a:solidFill>
              </a:defRPr>
            </a:pPr>
            <a:r>
              <a:rPr sz="1425" b="1">
                <a:solidFill>
                  <a:srgbClr val="0B2344"/>
                </a:solidFill>
              </a:rPr>
              <a:t>Pekerjaan tahap ini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248F84-4480-428E-AACF-57C2D45E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095625"/>
            <a:ext cx="2971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D7186"/>
                </a:solidFill>
              </a:defRPr>
            </a:pPr>
            <a:r>
              <a:rPr sz="1050" b="0">
                <a:solidFill>
                  <a:srgbClr val="5D7186"/>
                </a:solidFill>
              </a:rPr>
              <a:t>UPR menyiapkan draft. BAPPERIDA memeriksa arah dan kelayakan. OPD memeriksa sisi teknis.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0988E6-1491-4D86-9187-A6E95732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D97A22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D97A22"/>
                </a:solidFill>
              </a:defRPr>
            </a:pPr>
            <a:r>
              <a:rPr sz="1350" b="1">
                <a:solidFill>
                  <a:srgbClr val="D97A22"/>
                </a:solidFill>
              </a:rPr>
              <a:t>Angka, daftar organisasi, dan pemilik indikator masih menjadi bahan konfirmasi forum.</a:t>
            </a:r>
          </a:p>
        </p:txBody>
      </p:sp>
    </p:spTree>
    <p:extLst>
      <p:ext uri="{BB962C8B-B14F-4D97-AF65-F5344CB8AC3E}">
        <p14:creationId xmlns:p14="http://schemas.microsoft.com/office/powerpoint/2010/main" val="19361753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0EBD30C-5DCF-48B8-A265-C97052E4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6CCEB48-E799-4044-A7E0-807D3B17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Posisi SABABUKA saat ini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DCEA870-4158-40A0-A91D-FF8D5DFD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Sistem sedang menata fondasi sebelum sinkronisasi data resmi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C829156-B435-4590-BC18-D075EFDE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E1FBE2F-0F76-4686-8E4D-D747C465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03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DCEFB89-EA13-4A59-97F8-9ED81597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17320"/>
            <a:ext cx="10881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SABABUKA berfungsi sebagai master data indikator dan ruang tata kelola. Angka realisasi dari sumber resmi masuk setelah definisi, pemilik, dan alurnya disepakati.</a:t>
            </a:r>
            <a:endParaRPr sz="19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351208C-FF48-44EB-9B23-6FFC1A44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331720"/>
            <a:ext cx="3429000" cy="224028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078498D-5E5D-4753-8DD7-62CC6336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331720"/>
            <a:ext cx="73152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CD18C61-17AF-4189-BC30-1834E5B45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496312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Yang sudah tersedia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5A1C96D-7178-4A7C-AAF8-F94B03E2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862072"/>
            <a:ext cx="3081528" cy="1581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Master kategori dan indikator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Target tahunan 2025-2029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Role dan scope akses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Alur draft, review, verifikasi, publikasi</a:t>
            </a:r>
            <a:endParaRPr sz="12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26B755B-80C7-400C-B267-E058823A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2331720"/>
            <a:ext cx="3429000" cy="224028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3877B7E-E0CD-4AA9-B3EB-ED64033A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2331720"/>
            <a:ext cx="73152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2166866-18ED-42AD-BD9E-2D5121F2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96312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Yang sedang disepakati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8D9CA77-B88A-4047-90B9-805523EB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62072"/>
            <a:ext cx="3081528" cy="1581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Fokus kebijakan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Isu atau kategori strategis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OPD pemilik dan bidang pengelola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Status organisasi yang masuk</a:t>
            </a:r>
            <a:endParaRPr sz="122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2784500-C4AA-4B09-B553-DDE5159B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31720"/>
            <a:ext cx="3429000" cy="2240280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56148595-DCAD-44AB-B2CD-F7FB47B5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31720"/>
            <a:ext cx="73152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F59FE76-3D05-419A-B3E7-E19BCA8D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496312"/>
            <a:ext cx="3108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Tahap berikutnya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915C239-BDF0-4564-9F5B-C5F687BA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862072"/>
            <a:ext cx="3081528" cy="1581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Integrasi BPS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Mapping Satu Data Kapuas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Validasi observasi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Rilis data yang dapat ditelusuri</a:t>
            </a:r>
            <a:endParaRPr sz="122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2B9679F-CC74-4AF8-A0EC-2940E0A3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5074920"/>
            <a:ext cx="11887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558A"/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72DF3A5-338D-4651-AEF4-A52810A7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111496"/>
            <a:ext cx="10058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MASTER DATA</a:t>
            </a:r>
            <a:endParaRPr sz="9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E0C9234-328F-4DBD-A05C-61FF2028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5093208"/>
            <a:ext cx="2377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5D7186"/>
                </a:solidFill>
                <a:latin typeface="Aptos"/>
                <a:ea typeface="Aptos"/>
                <a:cs typeface="Aptos"/>
              </a:rPr>
              <a:t>menyimpan struktur dan aturan</a:t>
            </a:r>
            <a:endParaRPr sz="12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E9BB5CB-7EA8-47AE-A919-058F2A64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5074920"/>
            <a:ext cx="138988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5EA4E8F-52EF-4327-8BA9-6BCB0A66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5111496"/>
            <a:ext cx="12070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SUMBER RESMI</a:t>
            </a:r>
            <a:endParaRPr sz="9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A1E120F-15E7-4A62-B96F-12B07CB9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093208"/>
            <a:ext cx="21945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5D7186"/>
                </a:solidFill>
                <a:latin typeface="Aptos"/>
                <a:ea typeface="Aptos"/>
                <a:cs typeface="Aptos"/>
              </a:rPr>
              <a:t>menyediakan realisasi</a:t>
            </a:r>
            <a:endParaRPr sz="12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DE9E6EFB-72A3-4C13-954E-678367AD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5074920"/>
            <a:ext cx="9601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F6FB9EB-5191-42B1-B050-96878128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111496"/>
            <a:ext cx="777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PIMPINAN</a:t>
            </a:r>
            <a:endParaRPr sz="9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2B6D1F7-DCDF-42C9-AE44-2D1E2A68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5093208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5D7186"/>
                </a:solidFill>
                <a:latin typeface="Aptos"/>
                <a:ea typeface="Aptos"/>
                <a:cs typeface="Aptos"/>
              </a:rPr>
              <a:t>membaca hasil yang disetujui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5626577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CBEB6A8-BB56-4C29-A69F-62FDC42B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A306BF2-5CA5-405C-AAEB-28F121F5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Fondasi yang sudah berjalan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6BB4532-728F-4B09-B93A-C3E4AEFA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Pilot lokal memisahkan master, data demo, dan data bersumber resmi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FD998FB-9150-4061-A540-8BEB8DE0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9DECF23-F2FF-4253-9A45-027BEFE8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04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1B42E3F-6B35-44F6-ADB2-A29072BE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423160" cy="1078992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6B090D5-AF80-4076-B1A7-91BF0E38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572768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5</a:t>
            </a:r>
            <a:endParaRPr sz="2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205227F-6169-4D74-A6D6-15A3517B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993392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kategori pilot</a:t>
            </a:r>
            <a:endParaRPr sz="11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C625158-1F28-40B3-8CB3-AC8B1B3F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17320"/>
            <a:ext cx="2423160" cy="1078992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1A5105D-BF6A-4E4E-88D5-2B9D8278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304" y="1572768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15</a:t>
            </a:r>
            <a:endParaRPr sz="29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A05FC54-6E7C-4282-8319-FA16D8C6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304" y="1993392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indikator pilot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79A7EA-078D-4A14-BCE4-BB3042DF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2423160" cy="1078992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D3B9977-0602-4905-BCE6-DC6DA864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1572768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2025-2029</a:t>
            </a:r>
            <a:endParaRPr sz="2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F2DF221-CB6B-48AA-BE7D-528883B8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1993392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cakupan target tahunan</a:t>
            </a:r>
            <a:endParaRPr sz="11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97A4736-ACE3-4EDE-B805-80168B52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1417320"/>
            <a:ext cx="2423160" cy="1078992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30FC377-7536-4D5D-AB21-2213E9F4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144" y="1572768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5</a:t>
            </a:r>
            <a:endParaRPr sz="29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2E0A451-8141-4A48-986A-43048B94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144" y="1993392"/>
            <a:ext cx="2057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role aplikasi</a:t>
            </a:r>
            <a:endParaRPr sz="1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AC83CA1-6119-4381-9FB4-DE57BBD8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7180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1D45B1B-B35C-48E7-BB6F-1614D7F8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90088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6643429-1F26-4ED5-A426-1EFE94C2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62656"/>
            <a:ext cx="440740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Master indikator</a:t>
            </a:r>
            <a:endParaRPr sz="14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D7E81DD-9970-4710-B975-AD2A8034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246120"/>
            <a:ext cx="440740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D7186"/>
                </a:solidFill>
                <a:latin typeface="Aptos"/>
                <a:ea typeface="Aptos"/>
                <a:cs typeface="Aptos"/>
              </a:rPr>
              <a:t>Definisi, satuan, target, OPD pemilik, dan status workflow.</a:t>
            </a:r>
            <a:endParaRPr sz="10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9544F9D-93D0-44E0-84F7-5EC4839C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9476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311208E-E874-4FA7-8474-E6FEDDF4B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13048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A41E2A6-47EA-4E60-972E-DC9814AA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785616"/>
            <a:ext cx="440740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Review dan verifikasi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9423D1E-4596-4EF6-8FC1-F1A8F5DD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069080"/>
            <a:ext cx="440740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D7186"/>
                </a:solidFill>
                <a:latin typeface="Aptos"/>
                <a:ea typeface="Aptos"/>
                <a:cs typeface="Aptos"/>
              </a:rPr>
              <a:t>BAPPERIDA memutuskan substansi. OPD memeriksa sisi teknis.</a:t>
            </a:r>
            <a:endParaRPr sz="10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33BDC72-76D1-4446-BA4E-0C582196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7180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81AE614-6F61-4970-BEF9-475D9883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90088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72062F6-5B7C-4472-AC74-9C2F07EA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552" y="2962656"/>
            <a:ext cx="440740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Sumber data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79609521-BAB4-4CD0-AA41-0590EE27D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552" y="3246120"/>
            <a:ext cx="440740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D7186"/>
                </a:solidFill>
                <a:latin typeface="Aptos"/>
                <a:ea typeface="Aptos"/>
                <a:cs typeface="Aptos"/>
              </a:rPr>
              <a:t>Koneksi teknis ke Satu Data dan profil BPS sudah disiapkan untuk tahap berikutnya.</a:t>
            </a:r>
            <a:endParaRPr sz="10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3BA9267-7E73-44E8-BDB0-DC19AFA6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4760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A61"/>
          </a:solidFill>
          <a:ln xmlns:a="http://schemas.openxmlformats.org/drawingml/2006/main" w="12700">
            <a:solidFill>
              <a:srgbClr val="2D7A61">
                <a:alpha val="0"/>
              </a:srgbClr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32F9EE4-EE11-4C3F-BBF5-F523FAF0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13048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  <a:endParaRPr sz="13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D58ACEB-D4BE-498D-9371-2E2971C4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552" y="3785616"/>
            <a:ext cx="440740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Dashboard pimpinan</a:t>
            </a:r>
            <a:endParaRPr sz="14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D70F0F1-F5A2-442A-9B72-68082DEC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552" y="4069080"/>
            <a:ext cx="440740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D7186"/>
                </a:solidFill>
                <a:latin typeface="Aptos"/>
                <a:ea typeface="Aptos"/>
                <a:cs typeface="Aptos"/>
              </a:rPr>
              <a:t>Hanya membaca data yang sudah disetujui dan dipublikasikan.</a:t>
            </a:r>
            <a:endParaRPr sz="105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6C449A1-4F4C-4F4B-992A-647DE70F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66360"/>
            <a:ext cx="10424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B3423E"/>
                </a:solidFill>
                <a:latin typeface="Aptos"/>
                <a:ea typeface="Aptos"/>
                <a:cs typeface="Aptos"/>
              </a:rPr>
              <a:t>Label demo tetap dipertahankan sampai OPD dan sumber resmi mengonfirmasi angka.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6624275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F4F31C4-9084-42BB-811F-96CB5F84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863A11B-23A2-45CD-A4CF-624543C8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Struktur master data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940C0E6-BAE4-4526-9E65-57DA42A4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Matrix RPJMD menjadi bahan awal untuk membangun struktur yang dapat menerima sumber data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FC6EE45-B6ED-4D4B-A3BE-B9738A36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21AB8F-C7CB-4F69-8B97-98D92DD6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05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1698353-4EB9-4E2F-890D-AE9C5296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1572768" cy="118872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7558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5836405-3EA8-412B-B291-55F2AC29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258568"/>
            <a:ext cx="135331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Matrix RPJMD</a:t>
            </a:r>
            <a:endParaRPr sz="1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AAF5D94-EE64-4D35-A1F6-038C2BD6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770632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5D7186"/>
                </a:solidFill>
                <a:latin typeface="Aptos"/>
                <a:ea typeface="Aptos"/>
                <a:cs typeface="Aptos"/>
              </a:rPr>
              <a:t>bahan draft</a:t>
            </a:r>
            <a:endParaRPr sz="9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9CEEAD0-142B-4B09-83C0-70E5A0F6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2651760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D7186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6315F16-00AD-44D6-80C6-CAC0263F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2057400"/>
            <a:ext cx="1572768" cy="118872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8D8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48BEA32-F722-48CD-9397-4FBE11AF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258568"/>
            <a:ext cx="135331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Fokus kebijakan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4BACC9F-68F4-4ACA-B83E-D7D9AC20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2770632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5D7186"/>
                </a:solidFill>
                <a:latin typeface="Aptos"/>
                <a:ea typeface="Aptos"/>
                <a:cs typeface="Aptos"/>
              </a:rPr>
              <a:t>pengelompokan strategis</a:t>
            </a:r>
            <a:endParaRPr sz="9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7887F53-7CA4-414C-9FC9-AC7886D3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51760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D7186"/>
            </a:solidFill>
            <a:prstDash val="solid"/>
            <a:headEnd type="none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0D616DB-FF84-42EB-8696-3967A968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984" y="2057400"/>
            <a:ext cx="1572768" cy="118872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7A22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994213C-AE7C-4FA7-9D34-F0D7BD48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258568"/>
            <a:ext cx="135331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Isu / kategori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6B8B277-5DBD-46F6-BD61-10DFE59F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770632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5D7186"/>
                </a:solidFill>
                <a:latin typeface="Aptos"/>
                <a:ea typeface="Aptos"/>
                <a:cs typeface="Aptos"/>
              </a:rPr>
              <a:t>unit pengelolaan</a:t>
            </a:r>
            <a:endParaRPr sz="9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67F131A5-FE6B-42A1-9A4C-DBC1DA27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2651760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D7186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2DF0887-C4B7-4FB0-9285-3D058939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057400"/>
            <a:ext cx="1572768" cy="118872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7558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2E0B87A-AB45-4E33-B5A4-85DFC5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258568"/>
            <a:ext cx="135331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Indikator</a:t>
            </a:r>
            <a:endParaRPr sz="14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C74E88E-45F7-4447-8112-7269DE96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770632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5D7186"/>
                </a:solidFill>
                <a:latin typeface="Aptos"/>
                <a:ea typeface="Aptos"/>
                <a:cs typeface="Aptos"/>
              </a:rPr>
              <a:t>definisi dan versi</a:t>
            </a:r>
            <a:endParaRPr sz="9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BD93BCC-5ACB-4B84-A2A7-2C5557E7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651760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D7186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56DF47B-E203-4E86-80FF-6363F3A2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057400"/>
            <a:ext cx="1572768" cy="118872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8D83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2952DD1-2CFA-441F-AC5C-A734F459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2258568"/>
            <a:ext cx="135331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Target tahunan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FB01951-3267-40C9-B1D8-8BDB011C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2770632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5D7186"/>
                </a:solidFill>
                <a:latin typeface="Aptos"/>
                <a:ea typeface="Aptos"/>
                <a:cs typeface="Aptos"/>
              </a:rPr>
              <a:t>rencana capaian</a:t>
            </a:r>
            <a:endParaRPr sz="9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684E012F-7D1D-4010-9708-F7709879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651760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D7186"/>
            </a:solidFill>
            <a:prstDash val="solid"/>
            <a:headEnd type="none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02A0429-B46E-4030-9DA6-61C29205A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0" y="2057400"/>
            <a:ext cx="1572768" cy="118872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D7A61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18E7F97B-2ED9-495C-BE84-E62D2190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9568" y="2258568"/>
            <a:ext cx="135331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Sumber dan realisasi</a:t>
            </a:r>
            <a:endParaRPr sz="14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DEA7D59-AD5F-4CA8-9F65-398BD6D2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9568" y="2770632"/>
            <a:ext cx="13533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5D7186"/>
                </a:solidFill>
                <a:latin typeface="Aptos"/>
                <a:ea typeface="Aptos"/>
                <a:cs typeface="Aptos"/>
              </a:rPr>
              <a:t>data masuk setelah validasi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AF059544-7989-45F2-94A7-E5513EAA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160520"/>
            <a:ext cx="3017520" cy="100584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47D75DD-2228-4F79-AE04-9ADF09F3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160520"/>
            <a:ext cx="73152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D949021-0B46-4B7A-B330-2B1540D5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4325112"/>
            <a:ext cx="2697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Aturan istilah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5A67BC8C-9CF5-4A29-9C45-03362019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4690872"/>
            <a:ext cx="267004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Fokus menjadi pengelompokan. Kategori atau isu menjadi unit yang dikelola.</a:t>
            </a:r>
            <a:endParaRPr sz="122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F0DF2A1B-E8CD-4BB9-B195-8350CEEA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60520"/>
            <a:ext cx="3017520" cy="100584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6BB8F3A7-23A8-4A68-A1F0-E673BAC5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60520"/>
            <a:ext cx="73152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3249B3D-E607-4566-A9BE-D3950048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4325112"/>
            <a:ext cx="2697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Status</a:t>
            </a:r>
            <a:endParaRPr sz="15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EDCB718-41FB-49BF-91C7-C5535C55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4690872"/>
            <a:ext cx="267004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Draft, review, verifikasi, approved, active, published.</a:t>
            </a:r>
            <a:endParaRPr sz="122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BBA0FE04-C11D-4FC6-AAFA-7A02FFD3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160520"/>
            <a:ext cx="3017520" cy="100584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5CAF3107-F211-4ECD-94C9-3AA002FF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160520"/>
            <a:ext cx="73152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77C36374-8352-4F72-BD70-FAC3FE91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8" y="4325112"/>
            <a:ext cx="2697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Batas tahap ini</a:t>
            </a:r>
            <a:endParaRPr sz="15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050CACE2-D7CB-4F45-93F7-5070815C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8" y="4690872"/>
            <a:ext cx="267004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Master dan alur sudah disiapkan. Sinkronisasi dilakukan bertahap.</a:t>
            </a:r>
            <a:endParaRPr sz="1220"/>
          </a:p>
        </p:txBody>
      </p:sp>
    </p:spTree>
    <p:extLst>
      <p:ext uri="{BB962C8B-B14F-4D97-AF65-F5344CB8AC3E}">
        <p14:creationId xmlns:p14="http://schemas.microsoft.com/office/powerpoint/2010/main" val="14267334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C4234EC-FAD0-44A9-9BF6-E067D361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B9272B9-0377-4B21-B587-4F95BA67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Peran dan fungsi yang diperbarui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F76F2B6-8E26-4F9E-B5A0-063AB9A1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Keputusan substansi berada pada BAPPERIDA dan OPD pemilik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C5DE48C-EDE9-4D76-B768-F5BBC6B3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2E77BD9-1884-4FEC-8DEE-2C8D5B9F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06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D40DDA3-AE31-4DD3-A17D-E97C2BB5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298448"/>
            <a:ext cx="205740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552D101-2C62-46B3-97BA-65936C74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417320"/>
            <a:ext cx="179222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UPR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14F1DAA-F5D5-4874-AAF4-0B1925C8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1298448"/>
            <a:ext cx="85496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C6FBAD8-5F6F-4638-BD07-E5F909EF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1417320"/>
            <a:ext cx="8001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Menyusun draft dari Matrix RPJMD</a:t>
            </a:r>
            <a:endParaRPr sz="13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8F400AA-53C0-4F3B-A7DC-99F25EA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84248"/>
            <a:ext cx="205740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9AAAB80-4D8B-4EF3-96B3-4788ACAF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179222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BAPPERIDA</a:t>
            </a:r>
            <a:endParaRPr sz="14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A0467FC-0BFB-41C1-84B9-E1AC5B49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1984248"/>
            <a:ext cx="85496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326A8D0-FCF3-44DE-A817-20F02F46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103120"/>
            <a:ext cx="8001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Menilai fokus, isu, indikator, target, dan kelayakan tayang</a:t>
            </a:r>
            <a:endParaRPr sz="13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AD2F323-E7D3-4243-B09D-7403CD0F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670048"/>
            <a:ext cx="205740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39166A4-D681-42DC-BBEF-0356D0BF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88920"/>
            <a:ext cx="179222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OPD pemilik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34D31B0-8DAD-41BE-9D5A-3761D355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2670048"/>
            <a:ext cx="85496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2B9E109-230A-4A7E-9171-2DDE003E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788920"/>
            <a:ext cx="8001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Memvalidasi kewenangan, definisi, sumber, dan nilai data</a:t>
            </a:r>
            <a:endParaRPr sz="13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FF22261-53A9-48F3-A4E3-FFBAD91E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355848"/>
            <a:ext cx="205740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12700">
            <a:solidFill>
              <a:srgbClr val="0B2344">
                <a:alpha val="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60DBFA0-0C2D-4079-B124-571C2BC1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474720"/>
            <a:ext cx="179222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28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Pengelola sistem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B2EA005-410A-4C30-B2B3-B13CFE23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3355848"/>
            <a:ext cx="85496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E7F9A12F-D51B-47A4-B3F8-E7EA8666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3474720"/>
            <a:ext cx="8001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Menjaga layanan, keamanan, akun, dan reset demo</a:t>
            </a:r>
            <a:endParaRPr sz="13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98E9E8B-3C7D-4146-9115-5E57902E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041648"/>
            <a:ext cx="205740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D7186"/>
          </a:solidFill>
          <a:ln xmlns:a="http://schemas.openxmlformats.org/drawingml/2006/main" w="12700">
            <a:solidFill>
              <a:srgbClr val="5D7186">
                <a:alpha val="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E459BC0-7E17-4A87-9728-88E5D675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60520"/>
            <a:ext cx="179222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Kominfo</a:t>
            </a:r>
            <a:endParaRPr sz="14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844B81A-30D7-44BB-9C79-F33643A7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4041648"/>
            <a:ext cx="85496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6BA7C70-DDE5-4115-950B-EB1A4435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160520"/>
            <a:ext cx="8001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Memantau layanan, alur data, dan keterbukaan dalam mode baca saja</a:t>
            </a:r>
            <a:endParaRPr sz="13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574CEB7A-45B4-465E-B7CA-AF26FA91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727448"/>
            <a:ext cx="205740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A61"/>
          </a:solidFill>
          <a:ln xmlns:a="http://schemas.openxmlformats.org/drawingml/2006/main" w="12700">
            <a:solidFill>
              <a:srgbClr val="2D7A61">
                <a:alpha val="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26E535F-B6C5-4CB8-B653-E89DD764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846320"/>
            <a:ext cx="179222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Pimpinan</a:t>
            </a:r>
            <a:endParaRPr sz="14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9864E7-BFCB-464B-BA16-66BFBE44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4727448"/>
            <a:ext cx="8549640" cy="5120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37BDEC2-905D-4E55-87F8-BFC23DC1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4846320"/>
            <a:ext cx="80010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Membaca data yang telah disetujui dan dipublikasikan</a:t>
            </a:r>
            <a:endParaRPr sz="13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8D204D0-95E3-42CF-84DA-30295F63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42432"/>
            <a:ext cx="10607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5D7186"/>
                </a:solidFill>
                <a:latin typeface="Aptos"/>
                <a:ea typeface="Aptos"/>
                <a:cs typeface="Aptos"/>
              </a:rPr>
              <a:t>Validasi tetap dilakukan BAPPERIDA dan OPD pemilik. Kominfo memantau layanan dan status data dalam mode baca saja.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554466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043E1BF-D908-48FB-8F82-FF7A50DD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345E14-CF60-480B-82C9-26E7E2F5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Alur persetujuan indikator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CFE6AF1-845F-4891-91F2-8D16D90D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Persetujuan BAPPERIDA dan verifikasi OPD memiliki fungsi yang berbeda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CAE3FED-BBA0-4154-B068-643531FD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1A98B49-D766-4C78-978A-C4D41818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07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566E32-970C-4CEF-9BC8-FDC55FEE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141732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EF6F255-D054-49BD-ADD4-41A31B4E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1600200"/>
            <a:ext cx="658368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17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1343012-273D-444C-AE92-1FE86509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3664" y="1746504"/>
            <a:ext cx="1600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E3EC"/>
            </a:solidFill>
            <a:prstDash val="solid"/>
            <a:tailEnd type="triangle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DE9A1D0-25E1-4861-B67A-24409DE3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5915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Draft UPR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9A09EE2-B8BD-4E48-9B37-1A0F2A78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24912"/>
            <a:ext cx="18745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D7186"/>
                </a:solidFill>
                <a:latin typeface="Aptos"/>
                <a:ea typeface="Aptos"/>
                <a:cs typeface="Aptos"/>
              </a:rPr>
              <a:t>Matrix RPJMD menjadi bahan awal</a:t>
            </a:r>
            <a:endParaRPr sz="10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7D48206-ABDF-4791-96A5-115683CF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141732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26BC877-D688-4606-A8B8-9539814B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1600200"/>
            <a:ext cx="658368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17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476696B-DC4F-4D5A-80D7-CB9AC973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1376" y="1746504"/>
            <a:ext cx="1600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E3EC"/>
            </a:solidFill>
            <a:prstDash val="solid"/>
            <a:tailEnd type="triangle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5E2D88F-AC23-4055-B0AD-314C464A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35915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Review BAPPERIDA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036E5F-FEA6-43C7-AFED-CE66FD8C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724912"/>
            <a:ext cx="18745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D7186"/>
                </a:solidFill>
                <a:latin typeface="Aptos"/>
                <a:ea typeface="Aptos"/>
                <a:cs typeface="Aptos"/>
              </a:rPr>
              <a:t>Menilai fokus, isu, indikator, dan target</a:t>
            </a:r>
            <a:endParaRPr sz="10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D69D820-695D-4093-B7E9-0DE8A3AE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41732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25E1458-91ED-4267-8BFA-65298F62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600200"/>
            <a:ext cx="658368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17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AEA9EC2-348B-4537-B8D1-A5B8E7BE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746504"/>
            <a:ext cx="1600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E3EC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AFDE72F-41DE-4AA5-B57E-527B3E74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35915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Verifikasi OPD</a:t>
            </a:r>
            <a:endParaRPr sz="14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BE8C9EC-DA3D-4647-BBDE-E86519D2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745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D7186"/>
                </a:solidFill>
                <a:latin typeface="Aptos"/>
                <a:ea typeface="Aptos"/>
                <a:cs typeface="Aptos"/>
              </a:rPr>
              <a:t>Memastikan definisi, sumber, dan operator</a:t>
            </a:r>
            <a:endParaRPr sz="10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8F99F1F-91A1-492F-81C3-02AE5353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41732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A61"/>
          </a:solidFill>
          <a:ln xmlns:a="http://schemas.openxmlformats.org/drawingml/2006/main" w="12700">
            <a:solidFill>
              <a:srgbClr val="2D7A61">
                <a:alpha val="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C4B448A-D5D3-4D49-A5BA-8C2968AE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600200"/>
            <a:ext cx="658368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  <a:endParaRPr sz="17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CA4D1B1-38E2-4799-9D94-259DFA56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46504"/>
            <a:ext cx="1600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E3EC"/>
            </a:solidFill>
            <a:prstDash val="solid"/>
            <a:tailEnd type="triangle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AB4FED7-F20D-405F-9B5F-C36DE362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35915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Persetujuan akhir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37845AA-1619-4C29-BBFB-C8650D0F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724912"/>
            <a:ext cx="18745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D7186"/>
                </a:solidFill>
                <a:latin typeface="Aptos"/>
                <a:ea typeface="Aptos"/>
                <a:cs typeface="Aptos"/>
              </a:rPr>
              <a:t>BAPPERIDA menetapkan indikator aktif</a:t>
            </a:r>
            <a:endParaRPr sz="10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FF3AE4D7-DCD8-459B-97B7-CF6BA0C9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144" y="141732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12700">
            <a:solidFill>
              <a:srgbClr val="0B2344">
                <a:alpha val="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07E4FCD-B87C-4C6F-A829-4F37F70F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144" y="1600200"/>
            <a:ext cx="658368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  <a:endParaRPr sz="17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846DDED-0165-41B7-B837-0B71E833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35915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Data dan rilis</a:t>
            </a:r>
            <a:endParaRPr sz="14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2B3BC20-C0D6-4762-959D-909F8084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724912"/>
            <a:ext cx="18745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5D7186"/>
                </a:solidFill>
                <a:latin typeface="Aptos"/>
                <a:ea typeface="Aptos"/>
                <a:cs typeface="Aptos"/>
              </a:rPr>
              <a:t>Sumber masuk, diperiksa, lalu dipublikasikan</a:t>
            </a:r>
            <a:endParaRPr sz="10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75F787F-6B57-4B2B-A9E8-D23A970C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14800"/>
            <a:ext cx="3154680" cy="105156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E4B70AB2-9085-4742-AFF3-A066F3EF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14800"/>
            <a:ext cx="73152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23E"/>
          </a:solidFill>
          <a:ln xmlns:a="http://schemas.openxmlformats.org/drawingml/2006/main" w="12700">
            <a:solidFill>
              <a:srgbClr val="B3423E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9C8C337-1B33-4336-8976-0948784D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4279392"/>
            <a:ext cx="2834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Jika tidak sesuai</a:t>
            </a:r>
            <a:endParaRPr sz="15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62A5C9F-13C4-4F19-96F1-CFE56DBB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4645152"/>
            <a:ext cx="2807208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BAPPERIDA mengembalikan atau menolak dengan catatan.</a:t>
            </a:r>
            <a:endParaRPr sz="122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9C18695-BBA0-4FBF-99BC-EBB6F5BB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114800"/>
            <a:ext cx="3154680" cy="105156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ACBB7217-806C-40BD-89E1-53AB79C1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114800"/>
            <a:ext cx="73152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CBF25A2-F2FD-4524-8DFD-523399A0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7448" y="4279392"/>
            <a:ext cx="2834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Jika teknis belum siap</a:t>
            </a:r>
            <a:endParaRPr sz="15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948A05A3-4922-4A54-9A19-9A327A5A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7448" y="4645152"/>
            <a:ext cx="2807208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OPD mengembalikan kepada BAPPERIDA dengan koreksi sumber.</a:t>
            </a:r>
            <a:endParaRPr sz="122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346968CF-1AAA-4417-B25E-52E38206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114800"/>
            <a:ext cx="3154680" cy="105156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CEE833CA-48C9-4F50-BDD2-F4A1B304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114800"/>
            <a:ext cx="73152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A61"/>
          </a:solidFill>
          <a:ln xmlns:a="http://schemas.openxmlformats.org/drawingml/2006/main" w="12700">
            <a:solidFill>
              <a:srgbClr val="2D7A61">
                <a:alpha val="0"/>
              </a:srgbClr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C07DBBF-BE98-4AB4-8349-40793C2A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8" y="4279392"/>
            <a:ext cx="2834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Jika sudah lengkap</a:t>
            </a:r>
            <a:endParaRPr sz="150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90FC45F3-A7F1-42DF-A5F8-96DE8B32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8" y="4645152"/>
            <a:ext cx="2807208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Master aktif dan data dapat masuk antrean pemeriksaan.</a:t>
            </a:r>
            <a:endParaRPr sz="1220"/>
          </a:p>
        </p:txBody>
      </p:sp>
    </p:spTree>
    <p:extLst>
      <p:ext uri="{BB962C8B-B14F-4D97-AF65-F5344CB8AC3E}">
        <p14:creationId xmlns:p14="http://schemas.microsoft.com/office/powerpoint/2010/main" val="4854394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DA79C40-A484-45D7-BE70-19374FC3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3C0BE59-A425-4376-A2E3-F5BD5CFB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Skenario simulasi lintas dashboard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6F551C4-7A07-4059-9F57-7F793193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Satu indikator diproses dari draft sampai terlihat oleh Pimpinan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2FC3D0E-51E1-4B50-9B5A-ACF13126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82CA132-5C73-42BD-8EFF-36F5B3D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08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5C56288-41BA-4A53-944F-29BEF3E1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234440"/>
            <a:ext cx="114300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2D7B6AF-03AB-4BCF-BA9F-25102A56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271016"/>
            <a:ext cx="960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CONTOH DEMO</a:t>
            </a:r>
            <a:endParaRPr sz="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1B9795B-3403-493D-BA35-A871C8F1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271016"/>
            <a:ext cx="95097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Ketahanan Pangan Daerah · Ketersediaan Pangan · Indeks Ketahanan Pangan</a:t>
            </a:r>
            <a:endParaRPr sz="15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8F5CAB1-C9CD-46A8-8C96-0F1F2383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324612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7558A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E5264C7-1B3D-4A5D-AB4D-588CE930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1343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971ED0D-82E6-4015-9436-255AEDEF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14016"/>
            <a:ext cx="3840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1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23B8459-0680-4C20-9D1A-30FE18AB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267712"/>
            <a:ext cx="2240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UPR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7272E12-7FB1-4904-A1AD-A4957386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51176"/>
            <a:ext cx="2240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membuat draft</a:t>
            </a:r>
            <a:endParaRPr sz="1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690D64A1-90C0-4C40-8EFF-CABDFCF0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057400"/>
            <a:ext cx="324612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8D83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E5C5FB3-15E1-466F-A750-FD3656CF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31343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7316571-AACE-4B0C-9EE4-B90A8F2F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14016"/>
            <a:ext cx="3840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4904DFB-808E-42FE-848B-56B1904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2267712"/>
            <a:ext cx="2240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BAPPERIDA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FEB529C-300D-412B-9F44-C8813902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2551176"/>
            <a:ext cx="2240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menyetujui kategori</a:t>
            </a:r>
            <a:endParaRPr sz="11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693CB7F-526B-4DAF-901D-4F88FE52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057400"/>
            <a:ext cx="324612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7A22"/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599D13E-6199-47D4-8D20-6D6093240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31343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1FB105A-ACDB-4A11-8C28-D7111041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414016"/>
            <a:ext cx="3840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1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A17CBAF-09B8-4EFA-9630-F9236B04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2267712"/>
            <a:ext cx="2240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DKPP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2DF8B13-D717-4EEF-A3CD-854AC676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2551176"/>
            <a:ext cx="2240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memvalidasi teknis</a:t>
            </a:r>
            <a:endParaRPr sz="11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C26242A-9477-466F-AD23-C4829D8A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66160"/>
            <a:ext cx="324612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B2344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3F99EE6-D179-4F10-A142-3903B4A4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82219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12700">
            <a:solidFill>
              <a:srgbClr val="0B2344">
                <a:alpha val="0"/>
              </a:srgbClr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B087DF6-C23E-45B7-9E56-CF843A24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922776"/>
            <a:ext cx="3840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  <a:endParaRPr sz="10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36A5437-24BA-4BCF-ACCF-C8AB77EA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776472"/>
            <a:ext cx="2240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Tim teknis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5E41C66-1DE6-4FFA-B444-3B1A9364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059936"/>
            <a:ext cx="2240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menyiapkan mapping sumber</a:t>
            </a:r>
            <a:endParaRPr sz="11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D5190F5-E96C-4204-AE7F-528AE16A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566160"/>
            <a:ext cx="324612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D7A61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8EC7D62-6026-4477-A5CC-CAAB701C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382219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A61"/>
          </a:solidFill>
          <a:ln xmlns:a="http://schemas.openxmlformats.org/drawingml/2006/main" w="12700">
            <a:solidFill>
              <a:srgbClr val="2D7A61">
                <a:alpha val="0"/>
              </a:srgbClr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8FF329C-94BB-4989-9380-F58CA5DC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3922776"/>
            <a:ext cx="3840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  <a:endParaRPr sz="10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1FC135D-5443-4689-8179-1ABDC905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3776472"/>
            <a:ext cx="2240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BAPPERIDA</a:t>
            </a:r>
            <a:endParaRPr sz="13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617BEB3-87AE-412F-8280-3D87FECA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2352" y="4059936"/>
            <a:ext cx="2240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menyetujui data</a:t>
            </a:r>
            <a:endParaRPr sz="110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9A012603-1C0C-4142-BEC9-1C484943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566160"/>
            <a:ext cx="324612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7558A"/>
            </a:solidFill>
            <a:prstDash val="solid"/>
          </a:ln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32563CE-58D9-44FF-824C-C5D6865D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82219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0CD5719F-B603-45C9-890A-2B1DA4A1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922776"/>
            <a:ext cx="3840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  <a:endParaRPr sz="10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125DBB4-9754-42DF-9D9F-C45D2F79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776472"/>
            <a:ext cx="22402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Pimpinan</a:t>
            </a:r>
            <a:endParaRPr sz="13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D571AE41-E9E2-4249-B86D-00D1B2AA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4059936"/>
            <a:ext cx="2240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5D7186"/>
                </a:solidFill>
                <a:latin typeface="Aptos"/>
                <a:ea typeface="Aptos"/>
                <a:cs typeface="Aptos"/>
              </a:rPr>
              <a:t>melihat rilis</a:t>
            </a:r>
            <a:endParaRPr sz="110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85055DF4-FE76-4556-85B6-8D99C679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40680"/>
            <a:ext cx="10515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3423E"/>
                </a:solidFill>
                <a:latin typeface="Aptos"/>
                <a:ea typeface="Aptos"/>
                <a:cs typeface="Aptos"/>
              </a:rPr>
              <a:t>Paket demo dapat di-reset setelah latihan tanpa menghapus master resmi.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800829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5F5C01-CCC9-44CB-980F-6AC8BF62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FDCFAAC-EF5E-48DB-A572-C137FE61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Validasi data sebelum tayang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10E1945-3138-4BA2-83B1-D8B5958D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BAPPERIDA memutuskan data mana yang siap dipublikasikan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B461690-CD04-4EDF-B514-47D8F7B7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EEA5E8A-93CE-4D1B-8481-B5141053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09</a:t>
            </a:r>
            <a:endParaRPr sz="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7EAFF6A-5CAE-4ACC-BE37-C84015FE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98448"/>
            <a:ext cx="21031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Sumber masuk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0995A12-891E-497F-A7D2-B8565F1E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691640"/>
            <a:ext cx="160020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7D2B2FF-BBFC-41F2-BF9C-DF402915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28216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Satu Data Kapuas</a:t>
            </a:r>
            <a:endParaRPr sz="9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FC076D8-51BC-48C3-A5FF-0CFAC457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21408"/>
            <a:ext cx="160020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FF4735C-05BE-415C-BF81-04A387DA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57984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BPS</a:t>
            </a:r>
            <a:endParaRPr sz="9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3169269C-6EB9-4C07-8245-F838796E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551176"/>
            <a:ext cx="160020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267B03F-6E22-4D00-8CD2-CC5523B5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587752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Unggah OPD</a:t>
            </a:r>
            <a:endParaRPr sz="9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4443C2C-4F37-4974-AAC1-3AA36F91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980944"/>
            <a:ext cx="160020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6BE700-C038-4870-949A-988AB84A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 manual</a:t>
            </a:r>
            <a:endParaRPr sz="9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D193CDC-3BB7-4361-B4CB-8280BCED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14600"/>
            <a:ext cx="1005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E3EC"/>
            </a:solidFill>
            <a:prstDash val="solid"/>
            <a:tailEnd type="triangle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5A639B7B-50C4-4145-A2B4-7E45D6D0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1463040"/>
            <a:ext cx="2514600" cy="2148840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9D44FB5-A733-4303-8700-420CFEBF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1463040"/>
            <a:ext cx="73152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F4F4561-B767-4E05-A131-3128041C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162763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Validasi sistem</a:t>
            </a:r>
            <a:endParaRPr sz="15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DE72430-487D-4F26-B75C-8D705C39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1993392"/>
            <a:ext cx="2167128" cy="1490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Tahun dan wilayah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Satuan dan tipe nilai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Kelengkapan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Duplikasi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Rentang nilai</a:t>
            </a:r>
            <a:endParaRPr sz="122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860D785-805E-41D4-B1A7-365D3DB1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514600"/>
            <a:ext cx="1005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8E3EC"/>
            </a:solidFill>
            <a:prstDash val="solid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D51E896-6023-41AC-B72D-E26E2DFB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463040"/>
            <a:ext cx="3520440" cy="2148840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9B62811E-1760-44B8-8DD5-0F98C62D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463040"/>
            <a:ext cx="73152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CCB2CD0E-A843-47E6-8406-BB10F7CE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1627632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Keputusan BAPPERIDA</a:t>
            </a:r>
            <a:endParaRPr sz="15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EF799F1-779D-42E2-87A8-B439BF79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1993392"/>
            <a:ext cx="3172968" cy="1490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Setujui untuk publikasi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Kembalikan untuk koreksi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Tolak dengan catatan</a:t>
            </a:r>
            <a:endParaRPr sz="1220"/>
          </a:p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Simpan sumber dan waktu pengambilan</a:t>
            </a:r>
            <a:endParaRPr sz="122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49F7E68-7460-4932-B0E3-8CE53510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60520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Yang diperiksa BAPPERIDA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0F37132-EDE0-4CAB-9E60-084E0BE1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26280"/>
            <a:ext cx="105156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5D7186"/>
                </a:solidFill>
                <a:latin typeface="Aptos"/>
                <a:ea typeface="Aptos"/>
                <a:cs typeface="Aptos"/>
              </a:rPr>
              <a:t>Indikator dan versinya · sumber dan URL · periode · wilayah · satuan · status OPD · kewajaran nilai · kesesuaian target</a:t>
            </a:r>
            <a:endParaRPr sz="16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B5495C9-0366-4674-9437-738CBC1E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7784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B3423E"/>
                </a:solidFill>
                <a:latin typeface="Aptos"/>
                <a:ea typeface="Aptos"/>
                <a:cs typeface="Aptos"/>
              </a:rPr>
              <a:t>Data yang belum disetujui tidak masuk publikasi pimpinan.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3552150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1F0D136-02BF-4394-82B1-D4DFAD5A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7E70E2-6901-4FB0-B0E5-0A8517D4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Jika OPD belum punya dataset atau website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B1507F0-030B-4E68-B0E1-BF2F8D9E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Ketiadaan API tidak menghalangi OPD menjadi pemilik indikator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BDAB20B-A755-4436-B4E4-29821616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65F7230-30B9-47F6-AF3C-4C3CB4E1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10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0777CD-A409-4AB7-9E67-868C203A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5029200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8A0CE76-C43D-4692-BFB4-C73DCDAA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7315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12700">
            <a:solidFill>
              <a:srgbClr val="17558A">
                <a:alpha val="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24F3952-B701-4214-AA06-3836CD8C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581912"/>
            <a:ext cx="4709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Form SABABUKA</a:t>
            </a:r>
            <a:endParaRPr sz="1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2D670D2-5214-4BCD-9D90-61EF7C8A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47672"/>
            <a:ext cx="4681728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Input capaian dan keterangan sumber</a:t>
            </a:r>
            <a:endParaRPr sz="122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3D26333-814F-400D-9055-30F6676A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17320"/>
            <a:ext cx="5029200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596D37A-6912-4800-96A6-1EB611C9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17320"/>
            <a:ext cx="7315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A478DE-F576-48EA-BE31-AC5EF1D0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581912"/>
            <a:ext cx="4709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CSV atau XLSX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B031B0F-4816-464A-89B8-E13DE164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947672"/>
            <a:ext cx="4681728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Template terstruktur dengan periode dan satuan</a:t>
            </a:r>
            <a:endParaRPr sz="122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C6C1B74-CDC8-461C-B71F-F96EF4FD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34640"/>
            <a:ext cx="5029200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8D86127-07DE-42BB-818A-B7947C8C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34640"/>
            <a:ext cx="7315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E0D8545-F12E-4B64-BE14-CE4B6DB2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999232"/>
            <a:ext cx="4709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Dokumen resmi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F72782D-A0B2-476D-AB2E-1CCEEC62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64992"/>
            <a:ext cx="4681728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Berkas yang disahkan OPD dan dapat ditelusuri</a:t>
            </a:r>
            <a:endParaRPr sz="122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7ECAEE2-02F5-4E38-8F9F-5B6BFF09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34640"/>
            <a:ext cx="5029200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D191118-2DB7-49BD-9C6F-30D06D32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34640"/>
            <a:ext cx="7315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A61"/>
          </a:solidFill>
          <a:ln xmlns:a="http://schemas.openxmlformats.org/drawingml/2006/main" w="12700">
            <a:solidFill>
              <a:srgbClr val="2D7A61">
                <a:alpha val="0"/>
              </a:srgbClr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7724727-DBE1-4D9A-8067-F4CCDFAE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999232"/>
            <a:ext cx="4709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Sumber resmi lain</a:t>
            </a:r>
            <a:endParaRPr sz="15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26561BC-D068-46B3-8ACA-296C9DAF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364992"/>
            <a:ext cx="4681728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BPS atau dataset yang disepakati kemudian</a:t>
            </a:r>
            <a:endParaRPr sz="122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4C18A03-D88A-4369-9A95-2B2F71BD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09160"/>
            <a:ext cx="10515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Setiap data tetap membutuhkan pemilik, periode, satuan, wilayah, waktu pembaruan, dan status verifikasi.</a:t>
            </a:r>
            <a:endParaRPr sz="16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3C27C85-783C-4142-A5A5-787A9F1F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349240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5D7186"/>
                </a:solidFill>
                <a:latin typeface="Aptos"/>
                <a:ea typeface="Aptos"/>
                <a:cs typeface="Aptos"/>
              </a:rPr>
              <a:t>Sumber diberi label: Manual OPD · Dokumen resmi OPD · Satu Data Kapuas · BPS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8023676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600BA00-E1AA-4B87-AEB1-5B4E6149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F00875C-A896-4489-B992-0F4A25D1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Konfirmasi organisasi dan kontak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E70506C-E787-461B-837D-F6ABB57A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Daftar organisasi perlu disepakati sebelum pemetaan indikator diperluas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5D0DFB3-AC29-40B6-B866-81179D3D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C92732E-AF24-4490-BBB5-EB6CD260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11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AC48FCB-628D-4929-AA37-FC1EB970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389888"/>
            <a:ext cx="3337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12700">
            <a:solidFill>
              <a:srgbClr val="0B2344">
                <a:alpha val="0"/>
              </a:srgbClr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5895CBA-A5B7-40E4-9BFF-308A7D7F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1527048"/>
            <a:ext cx="31181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Organisasi</a:t>
            </a:r>
            <a:endParaRPr sz="11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D1C3C66-DF2B-476A-865B-FD564306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1389888"/>
            <a:ext cx="1417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12700">
            <a:solidFill>
              <a:srgbClr val="0B2344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2A7E91F-F27E-4D12-9984-3A004FF8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527048"/>
            <a:ext cx="119786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Jenis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A19916F-F939-49A3-B7DD-3484B602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389888"/>
            <a:ext cx="21945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12700">
            <a:solidFill>
              <a:srgbClr val="0B2344">
                <a:alpha val="0"/>
              </a:srgbClr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EC1C863-02F5-4687-8DEC-63A241F4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1527048"/>
            <a:ext cx="19751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D36A8AC-C048-473B-BF43-91F70836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389888"/>
            <a:ext cx="42976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12700">
            <a:solidFill>
              <a:srgbClr val="0B2344">
                <a:alpha val="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297FEE4-8817-46DC-9C7F-7C74CD13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8" y="1527048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Catatan</a:t>
            </a:r>
            <a:endParaRPr sz="1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F0A7C4D-F40A-4C96-814F-20193ACA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847088"/>
            <a:ext cx="333756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1ADAFFF-120E-43EF-9F6C-23C787F1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1993392"/>
            <a:ext cx="31181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Dinas contoh</a:t>
            </a:r>
            <a:endParaRPr sz="10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2B50345-DC3B-4204-85E9-35B2CAD4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1847088"/>
            <a:ext cx="141732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007F35F-2104-408B-8E48-E6B7869D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1993392"/>
            <a:ext cx="119786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OPD</a:t>
            </a:r>
            <a:endParaRPr sz="10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116E4BF-0561-47A9-9D1B-7968AD65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847088"/>
            <a:ext cx="219456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E45EAD8-B5B9-46B6-BAC1-A2F27741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1993392"/>
            <a:ext cx="19751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Menunggu konfirmasi</a:t>
            </a:r>
            <a:endParaRPr sz="10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DA0E7DB-4070-409A-89B1-49D4CE98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47088"/>
            <a:ext cx="4297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7A660FE-9DEA-440C-A7EA-C7D8421A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8" y="1993392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Pastikan masuk atau dikeluarkan</a:t>
            </a:r>
            <a:endParaRPr sz="10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DEEB2596-3E3B-4E83-A7B0-97D669E4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377440"/>
            <a:ext cx="333756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6537537-71BF-427C-8C6B-05A81852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2523744"/>
            <a:ext cx="31181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Kecamatan contoh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C41F8D3-9937-45A9-A19E-83EDA467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377440"/>
            <a:ext cx="141732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D825C78-7685-4DCC-8211-5AB397D9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2523744"/>
            <a:ext cx="119786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Kecamatan</a:t>
            </a:r>
            <a:endParaRPr sz="10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3A0B1C2F-85BD-41C1-9113-ED8CD36D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377440"/>
            <a:ext cx="219456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2BF69FD-53CB-4D81-9B96-C32ECA43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2523744"/>
            <a:ext cx="19751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Terdaftar</a:t>
            </a:r>
            <a:endParaRPr sz="10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859A292-65BA-41B2-908B-4DF846E1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77440"/>
            <a:ext cx="4297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E8A7184-87BB-4899-83C4-4674FD07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8" y="2523744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Pisahkan dari daftar OPD</a:t>
            </a:r>
            <a:endParaRPr sz="10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A9A0A3E-559D-45EF-AD40-68C0DF07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907792"/>
            <a:ext cx="333756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F1A8B23-4C0C-4FF8-9945-000991F8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054096"/>
            <a:ext cx="31181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Organisasi contoh</a:t>
            </a:r>
            <a:endParaRPr sz="105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997DE4B-AA41-4603-86B4-6DC76445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907792"/>
            <a:ext cx="141732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DF7A94C-E2DC-4B83-B1DC-CA12A16C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1648" y="3054096"/>
            <a:ext cx="119786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OPD</a:t>
            </a:r>
            <a:endParaRPr sz="105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157A40CF-942F-42DE-BF35-8CAA0DDB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907792"/>
            <a:ext cx="219456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822B127-F00F-4600-A85B-BA4F98E1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3054096"/>
            <a:ext cx="19751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Perlu koreksi</a:t>
            </a:r>
            <a:endParaRPr sz="10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7E9EE49D-EFCA-49C0-9639-CB068A71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07792"/>
            <a:ext cx="4297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BFD10694-E835-4554-9931-193C0B6C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8" y="3054096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17324D"/>
                </a:solidFill>
                <a:latin typeface="Aptos"/>
                <a:ea typeface="Aptos"/>
                <a:cs typeface="Aptos"/>
              </a:rPr>
              <a:t>Periksa kode dan nama resmi</a:t>
            </a:r>
            <a:endParaRPr sz="105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BD006654-FB40-4CE6-8219-7A243593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319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Pilihan status: Masuk · Tidak masuk · Perlu koreksi · Perlu digabung · Menunggu forum</a:t>
            </a:r>
            <a:endParaRPr sz="140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B178059D-23BB-4BC2-BA59-3A23FED8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572000"/>
            <a:ext cx="3657600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4961827E-C19C-4B60-82B8-7317316D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572000"/>
            <a:ext cx="7315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0BD3A6C-2ED6-44A2-B37B-D3BC4F73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688" y="4736592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Form OPD</a:t>
            </a:r>
            <a:endParaRPr sz="150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63F8048-EA38-4EAC-A986-5F14B9FD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688" y="5102352"/>
            <a:ext cx="3310128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Website, portal data, PIC, operator, kontak resmi, dan kebutuhan integrasi.</a:t>
            </a:r>
            <a:endParaRPr sz="122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264B46A1-969D-439F-93F3-14C4B594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72000"/>
            <a:ext cx="3657600" cy="960120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E3EC"/>
            </a:solidFill>
            <a:prstDash val="solid"/>
          </a:ln>
        </p:spPr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91A59D10-7D56-459C-A38D-8348B445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72000"/>
            <a:ext cx="73152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A5E89BF-13D7-46CF-BB92-0F62F17E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0568" y="4736592"/>
            <a:ext cx="3337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0B2344"/>
                </a:solidFill>
                <a:latin typeface="Aptos"/>
                <a:ea typeface="Aptos"/>
                <a:cs typeface="Aptos"/>
              </a:rPr>
              <a:t>Koordinasi</a:t>
            </a:r>
            <a:endParaRPr sz="150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19770135-A9F3-4BDA-B702-9BB3811F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0568" y="5102352"/>
            <a:ext cx="3310128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20">
                <a:solidFill>
                  <a:srgbClr val="5D7186"/>
                </a:solidFill>
                <a:latin typeface="Aptos"/>
                <a:ea typeface="Aptos"/>
                <a:cs typeface="Aptos"/>
              </a:rPr>
              <a:t>URL grup resmi dan QR code ditampilkan setelah link dikonfirmasi.</a:t>
            </a:r>
            <a:endParaRPr sz="1220"/>
          </a:p>
        </p:txBody>
      </p:sp>
    </p:spTree>
    <p:extLst>
      <p:ext uri="{BB962C8B-B14F-4D97-AF65-F5344CB8AC3E}">
        <p14:creationId xmlns:p14="http://schemas.microsoft.com/office/powerpoint/2010/main" val="18733498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50AF594-27FA-4C65-8FDB-C62CD52D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AADECDD-0C99-44E8-9307-66D45785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84048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B2344"/>
                </a:solidFill>
                <a:latin typeface="Aptos Display"/>
                <a:ea typeface="Aptos Display"/>
                <a:cs typeface="Aptos Display"/>
              </a:rPr>
              <a:t>Keputusan forum</a:t>
            </a:r>
            <a:endParaRPr sz="2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03BB7F9-EB4D-4DEF-AD1C-27E41EF4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96112"/>
            <a:ext cx="10424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D7186"/>
                </a:solidFill>
                <a:latin typeface="Aptos"/>
                <a:ea typeface="Aptos"/>
                <a:cs typeface="Aptos"/>
              </a:rPr>
              <a:t>Hasil forum menentukan isi master dan urutan integrasi</a:t>
            </a:r>
            <a:endParaRPr sz="11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BCD69E2-E2C6-46E6-9BD2-FB2CBF37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65392"/>
            <a:ext cx="5760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5D7186"/>
                </a:solidFill>
                <a:latin typeface="Aptos"/>
                <a:ea typeface="Aptos"/>
                <a:cs typeface="Aptos"/>
              </a:rPr>
              <a:t>SABABUKA BERSINAR · KABUPATEN KAPUAS</a:t>
            </a:r>
            <a:endParaRPr sz="7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40BBFA0-06D7-4476-B91D-D4C6ABBC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832" y="6519672"/>
            <a:ext cx="457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12</a:t>
            </a:r>
            <a:endParaRPr sz="9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27DA568-7AF5-4AA1-9A10-BEFFFAC2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6245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E1FCF11-5F1F-4FB5-897A-D0A9E5A7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35608"/>
            <a:ext cx="29260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5CE5C13-9ED3-4DE0-B02F-DABB0C92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380744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OPD dan kecamatan yang masuk SABABUKA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50B63FC-B89A-408F-A2F8-AEF4EDCD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36245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8E1444E-98E5-441E-B1A7-2568B68D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435608"/>
            <a:ext cx="29260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572C5C2-34E2-4202-B8C7-396CED03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0568" y="1380744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Fokus dan kategori strategis</a:t>
            </a:r>
            <a:endParaRPr sz="13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1AAE3C6-5E09-4F27-873F-AACABF2F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3113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2AEDDAA-0DEF-4E5E-BE53-9A832784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04288"/>
            <a:ext cx="29260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7E06C66-C0FC-448F-8E4A-794142ED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249424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Indikator pilot dan OPD pemilik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4F683DF-0C7B-4530-AE14-51B5FB06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23113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C4D49B3-D93F-479E-B51D-39F3CB4A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304288"/>
            <a:ext cx="29260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  <a:endParaRPr sz="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FAB12D3-E16F-4CB4-9ED8-89F33946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0568" y="2249424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Bidang, PIC, dan operator</a:t>
            </a:r>
            <a:endParaRPr sz="13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601A4EF-E778-4F79-BFFE-A0C28429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9981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A8F9E9-EB98-440C-83DA-435A9A5E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72968"/>
            <a:ext cx="29260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  <a:endParaRPr sz="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99A9504-7E3D-4B46-855F-DA453879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18104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Sumber data serta jadwal pembaruan</a:t>
            </a:r>
            <a:endParaRPr sz="13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28E5C34-75BA-455E-A7E3-84548389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9981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222C4D9-296E-480E-83AB-FDF53D3A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172968"/>
            <a:ext cx="29260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  <a:endParaRPr sz="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8C1D4F1-B7FC-457D-83D7-1C7076E8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0568" y="3118104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Batas data untuk dashboard pimpinan</a:t>
            </a:r>
            <a:endParaRPr sz="13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ACE7C4B7-19CC-4B32-AC3D-0840B065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6849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57A0BBF-C9B8-43D1-AEED-7276F8FC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41648"/>
            <a:ext cx="29260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  <a:endParaRPr sz="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AAFCF3A-E86E-49CE-BCA2-BBAED38A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986784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Dataset Satu Data dan rujukan BPS</a:t>
            </a:r>
            <a:endParaRPr sz="13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6FC2E8B-582F-4568-9F0B-4B3A3277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968496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12700">
            <a:solidFill>
              <a:srgbClr val="D97A22">
                <a:alpha val="0"/>
              </a:srgbClr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CE08EE9-2076-45AC-A2F8-9EB8E30A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041648"/>
            <a:ext cx="292608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8</a:t>
            </a:r>
            <a:endParaRPr sz="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5D7A7C7-115B-4BDF-B2D1-334F8059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0568" y="3986784"/>
            <a:ext cx="4663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17324D"/>
                </a:solidFill>
                <a:latin typeface="Aptos"/>
                <a:ea typeface="Aptos"/>
                <a:cs typeface="Aptos"/>
              </a:rPr>
              <a:t>URL grup koordinasi dan persetujuan simulasi</a:t>
            </a:r>
            <a:endParaRPr sz="13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DCA8983C-2C8C-4BE7-A210-DBF6D1F2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10332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558A"/>
                </a:solidFill>
                <a:latin typeface="Aptos"/>
                <a:ea typeface="Aptos"/>
                <a:cs typeface="Aptos"/>
              </a:rPr>
              <a:t>Keputusan forum menjadi dasar perubahan status draft menjadi master resmi.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06423012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8A996F7-31C3-4E76-B872-15304D67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7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0B2344"/>
                </a:solidFill>
              </a:defRPr>
            </a:pPr>
            <a:r>
              <a:rPr sz="2475" b="1">
                <a:solidFill>
                  <a:srgbClr val="0B2344"/>
                </a:solidFill>
              </a:rPr>
              <a:t>Lampiran: resume Matrix RPJMD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35317-9F3E-4922-87C2-8577F23C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D7186"/>
                </a:solidFill>
              </a:defRPr>
            </a:pPr>
            <a:r>
              <a:rPr sz="1125" b="0">
                <a:solidFill>
                  <a:srgbClr val="5D7186"/>
                </a:solidFill>
              </a:rPr>
              <a:t>Ringkasan sumber acuan pemetaan awal SABABUKA · seluruh baris masih bahan verifikasi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4787C3-A734-4A40-B1FE-26589370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5D7186"/>
                </a:solidFill>
              </a:defRPr>
            </a:pPr>
            <a:r>
              <a:rPr sz="750" b="0">
                <a:solidFill>
                  <a:srgbClr val="5D7186"/>
                </a:solidFill>
              </a:rPr>
              <a:t>SABABUKA BERSINAR · KABUPATEN KAPUAS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C0874-BACD-49A8-8E1E-74B9890D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17558A"/>
                </a:solidFill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17558A"/>
                </a:solidFill>
              </a:defRPr>
            </a:pPr>
            <a:r>
              <a:rPr sz="900" b="1">
                <a:solidFill>
                  <a:srgbClr val="17558A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C36991-014A-4A3A-8CD6-F2AFD158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96D60B-F4E1-4B36-8D1E-A2864475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9225"/>
            <a:ext cx="2095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C1FECA-352B-44AC-AB30-11B68D9E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D517BC-81C4-4AFE-9B8C-E9E04DB4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19225"/>
            <a:ext cx="32670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Fokus kebijakan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A0516-4AFC-4F61-A46E-8E4ADA6A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381125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DAC057-CD5F-4C39-88C7-C767C8F4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419225"/>
            <a:ext cx="40957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Kel. isu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FD821D-58C3-4C61-9A58-04E79668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38112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F195EC-33CF-460C-8DE1-6A131CB3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419225"/>
            <a:ext cx="5048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Indikator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B33848-904E-410E-BB35-205F72C6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38112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95D1D6-291E-4906-9388-7057A938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419225"/>
            <a:ext cx="5048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Tkt tujuan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3D18DF-AC4E-4E80-960F-D5367F48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381125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D2A756-462F-4162-A3A4-FE8874F6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419225"/>
            <a:ext cx="64579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OPD penanggung jawab utama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A26BD0-339B-47A0-8363-AFA57949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6C7BF5-3B4B-4AEE-99A6-96537F1E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6425"/>
            <a:ext cx="20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966CB-EDDD-4D89-A2BC-905FA477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97CBAA-DC44-4898-B729-7323A51D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76425"/>
            <a:ext cx="3267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Kapuas sebagai sentra pangan dan hilirisasi agro-perikanan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328885-2DB8-4852-80FC-184BAE21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847850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AE6F61-F5FA-442A-9BE3-88C7873D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76425"/>
            <a:ext cx="409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35961B-E07D-4CDA-BC04-C529523F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84785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02B6AB-6598-49D1-8A77-481A8ABC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764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6620AE-EA64-46C7-90F3-681B2D2C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4785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940D3C-8FE3-40F7-B895-785E0964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18764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5615FD-208E-466F-B328-651134F1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847850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39661D-BEFA-40C6-ADF3-CD9D3C6B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876425"/>
            <a:ext cx="6457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DKPP; Distan; DPUPR (SDA); Disperindagkop-UKM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D9599A-148E-4256-A2D9-2C5C7E0A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14575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DDC28F-D2B8-4131-8FE5-86F70710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20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4FA37-4B68-47CE-9B5B-69A6772A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14575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5A7F25-F28D-45FB-97A2-6B38F75C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3267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Investasi, industri, dan simpul logistik Batanjung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E23F71-8F8A-4B52-AF19-A1C10F0C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314575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EABD7C-3FDA-467B-A11A-689107B5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343150"/>
            <a:ext cx="409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47EDF2-66E0-4221-B283-8C2DA956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1457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5752EF-B240-4EE0-BF80-77C30612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4315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FAE5B7-652C-444F-B7BC-27D2C7FA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31457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3A3CAE-1C1C-4048-A748-9F25BBA2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4315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29F2CD-EE98-4D86-8A81-905C536D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314575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710688-1655-4044-A3CC-B193D3C2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43150"/>
            <a:ext cx="6457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DPMPTSP; Disperindagkop-UKM; Bapperida; Setda (Ekonomi/SDA)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784814E-63E7-4401-8B0C-5F1EF305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FD2799-C693-453A-AF15-23FCF29D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9875"/>
            <a:ext cx="20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294719-C7A2-45FC-BF66-070FAE93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8193B9-12DB-4A1B-BCA0-F2B31A9C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9875"/>
            <a:ext cx="3267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Membangun dari desa dan ekonomi rakyat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A08D53B-29F8-457A-AFDF-8A9AA78C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781300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40BABF-2216-434D-B8EB-1EBA662C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809875"/>
            <a:ext cx="409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255CC5-113D-4571-AAB3-CA27BCFC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8130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5BDEAEE-3878-41C1-ACA4-4C0A523A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0987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6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0C151C-E01B-418E-95AB-9F5E2DC6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78130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35AC95-A27B-402A-BC0C-A4724605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80987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7FE022-2E00-448E-A437-1A420231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81300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23DA4B8-F9ED-4DE6-9E5B-0B4AC6E0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09875"/>
            <a:ext cx="6457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DPMD; Disperindagkop-UKM; Disbudparpora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6AA9EEA-9144-4691-AFDF-82FC477B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48025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0F235DB-D958-41FA-A820-D407A85C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76600"/>
            <a:ext cx="20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4245E0A-F7EE-42C5-8C1A-1BD35386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48025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4A351C1-00FF-42BC-A1E0-BEE9EE2B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3267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SDM berkualitas dan sejahtera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4170EDE-81C4-40D6-A3D8-FE098143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248025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618B44D-2733-440E-AD45-25B5220D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276600"/>
            <a:ext cx="409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A37408-2255-4C2F-BFFF-1D4792F8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4802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113D4A8-3A85-40FF-8764-23BEA12C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7660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20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AB61797-FFBE-489D-9F30-BD3ED815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24802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7A95AF3-F620-45A8-9539-C5E4B0F3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27660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6C4C498-EA8D-4C8A-8292-74C4672C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48025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4763E0A-985A-409B-B9D2-816A4D94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276600"/>
            <a:ext cx="6457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Bapperida; Dinsos; Disnakertrans; Dinkes; Disdik; Disarpus; DP3APPKB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5B46C87-753F-443A-AB75-EB73085C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850DDB1-C24E-49AF-B35E-8FAA2462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3325"/>
            <a:ext cx="20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5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D14EF9E-1C16-4809-9BE9-9B6A28A9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0157997-06AF-4125-B312-11CFD1B9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43325"/>
            <a:ext cx="3267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Konektivitas wilayah dan layanan dasar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2583705-8C9A-4A65-B076-6BBFCDAF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714750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5CC2E2A-B9D4-49A5-A0CF-707E260D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743325"/>
            <a:ext cx="409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3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48FC572-B2CA-4C93-B086-1A96E692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1475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B72E870-EE75-4AFB-B312-AE759E6E3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433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6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F3F7CAD-788C-4668-A8A6-C6E4BD78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CF40635-09C2-401E-94E0-1844A4AC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7433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1F6E39C-5B04-440B-B25C-8DCB0598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14750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5E5772B-FB34-4D6C-B46B-EC581355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43325"/>
            <a:ext cx="6457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DPUPR; Dishub; DPUPR (Cipta Karya); Disperkimtan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258F80F-6540-43EE-B2B7-2D11C9AA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81475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9527156-5906-4B10-8763-129178DE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10050"/>
            <a:ext cx="20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6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0D01923-1B52-4797-9B8D-38024290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A02C722-C7E5-47B1-A174-1F25BBAB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3267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Lingkungan, iklim, dan kebencanaan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8D3AB70-1DC3-49FF-BA51-A66F8733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81475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B996C10-1F7C-474A-A61B-E0EACC84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4210050"/>
            <a:ext cx="409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4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A26435A-5ED6-4B83-A88E-A9ECD970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8147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0166D97-F03C-40C0-AE6B-6790D8F9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1005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10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3A86685-C681-4E03-A6C6-8E3914F0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18147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F68A647-1DAA-4141-9382-CFAC8E62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21005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9BA3A9D-FC91-4BA4-800B-E1D786C1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81475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8F6C5C0-47FD-45AC-8C0A-C34B5C53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210050"/>
            <a:ext cx="6457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DLHK; Bapperida; BPBD; DPUPR (Penataan Ruang)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017074C-1F32-4DDA-9787-1A40E176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48200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DBFB631-BEF9-4A53-8401-774CF89E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20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7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CD9C6F9-C198-47F1-91A7-8D6541CE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FA3FF7D-0232-451F-BD3D-1E3D17B5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76775"/>
            <a:ext cx="3267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Kapuas aman dan religius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C211C40-6FDB-4CA1-B5D5-978294C1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648200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A6AE0BE-993E-466E-B429-D4FAB6BD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4676775"/>
            <a:ext cx="409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B280AF6-E20D-48A9-BBCD-A6071E30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4820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4399D90-6554-401C-8557-1BA4E3B6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7677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2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12BAA6F-4039-405D-99C7-87873E09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64820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9A8E224-14F5-4168-B707-96E68FCD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67677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BFA3A28-81DD-462D-AD14-70B80B01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648200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5240113-5F2F-41D8-8A6E-3675CFDC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76775"/>
            <a:ext cx="6457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Kesbangpol; Disbudparpora; Satpol PP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4286C29-BC90-442A-BF8A-F7B033B7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14925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3B5280F-4FA1-4020-AEC3-BE6C16E5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0"/>
            <a:ext cx="20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8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3954E8A-FF94-461B-91B2-DDA36490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14925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0B6F786-5D17-4B1F-9C33-6F608A77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3267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Tata kelola digital, data, dan fiskal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84AAEEF-0C07-4085-8A11-6FFF6D1A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5114925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E2F2A96-8657-4CB4-B995-6ECE250C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143500"/>
            <a:ext cx="409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4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E8F5807-FBE6-4CAA-8DAC-17029B27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1492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1BD5576-F24E-4D2C-87F4-A51F8E0D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14350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13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17FE6C73-6068-4BF2-898B-482A8C60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5114925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8BFE3F6-9930-47E1-877A-FA0CA7A5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514350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2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AF960EA-D3C1-428D-A16C-F0D206EE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114925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57F5DDE-8C34-4619-AA8C-1CE2B5A8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143500"/>
            <a:ext cx="6457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Setda (Organisasi); Inspektorat; Disarpus; Diskominfosantik; Bapperida; BKPSDM; BKAD; Bapenda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E3B962E-53C3-4CFA-A2EE-77001F5A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81650"/>
            <a:ext cx="3238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DD72280-BA60-4BD7-8A39-69A8254F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0225"/>
            <a:ext cx="209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1CC35BA-A651-46A8-A039-DC7FB2D5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81650"/>
            <a:ext cx="33813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1DC3779-FDBF-44F5-8D33-7CC6AE25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0225"/>
            <a:ext cx="3267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TOTAL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A92B8C82-544D-443B-B37B-C69666F0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5581650"/>
            <a:ext cx="52387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BFB15B8-893E-49C9-B119-BB59F5FC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610225"/>
            <a:ext cx="4095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29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E6FF1F8-D237-463F-84DA-0F7C4548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58165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F9FA83F-5462-46A1-A207-1296D688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6102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69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E2A861C-2A96-4A7D-BE4C-4DC25991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5581650"/>
            <a:ext cx="619125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159C66E-E73C-4631-92D9-E2855236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56102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9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8BDA945-FE88-4124-8DCF-4051F28B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581650"/>
            <a:ext cx="65722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7688BEE-DE62-4AFA-84B7-4C0589009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610225"/>
            <a:ext cx="6457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17324D"/>
                </a:solidFill>
              </a:defRPr>
            </a:pPr>
            <a:r>
              <a:rPr sz="675" b="0">
                <a:solidFill>
                  <a:srgbClr val="17324D"/>
                </a:solidFill>
              </a:rPr>
              <a:t>Bahan pemetaan awal, belum penetapan final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8BBD848-BA65-4470-889F-3F3332CD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ctr">
              <a:defRPr sz="1050" b="0">
                <a:solidFill>
                  <a:srgbClr val="5D7186"/>
                </a:solidFill>
              </a:defRPr>
            </a:pPr>
            <a:r>
              <a:rPr sz="1050" b="0">
                <a:solidFill>
                  <a:srgbClr val="5D7186"/>
                </a:solidFill>
              </a:rPr>
              <a:t>Catatan forum: konfirmasi nama fokus, kelompok isu, indikator, OPD utama, serta pemisahan pemilik kebijakan dan pemilik data teknis.</a:t>
            </a:r>
          </a:p>
        </p:txBody>
      </p:sp>
    </p:spTree>
    <p:extLst>
      <p:ext uri="{BB962C8B-B14F-4D97-AF65-F5344CB8AC3E}">
        <p14:creationId xmlns:p14="http://schemas.microsoft.com/office/powerpoint/2010/main" val="177703172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211C4AD-B6F4-49AF-A87B-0BC8B5CD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7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0B2344"/>
                </a:solidFill>
              </a:defRPr>
            </a:pPr>
            <a:r>
              <a:rPr sz="2475" b="1">
                <a:solidFill>
                  <a:srgbClr val="0B2344"/>
                </a:solidFill>
              </a:rPr>
              <a:t>Lampiran: matrix forum OPD dan kecamatan (1/2)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719FE2-9F34-433D-B0B0-4D605723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D7186"/>
                </a:solidFill>
              </a:defRPr>
            </a:pPr>
            <a:r>
              <a:rPr sz="1125" b="0">
                <a:solidFill>
                  <a:srgbClr val="5D7186"/>
                </a:solidFill>
              </a:rPr>
              <a:t>Direktori resmi berisi 28 perangkat daerah/badan dan 17 kecamatan · keputusan forum diisi bersama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C2790-5DB3-4F1E-92BF-0E38062F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5D7186"/>
                </a:solidFill>
              </a:defRPr>
            </a:pPr>
            <a:r>
              <a:rPr sz="750" b="0">
                <a:solidFill>
                  <a:srgbClr val="5D7186"/>
                </a:solidFill>
              </a:rPr>
              <a:t>SABABUKA BERSINAR · KABUPATEN KAPUAS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9A3FC-F9C9-4B5C-9956-E82D5204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17558A"/>
                </a:solidFill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17558A"/>
                </a:solidFill>
              </a:defRPr>
            </a:pPr>
            <a:r>
              <a:rPr sz="900" b="1">
                <a:solidFill>
                  <a:srgbClr val="17558A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AAA58-9F89-458F-B593-45B608E0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3811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1BF66-ECE3-4C67-9555-F84943B4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19225"/>
            <a:ext cx="342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ACC26-3E12-4CE4-89E0-1A5C861A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3811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9C1AB0-917A-4F07-AABE-649B206D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419225"/>
            <a:ext cx="3638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Organisasi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41784-2C27-43F4-B648-09503347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3811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ADE040-7994-484D-8A0D-5EF9E2D7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419225"/>
            <a:ext cx="1409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Keputusan forum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B81F1-9BE0-4259-A112-1D47F6AF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7526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37C9AA-E9DE-4F9B-8794-77A6296C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7811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D28A32-AC05-4BBF-BF3C-DF6E1178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526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C5A3E2-84D9-4925-9954-FD9BFC01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811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Badan Perencanaan Pembangunan, Riset dan Inovasi Daerah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5BE597-4652-4195-B591-9626DEAC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7526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DBF65E-8CAE-4BFB-8DC2-11334129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7811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5DB942-9645-44DF-A168-9B201973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240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514262-6DC4-47D1-81A6-76AD7B56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1526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21145F-9B8B-4013-B4E0-124C249D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1240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3B9E68-D8E3-4CE7-8320-12CF5F54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1526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Pendidikan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55F53D-249C-409B-AA3B-5C0D215C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1240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972296-E96C-4858-8CDA-F3B9BEAB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1526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A2B176-3320-4817-8920-4AE20C28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4955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416379-C3F3-4C84-A301-FABB9B21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5241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07F1D4-887D-4466-AAC1-F3D922AB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4955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A29926-72B1-49B0-8EB2-377729D7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5241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Kesehatan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BC6D9B-DA62-45DA-B4D8-8751C7A4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4955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577DC7-2D33-43C6-848C-B48C7AC5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5241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110FCA-C697-4BAF-869E-8F0351E2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8670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A79F0-69B4-4C0A-ADEC-D14F671B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8956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EB58CB-4D4A-41B0-B608-07C7AF5C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8670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AEAE78-60CA-413B-9536-B96C2942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8956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Pekerjaan Umum dan Penataan Ruang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5EF4CB-7EBF-4AFB-AFFD-1D0E74D5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670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454CAC-31DF-41B8-84D2-0534CAFA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956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D77746-542E-4845-9F7B-C8D5916E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2385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DD0B13-15EA-4FB0-B886-9B784BCC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2670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437B17-C42B-4743-B9C8-965193A8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385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7835D7-3646-458C-AD19-938A7BB0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2670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Perumahan, Kawasan Permukiman dan Pertanahan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ACD88A-7B29-4FAF-B8AD-6995D931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2385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FE3B09-F98E-473A-AD95-FFC353C5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670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32D181-AF5E-413C-B54A-8ED3FA82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099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DCBC16-14FE-41BF-A804-006A7BED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6385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C93C18-1C7E-4F5F-B861-44E6BABA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6099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7623552-6123-4208-954C-A1AE46F9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6385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Lingkungan Hidup dan Kehutanan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FC3C65-058E-4E35-84FC-0CFBE043D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6099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F4FE71-0B43-44BF-A62A-8BAB3EE1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6385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121C17-51EB-46F6-8A68-5B5EC5CA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BD8DB2-EF95-4935-8759-AFFC64DC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0100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7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7BBF53-DBB0-4CB5-B8F1-4FB1E62C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9814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5569B79-557F-4497-A880-DE8179B0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0100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Pemberdayaan Masyarakat dan Desa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4DD47A6-2451-4751-A253-900BE743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9814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5DAA8BC-7DBE-4DAB-AC8E-94E20FCE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100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CC619A-462A-4AC4-B5E0-4DB0A172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3529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C1D332F-D5FA-401C-B56B-FD5F7796C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3815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8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1CE8969-9FB2-49DB-9A6F-28F96DE2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3529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0D3E900-60A3-459C-A84F-5FEB7CAC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3815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P3APPKB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5CCC7B2-0F97-415C-8BAA-7C18ABA5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3529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49C229C-4BB6-4C61-A398-0F7A3C46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3815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290ED2-29DD-4A20-B599-E93A60FE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7244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84C8D7B-FCE2-4850-AB0F-2AF0A285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7529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B633894-ED3F-4401-BEA3-1DFB2E85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7244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D0EA3F-8CC6-49CF-8721-40118037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7529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Ketahanan Pangan dan Perikanan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56FC690-9FD3-49DA-9DE7-E233EDC2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7244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654C213-4155-49CD-BB23-9B4371F8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7529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02F659F-543D-4211-8DA2-FA11D57E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0958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9803E47-652C-476E-90B0-6C9C4A8B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244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06BF17-15C3-4B59-8894-AADB530B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0958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AEAFEBD-5DBE-4E8E-9F4A-6F399B5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1244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Sosial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A740A7C-AB44-4ED3-8090-566BFE4D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0958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DB1E4C1-C4C3-4007-A21E-665606DF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1244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15D0F93-647C-48A3-8E9E-839FDBFF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4673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2C7B94C-A373-4B97-90CC-3B8F2DC1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4959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11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173CD2D-DB7D-4404-86E6-DC3855A1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4673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5ED80CF-3725-4A01-8660-66D52665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4959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Perdagangan, Perindustrian, Koperasi dan UKM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065A2A1-D29B-440A-A7D4-350E3E60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4673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795F108-F355-4871-951F-B0D829B4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4959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1D0ADEB-B76D-4F17-BBD7-7034FF10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388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D98A492-4D12-4808-954F-92ECA0FB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8674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12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DA79ADA-EC90-4856-BDB5-CEEC6B56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8388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51A05CA-5440-41AB-AFC2-4F9FD503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8674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Tenaga Kerja dan Transmigrasi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A742045-506D-460D-8AD1-35F73A3F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8388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A873B00-2A62-4331-B874-C8C9CB61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8674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9C04F97-63B1-4F75-A67B-673F2152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811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F51126D-8C49-4434-B754-A4278F8C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419225"/>
            <a:ext cx="342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E888E30-8AF2-4218-8D95-CE4C70D5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3811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D2172C3-6018-4A02-AE07-BB9343B1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419225"/>
            <a:ext cx="3638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Organisasi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061EDF5-A97D-4A85-8CE1-7FC32697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13811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9F12595-7899-4D56-BCB7-F93339B7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419225"/>
            <a:ext cx="1409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Keputusan forum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A31C235-CEBD-4BD8-A070-F16104B9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526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20E956F-C0FA-4630-B06B-DDE166D1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811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32C0F73-4D08-4563-A578-0FE29895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7526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CD08C3F-9483-4B46-9027-58BE4C51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811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Pertanian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9D0DE0F-9111-465B-B04E-673D641D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17526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226EC1F-7C07-4475-9B63-CD6295F3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7811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C7A978E-7629-4FC7-9340-044BBE06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240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47FFCBE-03D6-4D80-9599-95771F70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1526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14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10D22A3-2474-48CC-AF2D-679672661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1240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BAAB967-7034-48C7-B442-07C93D4F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1526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Penanaman Modal dan PTSP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120814C-7594-4E09-ADB5-52900A8B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1240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4557C90-B7D7-4636-86B9-6A07657A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1526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06E6DB4-4FD7-4172-A2E9-5D2849A8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955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B8890CE-FC0C-4B66-A114-E3A1E95D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5241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15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8B355C1-F29C-4B5A-94C2-2BA1E64B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4955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34FB90E-6090-4536-945F-E880F67B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5241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Perhubungan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8228816B-C93E-4ECB-A46A-EFE2D5E5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955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3DD57A6-29D6-4F13-97A5-22FC30FF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5241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4EB32E6-7C76-4E9F-8831-B18AF932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8670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C7389F7-67A6-4CBE-ADE7-CF924832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8956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16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23E54FC-3F25-4F40-82F0-F9E0E66C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670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7D069CA-D37B-4DF0-A026-C87F079D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956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Kearsipan dan Perpustakaan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8B6980E-5F2F-4743-A64E-03F43496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8670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9CBF5B5-2F67-49FE-9039-04E3BF83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8956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545CDFA-FA5E-4B74-B476-92FDADBA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2385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AA5C015-DB1A-4D9B-BCBE-30F54BF5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670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17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67CAE63-86B5-4035-8BD3-124EA9D4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2385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19AF0AB-47B8-4DEF-AEA8-78B86EC6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670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Sekretariat Daerah Kabupaten Kapuas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67FDDC2-2F73-40BD-8718-D925989F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2385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6D8F05B-9883-4389-A4B7-E75E2DAB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32670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03C1CFE-D16F-48EB-A829-9E8E9404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99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B4BD457-6A81-4194-A1D9-7D9FA43E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385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BA8402D1-4142-49BF-850C-CA99C6EF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6099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6966B8D-C23F-41A0-ACC9-C11F358C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6385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Inspektorat Kabupaten Kapuas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5C9FDB1E-A170-4109-B428-77E6F077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6099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92A1897-D4A3-4685-9781-8EBF6C38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36385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12B16F8-12DD-491D-858F-BE5780B0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9814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F9EE153D-E530-4AD2-BBCA-2CE631EC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100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19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1178F147-47B2-4944-B6D7-61E018FA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9814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7157101-9A40-440B-8167-3673F00D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0100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Sekretariat DPRD Kabupaten Kapuas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5B5AC9D-EF53-44B3-8741-8E0AC9BD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9814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FDABDB2-C558-4D03-ACF3-C25E12C6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40100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C5854C31-088A-4DE5-A513-81B91719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3529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C5B43F0-AF5A-4BDC-BF4F-08AA7EC3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3815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20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0BE0E73-7D9E-47F6-AFB2-60C745EA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3529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9A60ACC6-E89C-4304-BE40-4E23BF8A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3815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Badan Pendapatan Daerah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940E96BB-D8B0-4762-BD30-49837E39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43529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DE103C1-48B5-456A-9DF9-FF9A4733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43815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321B6C3-2BC1-409D-8E31-59CEF1FB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7244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AF8C33D5-D70D-4CB0-BA50-04CD19D2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7529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21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5289E6E1-F925-42F9-B743-462E708A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7244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EF307EF-FFF0-4F11-8399-1AF9955B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7529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BKPSDM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525263B6-3250-4823-ABE2-AFCB4CB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47244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E7B90B8-6A0D-4ACA-831F-BFF7BB42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47529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02C25A6-B8A1-4B7C-969B-A61027AD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0958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6C94968-6631-42D2-86C2-AB447F63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1244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22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BD72F2B8-77B8-4FDF-8A43-617B5653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0958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76AAC9BF-51D9-491E-AE07-3810A33E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51244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BKAD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1509935-4BA0-4F86-9AA2-741364F9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50958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EA45986-7E97-441E-98E1-E0469AD7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51244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76158FA-D776-47F6-BDDB-D78B1A47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4673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70839CB0-8A1E-41F4-AA64-DE87FDF6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4959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23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350201A-E017-4EE5-A4E8-7A86019F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4673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E69463D-17E5-45C6-AF0A-D781E681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54959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BPBD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814D49FA-A4F4-4DCF-8034-41D9D697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54673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3FE501AB-6B80-4B9B-A38E-8C07EE39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54959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8515EB96-B28C-4736-BC05-A055E058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8388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1C3E0DB0-A7D2-4F87-8A48-B844AE81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58674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24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1E915129-13B9-46C9-A5E2-4F9024AE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8388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2720224-E548-4C5F-BE1A-536512DE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58674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Pemadam Kebakaran dan Penyelamatan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8BFEF43D-DA67-4ADA-8171-39AA0F6E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58388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67B463E5-5EB4-4D47-B7E1-87A31BB7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58674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A4BB4F3C-2D06-4069-A4D7-AE3E1E16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D7186"/>
                </a:solidFill>
              </a:defRPr>
            </a:pPr>
            <a:r>
              <a:rPr sz="900" b="0">
                <a:solidFill>
                  <a:srgbClr val="5D7186"/>
                </a:solidFill>
              </a:rPr>
              <a:t>Isi forum: masuk · koreksi nama/kode · tambah · keluarkan · menunggu konfirmasi</a:t>
            </a:r>
          </a:p>
        </p:txBody>
      </p:sp>
    </p:spTree>
    <p:extLst>
      <p:ext uri="{BB962C8B-B14F-4D97-AF65-F5344CB8AC3E}">
        <p14:creationId xmlns:p14="http://schemas.microsoft.com/office/powerpoint/2010/main" val="35662799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AD3F5DB-3AFB-4AE1-838F-AACF122B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7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0B2344"/>
                </a:solidFill>
              </a:defRPr>
            </a:pPr>
            <a:r>
              <a:rPr sz="2475" b="1">
                <a:solidFill>
                  <a:srgbClr val="0B2344"/>
                </a:solidFill>
              </a:rPr>
              <a:t>Lampiran: matrix forum OPD dan kecamatan (lanjutan)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03F9F-D571-457E-A26E-3C95A105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D7186"/>
                </a:solidFill>
              </a:defRPr>
            </a:pPr>
            <a:r>
              <a:rPr sz="1125" b="0">
                <a:solidFill>
                  <a:srgbClr val="5D7186"/>
                </a:solidFill>
              </a:rPr>
              <a:t>Daftar lanjutan · keputusan forum diisi bersama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95E4B-1F21-484A-99DB-08F4754D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5D7186"/>
                </a:solidFill>
              </a:defRPr>
            </a:pPr>
            <a:r>
              <a:rPr sz="750" b="0">
                <a:solidFill>
                  <a:srgbClr val="5D7186"/>
                </a:solidFill>
              </a:rPr>
              <a:t>SABABUKA BERSINAR · KABUPATEN KAPUAS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EB9CE-D769-452E-BEB9-4E412033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17558A"/>
                </a:solidFill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17558A"/>
                </a:solidFill>
              </a:defRPr>
            </a:pPr>
            <a:r>
              <a:rPr sz="900" b="1">
                <a:solidFill>
                  <a:srgbClr val="17558A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C8226B-2F35-4FB1-94DE-4E7179A79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3811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5F545-505F-437E-A0A9-8CCA81F2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19225"/>
            <a:ext cx="342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AE8B14-4ED8-4969-964F-44AEE574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3811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CAE07-FBC6-4706-B9BB-178413AE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419225"/>
            <a:ext cx="3638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Organisasi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11E4F-19DD-4A51-8BDA-EA9CC7D8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3811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C1EDB-1322-4E8F-8EA0-7694056A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419225"/>
            <a:ext cx="1409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Keputusan forum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9629D4-EB3B-4D43-AD7F-F3DC3F71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7526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DF9574-CC9A-4138-A5C5-A1A0159E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7811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7002EF-E2D8-4E82-8B3E-C7A2624B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526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FE47AA-34BC-4EAC-800A-72B45F2E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811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Satuan Polisi Pamong Praja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4E1D9B-3262-49CA-87A5-4FAF8911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7526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4B8F7-FD40-4343-939F-B981062A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7811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C728F2-D970-48FE-98B7-18C20702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1240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28273E-9845-4215-B86F-19D57576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1526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E0E1D-D392-4AEB-B906-DB18ADD5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1240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E0303E-CFD2-4F1D-8CCE-1B6522B8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1526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Diskominfosantik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4E53FE-F3A2-4580-AD01-A2B75B95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1240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DE14DF-9664-4766-A811-ED26DE1E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1526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8E12C6-1553-4F4C-AF58-B49C0D7B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4955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619930-5229-4240-B936-80B8FF67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5241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2DB30B-99FC-4D68-BD6B-0659B16F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4955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F92CAD-1C3C-4FAE-AFF6-A78A3630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5241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Dinas Dukcapil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713B37-ABE2-49C4-8A06-E8A3325E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4955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1BDB0E-F491-48C6-92DE-FB1B1D14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5241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716BC-333B-4B5D-A3C1-3E2839B7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8670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CB1365-E527-430C-B7E5-127D685A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8956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ACFC5D-4BC8-4FB6-A089-AF020F942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8670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2977D8-D369-41DC-BACD-8909ECF4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28956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Badan Kesbangpol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15A29F-6540-4B83-BCE3-FB133FB8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670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AA2FC57-2964-460A-8EB1-4FDF619C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956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6F3996-F386-4CBE-A07D-002721E6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2385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BF16CD-78D8-44A0-9A65-6C0698C3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2670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29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083DA9-0EA2-4BED-BC80-B9D939CD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2385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0A1BA3-8EEB-452B-A58F-1D632124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2670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Selat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A8C1BA-F64D-46AD-8DC7-157E9DB7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2385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94B382-BC63-4FBF-97EC-725002AC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670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E6A78DF-F55B-47D9-8B12-28673873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099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2B8613F-2855-42AC-AAB5-0B4B6251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6385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16238AE-BE80-4745-ABBC-22300069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6099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F39FEF-25A0-4E96-B28B-856F11DF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6385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Kapuas Hilir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4D7B94-EBF7-426C-87A9-98E83805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6099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935E2C1-8388-4B3D-A4D8-25D2ACFD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6385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FF574B-9004-48AC-AFDE-2C6F954A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9814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7270276-1513-4955-A403-E8E72D5C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0100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8616F90-1139-4585-B4F9-74F10F94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9814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8B32E54-F9BE-4E92-9046-722C6BDE2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0100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Kapuas Barat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CBDEEFF-6701-4391-B0CE-0F6E19A7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9814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7C39D3F-BA0C-48A9-825F-58BD087DC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100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42C538D-B2E6-42A0-89DA-EC86F5C4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3529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ACC7C00-9A57-41C5-8F7E-916889C7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3815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32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2403151-009A-4AD3-B94D-10AA3A79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3529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8A42B00-0753-432A-AEC2-A4CF54CA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3815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Basarang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0030512-0236-4D33-8499-C06A448F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3529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B27185A-9167-4509-B638-CE19D2E4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3815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3E5B6AC-582F-4E6F-9FDC-8FDB8E88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7244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75D37F1-1CE6-444E-B646-6C2D21B1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7529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529EC60-A36E-4804-8685-7C4C679C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7244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2F05B09-F584-43F7-8397-7DE34421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7529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Kapuas Timur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4FEDB31-EF91-4976-AF50-DA3E8EAB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7244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69E52BB-D119-4A47-9DED-4EEA26E3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7529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5D0A5E5-9D0E-4811-A74A-A50EA2BD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0958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1CFFDF6-C235-4A34-9897-378EAFFF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244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8F0F2AA-115D-4CFC-8449-745EDD23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0958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ED96F6F-67BC-4F53-A54C-83FA2237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1244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Pulau Petak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8B4D14E-E512-44DA-91C3-C304159F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0958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3AD285B-8482-43A5-87C3-BE9FCB81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1244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ED7E90-2641-41E6-88FA-AE562AFE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4673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BEDEC9E-B3F4-4547-A3BB-F3A26FC5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4959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D27F649-3D10-4A71-8383-E89ABD58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4673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E1E0715-D422-469C-97E5-217E61D6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4959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Kapuas Kuala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BD7B57B-6A51-42A0-B26D-DCEE822C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4673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0F99E2-D3BB-48A0-96CC-86CD6ABC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4959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307E7F5-CE08-40FF-AFF4-EE9135CD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388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FD8C11B-D761-4C52-BAE3-C2D402A6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8674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36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3E0653E-5AD4-48BF-8C38-7F8FFDFD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8388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4C06B39-F02B-4EC9-A835-D3B62EBA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58674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Mantangai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28F8329-CA82-40E2-90BA-126CF7AE0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8388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2D6ACBE-19CC-4B2B-8603-EF037977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8674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DD1E33E-F641-4554-8ECD-EEC0B1BE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3811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422A552-F374-404A-8751-BD0BF71C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419225"/>
            <a:ext cx="342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DCDC2BF-8E44-424A-AA1D-E1112529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3811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12E4611-111B-4F9D-BBB4-9EF1FF50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419225"/>
            <a:ext cx="3638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Organisasi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A254EF8-F259-4CD5-96D6-589BAFB4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13811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344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92FB760-C52D-40AE-B6BC-8EAAC7BE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419225"/>
            <a:ext cx="1409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Keputusan forum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FAF72BD-38A0-4335-B977-5FFA4136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526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CAA90C3-769D-4376-B8DC-FE16A1C3D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811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37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16C4938-CC8C-448F-AE9C-15B2EA26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17526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BCAF443-6C2E-45D4-A135-1D39F663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811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Kapuas Murung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F0D49EF-DECC-4BAB-B290-36521E95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17526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212BB19-BB46-4393-8572-0C35334B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7811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D4106E7-B6D1-429C-B33F-9C5648B6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240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3BF1359-4481-41F1-8571-D191DA0C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1526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38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5D0977B-ED28-4941-97E3-CEB52AF0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1240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4D38B7C-6D16-42B9-86B2-999A6B35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1526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Bataguh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3F34FEA-D9D0-420C-B16A-5168FCF5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1240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03C2C65-9015-4FEC-9D37-76025445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1526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892E2B5-58DD-4CD2-894F-3D55C0FC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4955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6B653CA-C82E-4232-8725-5F026E01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5241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39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7091FFF-B74D-4A36-832C-BCFFB864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4955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4675E18-212F-41C7-B1E0-0D15DC87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5241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Tamban Catur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D6DC1E7-4638-46A8-9C89-0F18530D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955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22787C5-D687-403D-83B4-2BDF410B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5241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D603D0B-A0DC-4EBB-A8EC-FF5F1A64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8670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EC02E7A-3FDF-45A9-979E-D0E002F7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8956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40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59440324-E37D-4121-89F8-4DCEF9F4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670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F36D94D-6BD2-44A6-B8AF-2EB97EF9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956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Dadahup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9650642-53A2-44F0-B02D-2254294E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8670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1D5A106-A46F-4C7C-8E2B-0486C43E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8956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1B62490-55E8-43CD-8DE1-EDD48177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2385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723643B-50FF-4BE3-B017-A3EB2210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2670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41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C5345A1-28EA-49AB-934C-C42DB58A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2385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24D96A9-90EB-4181-A1B6-8CBF30A1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670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Kapuas Tengah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2D45226-B286-4524-A19A-768566DF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2385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740D6EE7-20CC-450E-B47C-611BDAE8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32670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ECA198AD-2AE0-42AD-B582-1727576C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997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4CED546-7AC0-409A-B2EB-EFFB1EBE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63855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42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B641A863-A6AD-4EF1-8AAD-CE05CFDB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60997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9F14906-B429-4E08-8CAC-C03A57E5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63855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Timpah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0DFF71F-2F3D-4650-8902-3B9579B1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60997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308D242-766F-4AF7-A6B4-B8DB4056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363855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6A074F9-2FB0-4325-993B-CB5142F3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98145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CC5BC6E-F1C2-4103-B877-2E9861E6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01002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43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158F519-B55A-449F-9218-4EFCB6C8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98145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E307203-4284-4788-BC57-B2070DFC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01002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Kapuas Hulu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359787B9-E67F-4699-83A2-D88A4C2A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98145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C3F50B5-E074-428B-B905-90D8EAF4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401002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1185B62-0C75-447B-95C3-3DF93DFF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352925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90396AF-924E-452E-9F57-79ABFA6C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381500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44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D4F936E0-8514-4EE3-A50E-3B3A3D6A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352925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E9A9A9E-B428-4116-80B9-835011FC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381500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Pasak Talawang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E5F3119-7948-4CE5-AC2D-D1A8A277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4352925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6ABB8297-3F98-44A7-9F38-D6E1A0FD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4381500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2F711FF-E62A-4C4C-963E-31D7A72D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724400"/>
            <a:ext cx="457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02DAE8F-CC6E-40C2-AA08-51F92BF4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752975"/>
            <a:ext cx="34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45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A4F3764E-1B9A-4963-9C9A-84C7EB3E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724400"/>
            <a:ext cx="37528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93BE0AAA-B13C-4F95-B1D3-A12E4BBD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4752975"/>
            <a:ext cx="36385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Kecamatan Mandau Talawang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56050A89-6146-491B-95A0-8A7AD87E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4724400"/>
            <a:ext cx="15240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A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CE8C37C-2D74-4017-B143-1968FB44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4752975"/>
            <a:ext cx="14097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53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l">
              <a:defRPr sz="653" b="0">
                <a:solidFill>
                  <a:srgbClr val="17324D"/>
                </a:solidFill>
              </a:defRPr>
            </a:pPr>
            <a:r>
              <a:rPr sz="653" b="0">
                <a:solidFill>
                  <a:srgbClr val="17324D"/>
                </a:solidFill>
              </a:rPr>
              <a:t>________________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64CE263-F60E-4D03-A0B0-CAC534ED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91250"/>
            <a:ext cx="1085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ctr">
              <a:defRPr sz="900" b="0">
                <a:solidFill>
                  <a:srgbClr val="5D7186"/>
                </a:solidFill>
              </a:defRPr>
            </a:pPr>
            <a:r>
              <a:rPr sz="900" b="0">
                <a:solidFill>
                  <a:srgbClr val="5D7186"/>
                </a:solidFill>
              </a:rPr>
              <a:t>Isi forum: masuk · koreksi nama/kode · tambah · keluarkan · menunggu konfirmasi</a:t>
            </a:r>
          </a:p>
        </p:txBody>
      </p:sp>
    </p:spTree>
    <p:extLst>
      <p:ext uri="{BB962C8B-B14F-4D97-AF65-F5344CB8AC3E}">
        <p14:creationId xmlns:p14="http://schemas.microsoft.com/office/powerpoint/2010/main" val="202379367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83951A-2DDC-4C30-B4AE-09F718CD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47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0B2344"/>
                </a:solidFill>
              </a:defRPr>
            </a:pPr>
            <a:r>
              <a:rPr sz="2475" b="1">
                <a:solidFill>
                  <a:srgbClr val="0B2344"/>
                </a:solidFill>
              </a:rPr>
              <a:t>Ruang koordinasi dan konfirmasi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6B12A8-78D8-4C79-8C68-23FE74F6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D7186"/>
                </a:solidFill>
              </a:defRPr>
            </a:pPr>
            <a:r>
              <a:rPr sz="1125" b="0">
                <a:solidFill>
                  <a:srgbClr val="5D7186"/>
                </a:solidFill>
              </a:rPr>
              <a:t>Lengkapi URL grup dan QR code setelah link resmi disepakati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53F34-AA8A-4149-9F42-A971B316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5D7186"/>
                </a:solidFill>
              </a:defRPr>
            </a:pPr>
            <a:r>
              <a:rPr sz="750" b="0">
                <a:solidFill>
                  <a:srgbClr val="5D7186"/>
                </a:solidFill>
              </a:rPr>
              <a:t>SABABUKA BERSINAR · KABUPATEN KAPUAS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8D7ED-E62B-4FFF-AE79-743F6FC7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17558A"/>
                </a:solidFill>
              </a:defRPr>
            </a:defPPr>
          </a:lstStyle>
          <a:p xmlns:a="http://schemas.openxmlformats.org/drawingml/2006/main">
            <a:pPr algn="r">
              <a:defRPr sz="900" b="1">
                <a:solidFill>
                  <a:srgbClr val="17558A"/>
                </a:solidFill>
              </a:defRPr>
            </a:pPr>
            <a:r>
              <a:rPr sz="900" b="1">
                <a:solidFill>
                  <a:srgbClr val="17558A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0E79A-375B-4DDA-B9DD-872D47B1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7147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755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BFDE98-020E-4421-AE19-9C37B60E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17558A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7558A"/>
                </a:solidFill>
              </a:defRPr>
            </a:pPr>
            <a:r>
              <a:rPr sz="1350" b="1">
                <a:solidFill>
                  <a:srgbClr val="17558A"/>
                </a:solidFill>
              </a:rPr>
              <a:t>RUANG QR 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D84B97-7727-4A6B-B1E2-DC559DFA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952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0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5D7186"/>
                </a:solidFill>
              </a:defRPr>
            </a:pPr>
            <a:r>
              <a:rPr sz="1200" b="0">
                <a:solidFill>
                  <a:srgbClr val="5D7186"/>
                </a:solidFill>
              </a:rPr>
              <a:t>Tempel barcode / QR grup SABABUKA di sini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D6E6F5-2B43-4DBA-9265-A9F1FF65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0">
                <a:solidFill>
                  <a:srgbClr val="17324D"/>
                </a:solidFill>
              </a:defRPr>
            </a:defPPr>
          </a:lstStyle>
          <a:p xmlns:a="http://schemas.openxmlformats.org/drawingml/2006/main">
            <a:pPr algn="ctr">
              <a:defRPr sz="1050" b="0">
                <a:solidFill>
                  <a:srgbClr val="17324D"/>
                </a:solidFill>
              </a:defRPr>
            </a:pPr>
            <a:r>
              <a:rPr sz="1050" b="0">
                <a:solidFill>
                  <a:srgbClr val="17324D"/>
                </a:solidFill>
              </a:rPr>
              <a:t>URL grup resmi:</a:t>
            </a:r>
          </a:p>
          <a:p xmlns:a="http://schemas.openxmlformats.org/drawingml/2006/main">
            <a:pPr algn="ctr">
              <a:defRPr sz="1050" b="0">
                <a:solidFill>
                  <a:srgbClr val="17324D"/>
                </a:solidFill>
              </a:defRPr>
            </a:pPr>
            <a:r>
              <a:rPr sz="1050" b="0">
                <a:solidFill>
                  <a:srgbClr val="17324D"/>
                </a:solidFill>
              </a:rPr>
              <a:t>________________________________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9E553-A395-4E50-B508-4545257D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76375"/>
            <a:ext cx="619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16A3FA-4E57-4D32-A069-284B85E8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76375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9525">
            <a:solidFill>
              <a:srgbClr val="008D8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59CE7B-B180-4E56-9862-5C75C1EE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47825"/>
            <a:ext cx="584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0B2344"/>
                </a:solidFill>
              </a:defRPr>
            </a:pPr>
            <a:r>
              <a:rPr sz="1425" b="1">
                <a:solidFill>
                  <a:srgbClr val="0B2344"/>
                </a:solidFill>
              </a:rPr>
              <a:t>Konfirmasi organisasi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A1345-DE52-42C0-9483-FF2C5B78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000250"/>
            <a:ext cx="5829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D7186"/>
                </a:solidFill>
              </a:defRPr>
            </a:pPr>
            <a:r>
              <a:rPr sz="1050" b="0">
                <a:solidFill>
                  <a:srgbClr val="5D7186"/>
                </a:solidFill>
              </a:rPr>
              <a:t>Nama resmi, kode, status masuk, bidang pemilik data, PIC, operator, URL website atau portal data.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68B01F-B869-45F7-BB5B-C8480716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05125"/>
            <a:ext cx="619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59841-BE1E-46E1-B50E-A33E9A48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05125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A22"/>
          </a:solidFill>
          <a:ln xmlns:a="http://schemas.openxmlformats.org/drawingml/2006/main" w="9525">
            <a:solidFill>
              <a:srgbClr val="D97A2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660D96-8FBA-4AA4-B0D8-67CF9222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76575"/>
            <a:ext cx="584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0B2344"/>
                </a:solidFill>
              </a:defRPr>
            </a:pPr>
            <a:r>
              <a:rPr sz="1425" b="1">
                <a:solidFill>
                  <a:srgbClr val="0B2344"/>
                </a:solidFill>
              </a:rPr>
              <a:t>Koordinasi pelaksanaan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93BCD-BF03-4976-908B-25E43D7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29000"/>
            <a:ext cx="5829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D7186"/>
                </a:solidFill>
              </a:defRPr>
            </a:pPr>
            <a:r>
              <a:rPr sz="1050" b="0">
                <a:solidFill>
                  <a:srgbClr val="5D7186"/>
                </a:solidFill>
              </a:rPr>
              <a:t>Dipakai untuk koreksi daftar, penjadwalan verifikasi, pembagian akses, dan latihan alur draft sampai rilis.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0BAF8C-02B8-4898-86B9-C12565B7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33875"/>
            <a:ext cx="619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3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7672AE-810F-44E6-A549-AD2B2B06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33875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558A"/>
          </a:solidFill>
          <a:ln xmlns:a="http://schemas.openxmlformats.org/drawingml/2006/main" w="9525">
            <a:solidFill>
              <a:srgbClr val="17558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644198-5AA3-4715-9A5E-961B7112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05325"/>
            <a:ext cx="584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0B2344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0B2344"/>
                </a:solidFill>
              </a:defRPr>
            </a:pPr>
            <a:r>
              <a:rPr sz="1425" b="1">
                <a:solidFill>
                  <a:srgbClr val="0B2344"/>
                </a:solidFill>
              </a:rPr>
              <a:t>Catatan penggunaan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F7D69B-379E-49CF-8BC8-16E8BAF6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857750"/>
            <a:ext cx="5829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>
                <a:solidFill>
                  <a:srgbClr val="5D7186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D7186"/>
                </a:solidFill>
              </a:defRPr>
            </a:pPr>
            <a:r>
              <a:rPr sz="1050" b="0">
                <a:solidFill>
                  <a:srgbClr val="5D7186"/>
                </a:solidFill>
              </a:rPr>
              <a:t>URL dan QR code ditampilkan setelah link resmi dikonfirmasi. Kontak operator disimpan dengan akses terbatas.</a:t>
            </a:r>
          </a:p>
        </p:txBody>
      </p:sp>
    </p:spTree>
    <p:extLst>
      <p:ext uri="{BB962C8B-B14F-4D97-AF65-F5344CB8AC3E}">
        <p14:creationId xmlns:p14="http://schemas.microsoft.com/office/powerpoint/2010/main" val="3229393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23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8CE8433-60B6-4E92-8B3A-FB5F0361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D83"/>
          </a:solidFill>
          <a:ln xmlns:a="http://schemas.openxmlformats.org/drawingml/2006/main" w="12700">
            <a:solidFill>
              <a:srgbClr val="008D83">
                <a:alpha val="0"/>
              </a:srgbClr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A2CAF5C-7DD8-4309-99F1-2602E321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1440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8EE2D9"/>
                </a:solidFill>
                <a:latin typeface="Aptos"/>
                <a:ea typeface="Aptos"/>
                <a:cs typeface="Aptos"/>
              </a:rPr>
              <a:t>SABABUKA</a:t>
            </a:r>
            <a:endParaRPr sz="2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D0082D5-B993-4547-B9F7-BCDEA851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813816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Fondasi sudah disiapkan.</a:t>
            </a:r>
            <a:endParaRPr sz="3000"/>
          </a:p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Tahap berikutnya adalah</a:t>
            </a:r>
            <a:endParaRPr sz="3000"/>
          </a:p>
          <a:p xmlns:a="http://schemas.openxmlformats.org/drawingml/2006/main">
            <a:pPr marL="0" indent="0" algn="l">
              <a:buNone/>
            </a:pPr>
            <a:r>
              <a:rPr sz="3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menetapkan master dan sumber resmi.</a:t>
            </a:r>
            <a:endParaRPr sz="3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434E1D4-DF2E-4235-957A-5CE87098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343400"/>
            <a:ext cx="7772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C9D8E7"/>
                </a:solidFill>
                <a:latin typeface="Aptos"/>
                <a:ea typeface="Aptos"/>
                <a:cs typeface="Aptos"/>
              </a:rPr>
              <a:t>BAPPERIDA menetapkan arah dan kelayakan. OPD memastikan data. Sistem menjaga alur dan bukti.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8330DFD-CECB-4716-8D87-F0C37546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39496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Terima kasih</a:t>
            </a:r>
            <a:endParaRPr sz="1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75E96B0-7EEC-4315-B212-3B948B36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5806440"/>
            <a:ext cx="3749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C9D8E7"/>
                </a:solidFill>
                <a:latin typeface="Aptos"/>
                <a:ea typeface="Aptos"/>
                <a:cs typeface="Aptos"/>
              </a:rPr>
              <a:t>Kabupaten Kapuas · 9 Oktober 2026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9556163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2026-10-08T23:48:45.5660000Z</dcterms:created>
  <dcterms:modified xsi:type="dcterms:W3CDTF">2026-10-08T23:48:45.5660000Z</dcterms:modified>
</coreProperties>
</file>