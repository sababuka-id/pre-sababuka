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9be06d7a7b4f78" /><Relationship Type="http://schemas.openxmlformats.org/officeDocument/2006/relationships/extended-properties" Target="/docProps/app.xml" Id="Rad8c7fc0f2734d54" /><Relationship Type="http://schemas.openxmlformats.org/officeDocument/2006/relationships/officeDocument" Target="/ppt/presentation.xml" Id="Rf28aa6f6998146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967ae117044cd9"/>
  </p:sldMasterIdLst>
  <p:notesMasterIdLst>
    <p:notesMasterId xmlns:r="http://schemas.openxmlformats.org/officeDocument/2006/relationships" r:id="Rcc26907407974970"/>
  </p:notesMasterIdLst>
  <p:sldIdLst>
    <p:sldId xmlns:r="http://schemas.openxmlformats.org/officeDocument/2006/relationships" id="256" r:id="R0610603074ef4483"/>
    <p:sldId xmlns:r="http://schemas.openxmlformats.org/officeDocument/2006/relationships" id="257" r:id="R44ed955a8faa49bf"/>
    <p:sldId xmlns:r="http://schemas.openxmlformats.org/officeDocument/2006/relationships" id="258" r:id="Rf65e9bd4ec0c4f7c"/>
    <p:sldId xmlns:r="http://schemas.openxmlformats.org/officeDocument/2006/relationships" id="259" r:id="Rbcc8ce4e91f3414a"/>
    <p:sldId xmlns:r="http://schemas.openxmlformats.org/officeDocument/2006/relationships" id="260" r:id="Rd4acc12e47a14be8"/>
    <p:sldId xmlns:r="http://schemas.openxmlformats.org/officeDocument/2006/relationships" id="261" r:id="Rf1a8149991ed4a88"/>
    <p:sldId xmlns:r="http://schemas.openxmlformats.org/officeDocument/2006/relationships" id="262" r:id="R90aad12b94874119"/>
    <p:sldId xmlns:r="http://schemas.openxmlformats.org/officeDocument/2006/relationships" id="263" r:id="R19fce1a38828424d"/>
    <p:sldId xmlns:r="http://schemas.openxmlformats.org/officeDocument/2006/relationships" id="264" r:id="R5d18408356bc4e5e"/>
    <p:sldId xmlns:r="http://schemas.openxmlformats.org/officeDocument/2006/relationships" id="265" r:id="R5d1d9c43053a46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01ed3bb3434ae5" /><Relationship Type="http://schemas.openxmlformats.org/officeDocument/2006/relationships/slideMaster" Target="/ppt/slideMasters/slideMaster1.xml" Id="Ree967ae117044cd9" /><Relationship Type="http://schemas.openxmlformats.org/officeDocument/2006/relationships/notesMaster" Target="/ppt/notesMasters/notesMaster1.xml" Id="Rcc26907407974970" /><Relationship Type="http://schemas.openxmlformats.org/officeDocument/2006/relationships/presProps" Target="/ppt/presProps.xml" Id="R22db9005d0e647f4" /><Relationship Type="http://schemas.openxmlformats.org/officeDocument/2006/relationships/tableStyles" Target="/ppt/tableStyles.xml" Id="R0578aa1a2ab94269" /><Relationship Type="http://schemas.openxmlformats.org/officeDocument/2006/relationships/slide" Target="/ppt/slides/slide1.xml" Id="R0610603074ef4483" /><Relationship Type="http://schemas.openxmlformats.org/officeDocument/2006/relationships/slide" Target="/ppt/slides/slide2.xml" Id="R44ed955a8faa49bf" /><Relationship Type="http://schemas.openxmlformats.org/officeDocument/2006/relationships/slide" Target="/ppt/slides/slide3.xml" Id="Rf65e9bd4ec0c4f7c" /><Relationship Type="http://schemas.openxmlformats.org/officeDocument/2006/relationships/slide" Target="/ppt/slides/slide4.xml" Id="Rbcc8ce4e91f3414a" /><Relationship Type="http://schemas.openxmlformats.org/officeDocument/2006/relationships/slide" Target="/ppt/slides/slide5.xml" Id="Rd4acc12e47a14be8" /><Relationship Type="http://schemas.openxmlformats.org/officeDocument/2006/relationships/slide" Target="/ppt/slides/slide6.xml" Id="Rf1a8149991ed4a88" /><Relationship Type="http://schemas.openxmlformats.org/officeDocument/2006/relationships/slide" Target="/ppt/slides/slide7.xml" Id="R90aad12b94874119" /><Relationship Type="http://schemas.openxmlformats.org/officeDocument/2006/relationships/slide" Target="/ppt/slides/slide8.xml" Id="R19fce1a38828424d" /><Relationship Type="http://schemas.openxmlformats.org/officeDocument/2006/relationships/slide" Target="/ppt/slides/slide9.xml" Id="R5d18408356bc4e5e" /><Relationship Type="http://schemas.openxmlformats.org/officeDocument/2006/relationships/slide" Target="/ppt/slides/slide10.xml" Id="R5d1d9c43053a46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1c8c55b22c45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6d4f1e98574a89" /><Relationship Type="http://schemas.openxmlformats.org/officeDocument/2006/relationships/notesMaster" Target="/ppt/notesMasters/notesMaster1.xml" Id="R7312be1f770f4f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eb5c81372240c9" /><Relationship Type="http://schemas.openxmlformats.org/officeDocument/2006/relationships/notesMaster" Target="/ppt/notesMasters/notesMaster1.xml" Id="Rd781927a0feb4a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b7b9238b7840ab" /><Relationship Type="http://schemas.openxmlformats.org/officeDocument/2006/relationships/notesMaster" Target="/ppt/notesMasters/notesMaster1.xml" Id="R0b2e5f513e6146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d11a2ba1e84b64" /><Relationship Type="http://schemas.openxmlformats.org/officeDocument/2006/relationships/notesMaster" Target="/ppt/notesMasters/notesMaster1.xml" Id="R9a100fc51be141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5b97e5e0124a4d" /><Relationship Type="http://schemas.openxmlformats.org/officeDocument/2006/relationships/notesMaster" Target="/ppt/notesMasters/notesMaster1.xml" Id="R43ff75b46f1e4c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12113ce6de4b49" /><Relationship Type="http://schemas.openxmlformats.org/officeDocument/2006/relationships/notesMaster" Target="/ppt/notesMasters/notesMaster1.xml" Id="Rde209a5b6bf644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3b2e8281de40f0" /><Relationship Type="http://schemas.openxmlformats.org/officeDocument/2006/relationships/notesMaster" Target="/ppt/notesMasters/notesMaster1.xml" Id="Rbf36f8f809ea42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c22d8e3f194f4d" /><Relationship Type="http://schemas.openxmlformats.org/officeDocument/2006/relationships/notesMaster" Target="/ppt/notesMasters/notesMaster1.xml" Id="R1a43af22a9f54f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dae7b11f084fb1" /><Relationship Type="http://schemas.openxmlformats.org/officeDocument/2006/relationships/notesMaster" Target="/ppt/notesMasters/notesMaster1.xml" Id="R49e9f5ddcdfd46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9bc4e8fc3f4f9a" /><Relationship Type="http://schemas.openxmlformats.org/officeDocument/2006/relationships/notesMaster" Target="/ppt/notesMasters/notesMaster1.xml" Id="R6feef56d689e4d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Pembukaan 60 detik: terima kasih atas kunjungan BAPPERIDA. Sampaikan bahwa pertemuan ini bertujuan menyamakan kebutuhan dan merancang FGD, bukan meminta persetujuan atas sistem yang sudah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Teknik fasilitasi: tampilkan empat hasil ini sejak awal. Jika pembicaraan melebar, kembalikan dengan kalimat: 'Supaya kunjungan hari ini menghasilkan langkah konkret, boleh kita kaitkan kembali dengan empat keputusan ini?'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Jangan menyatakan empat poin ini sebagai fakta. Minta koreksi. Posisi BAPPERIDA menurut Perbup Kapuas Nomor 13 Tahun 2025 mencakup perencanaan pembangunan, riset, dan inovasi daerah. Sumber: https://jdih.kapuaskab.go.id/dokumen/view?id=613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aplikasi hanya lapisan terakhir. FGD perlu mengunci tata kelola dan proses kerja sebelum membahas fitur rinci.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Sampaikan batasan ini tanpa defensif. Tujuannya menunjukkan kecakapan prototipe untuk memancing masukan, bukan membuktikan kesiapan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demo setelah batasan dummy data disampaikan. Bila koneksi tidak stabil, gunakan versi lokal. Jangan habiskan waktu pada detail kosmetik. Akhiri setiap bagian dengan satu pertanyaan validasi kepada BAPPERIDA.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Tanyakan apakah satu hari realistis. Bila peserta banyak, tawarkan pra-FGD teknis untuk menyaring indikator dan FGD utama untuk keputusan lintas perangkat daerah.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Hindari daftar nama terlalu dini. Minta BAPPERIDA menentukan unit dan orang yang memang memahami proses data atau memiliki kewenangan keputusan.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Angka 10–15 indikator dan 3–5 hari adalah usulan kerja, bukan ketentuan. Minta BAPPERIDA menyesuaikan dengan kesiapan perangkat daerah.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Teknik penutup: rangkum setiap keputusan, sebut PIC, dan konfirmasi tenggat. Kirim notulen maksimal 1 x 24 jam setelah pertemuan.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84b480dd449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eda8c78b604168" /><Relationship Type="http://schemas.openxmlformats.org/officeDocument/2006/relationships/slideLayout" Target="/ppt/slideLayouts/slideLayout1.xml" Id="R6da6dc8203884f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a6dc8203884f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3e08f5359449f" /><Relationship Type="http://schemas.openxmlformats.org/officeDocument/2006/relationships/notesSlide" Target="/ppt/notesSlides/notesSlide1.xml" Id="R86a9a3566e164e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3b30fc0444e26" /><Relationship Type="http://schemas.openxmlformats.org/officeDocument/2006/relationships/notesSlide" Target="/ppt/notesSlides/notesSlide2.xml" Id="R8f78f48996864a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c811a7dbb4e51" /><Relationship Type="http://schemas.openxmlformats.org/officeDocument/2006/relationships/notesSlide" Target="/ppt/notesSlides/notesSlide3.xml" Id="R11ec8770e97f49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1709487524858" /><Relationship Type="http://schemas.openxmlformats.org/officeDocument/2006/relationships/notesSlide" Target="/ppt/notesSlides/notesSlide4.xml" Id="R8375e00f704a43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f6395affd456c" /><Relationship Type="http://schemas.openxmlformats.org/officeDocument/2006/relationships/notesSlide" Target="/ppt/notesSlides/notesSlide5.xml" Id="R5cd189d9a22944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c6f18c0694918" /><Relationship Type="http://schemas.openxmlformats.org/officeDocument/2006/relationships/notesSlide" Target="/ppt/notesSlides/notesSlide6.xml" Id="R2e1146b357dd4c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d445874ec4850" /><Relationship Type="http://schemas.openxmlformats.org/officeDocument/2006/relationships/notesSlide" Target="/ppt/notesSlides/notesSlide7.xml" Id="R900f1ef8b1864a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274fd7098453d" /><Relationship Type="http://schemas.openxmlformats.org/officeDocument/2006/relationships/notesSlide" Target="/ppt/notesSlides/notesSlide8.xml" Id="R750ae009607d47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d58a6d1e84ae8" /><Relationship Type="http://schemas.openxmlformats.org/officeDocument/2006/relationships/notesSlide" Target="/ppt/notesSlides/notesSlide9.xml" Id="R80275758619841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3cd4aeaa4404e" /><Relationship Type="http://schemas.openxmlformats.org/officeDocument/2006/relationships/notesSlide" Target="/ppt/notesSlides/notesSlide10.xml" Id="Rc31c807bec444d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57AB9-4674-4748-90B1-34F2EB8C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A3B87-EFB1-42D5-8FFD-A0D916D6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BFBF7-C66F-42A1-B086-4F33DD0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10490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3F6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C5460-D6E6-4230-BE6E-E6F681DC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066800"/>
            <a:ext cx="1714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E4A72C"/>
                </a:solidFill>
                <a:latin typeface="Aptos"/>
                <a:ea typeface="Aptos"/>
                <a:cs typeface="Aptos"/>
              </a:defRPr>
            </a:pPr>
            <a:r>
              <a:rPr sz="6900" b="1">
                <a:solidFill>
                  <a:srgbClr val="E4A72C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E7FE9-65F1-42D6-8E7B-58837BD8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85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SABABUKA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BERSINAR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F6B2C-056D-49D7-BBBD-07C264B5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7D8E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7D8E8"/>
                </a:solidFill>
                <a:latin typeface="Aptos"/>
                <a:ea typeface="Aptos"/>
                <a:cs typeface="Aptos"/>
              </a:rPr>
              <a:t>Diskusi awal penguatan pemanfaatan data</a:t>
            </a:r>
          </a:p>
          <a:p xmlns:a="http://schemas.openxmlformats.org/drawingml/2006/main">
            <a:pPr>
              <a:defRPr sz="1875" b="0">
                <a:solidFill>
                  <a:srgbClr val="C7D8E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7D8E8"/>
                </a:solidFill>
                <a:latin typeface="Aptos"/>
                <a:ea typeface="Aptos"/>
                <a:cs typeface="Aptos"/>
              </a:rPr>
              <a:t>untuk perencanaan dan pengendalian pembangunan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CDF17-DB10-4090-A76D-A544600F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D7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A4C0B-BC95-48E1-AAB5-21527B0E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Penjajakan FGD bersama BAPPERIDA Kabupaten Kapuas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5274D-22FC-423A-A96E-A91C428E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4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FC4D7"/>
                </a:solidFill>
                <a:latin typeface="Aptos"/>
                <a:ea typeface="Aptos"/>
                <a:cs typeface="Aptos"/>
              </a:rPr>
              <a:t>11 September 2026  •  Kuala Kapuas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DAAB4-E6BC-4DCD-99AF-5D49A514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90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BAHAN DISKUSI</a:t>
            </a:r>
          </a:p>
        </p:txBody>
      </p:sp>
    </p:spTree>
    <p:extLst>
      <p:ext uri="{BB962C8B-B14F-4D97-AF65-F5344CB8AC3E}">
        <p14:creationId xmlns:p14="http://schemas.microsoft.com/office/powerpoint/2010/main" val="429202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CF0DE-C401-44D1-AA7D-176E667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598C6-CAF1-4B22-8F87-58F1E64A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Hasil yang ingin dicapai dalam pertemuan 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34005-92CE-4D55-A246-8D414334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Fokus pada kesepakatan kerja menuju FGD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97F7E-79E6-463D-BD2F-849F67C9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FFE82-B962-4B7B-AB1A-3A51F1BA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DD09E-248F-4C8F-9276-195B768F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57144-EA89-4799-B3E1-117B2BC1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Masalah prioritas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B9118-5A5F-4682-BE87-CCFA55F8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24025"/>
            <a:ext cx="623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Memilih kebutuhan data dan keputusan yang paling penting untuk dibahas.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2EBE6-EC71-49FA-BBFA-11D60467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030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A3D2E-01F6-439D-9E3A-55DEB5DA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817C1-E374-476E-80A8-3B216048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Peserta yang tepat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2C293-B116-455E-B0CF-3132B335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33675"/>
            <a:ext cx="623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Menentukan peran BAPPERIDA, perangkat daerah, pengelola data, dan pengguna keputusan.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06096-B8C5-4DEF-B05B-2DBE7A44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1C10E-409B-4B43-899E-3BC93670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2B307-F89E-4F06-8BA8-E66334CA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719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Bahan yang disiapkan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03F68-E794-4B3E-B638-1878B482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43325"/>
            <a:ext cx="623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Menyepakati contoh data, indikator, definisi, serta alur pelaporan yang dibawa ke FGD.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929CC-F9DB-4205-98B5-9E4E6847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F2954-AD50-45DA-9DCA-CF266B92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AC2B4-B91E-43F0-8499-F728342D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Jadwal dan penanggung jawab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FC478-1D13-402B-B883-817C821C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52975"/>
            <a:ext cx="623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Menetapkan waktu, lokasi, PIC, tenggat bahan, dan tindak lanjut setelah FGD.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9170C-6B6B-4EB0-ADB1-79D9FB74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3031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C7F25-91CB-4E08-8ED2-AE4690EE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EDE01-3FD6-4444-B0E1-731B1AC2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Hipotesis kebutuhan yang perlu divalidasi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B967E-3BC9-407A-B0AB-58F97088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Bukan kesimpulan; semua poin dibuka untuk koreksi BAPPERIDA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E4ED3-86DE-4114-99A6-6AA8A160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CA330-8CBE-4250-A174-FD7BD183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2D4FC-EF8A-45F5-B625-24DB570A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72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0C91F-DFCD-43A9-B9A0-2851E99D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Data tersebar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2688E-AB34-4D43-A3B6-717C2D07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954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Indikator penting berada pada beragam file, aplikasi, dan periode pembaruan.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51EC9-93B1-46D7-B600-6602A2AE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3157F-EFED-44BA-AC3F-CC0AD52D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Definisi belum seragam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A81C9-E6A8-488F-95E4-4228C949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622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Nama indikator, satuan, wilayah, dan sumber dapat dimaknai berbeda.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1F123-AF45-49C1-A4B3-62B4D36B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7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59F43-9A2A-4F4F-A209-6EA22997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Validasi sulit dilacak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B9A55-D614-4AFF-9911-941586E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290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Status data dan pihak yang mengesahkan belum terlihat dalam satu alur.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1E854-24D2-48A1-B3EA-C458D37D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A8329-D453-49F4-B446-B3FBEC2E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Ringkasan pimpinan lambat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1B3CE-57D0-4F1D-AB6D-611D4938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958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Analisis lintas sektor membutuhkan kompilasi manual sebelum dapat digunakan.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5A5A5-237A-4AFF-BF47-1C2056C2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32497-C241-4938-BD05-C86539D0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Pertanyaan pembuka: bagian mana yang paling sesuai dengan kondisi saat ini, dan apa yang belum terwakili?</a:t>
            </a:r>
          </a:p>
        </p:txBody>
      </p:sp>
    </p:spTree>
    <p:extLst>
      <p:ext uri="{BB962C8B-B14F-4D97-AF65-F5344CB8AC3E}">
        <p14:creationId xmlns:p14="http://schemas.microsoft.com/office/powerpoint/2010/main" val="1885193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D3794A-6A36-480F-B01C-EA037127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BB3C9-E469-4AC3-B417-6410315B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Peran SABABUKA dalam alur kerja data daerah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31884-7CA1-4322-A23A-D8EDD5D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Konsep awal yang akan diperdalam bersama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5DB02-FD61-40FB-9CA3-1CC3594B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8FB24-0E22-4879-8AAF-BDD0640C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940A5-A1E8-4BC4-80AF-8BD1021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2238375" cy="26860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BD8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61BA8-2328-4FCA-A174-E5112DDD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D719D-BDEE-4160-99D0-2AA13C2A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781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Sumber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27CC-A840-428F-9E73-04C926D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1781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Perangkat daerah</a:t>
            </a:r>
          </a:p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Satu Data</a:t>
            </a:r>
          </a:p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Dokumen resmi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75227-E949-47A9-826A-C58B4E12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13807-9660-4BD4-8B97-9B27A33F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62150"/>
            <a:ext cx="2238375" cy="26860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BD8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69D9D-607A-4EF0-882E-D6E10B77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2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426C3-9C04-4A74-903E-9761621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647950"/>
            <a:ext cx="1781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Standarisasi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FA9AD-E69B-48DF-9A4F-C0FFCEC9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38500"/>
            <a:ext cx="1781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Definisi indikator</a:t>
            </a:r>
          </a:p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Periode dan wilayah</a:t>
            </a:r>
          </a:p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Metadata sumber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43ADB-4B60-4646-98A8-7F3ABDD9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8575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B148C-61A5-4008-B100-CA4CD5B1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238375" cy="26860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BD8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6EA0E-20C6-45AF-922B-36C4E562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48169-3B74-438F-A630-0A1ABE6C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781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C9D1A-CEB9-4C14-91CC-990B098F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1781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Pemeriksaan kualitas</a:t>
            </a:r>
          </a:p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Status persetujuan</a:t>
            </a:r>
          </a:p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Catatan koreksi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D6C00-8757-473C-9110-31200EE5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0E4BE-1CB4-4654-9007-9260FF12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62150"/>
            <a:ext cx="2238375" cy="26860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11ECD-6F58-4AC1-8C4C-67C403F3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52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A1696-6F3C-4C89-A379-025BA164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47950"/>
            <a:ext cx="1781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Pemanfaatan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3ED78-F3F9-43B7-B328-3E269C76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38500"/>
            <a:ext cx="1781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1"/>
                </a:solidFill>
                <a:latin typeface="Aptos"/>
                <a:ea typeface="Aptos"/>
                <a:cs typeface="Aptos"/>
              </a:rPr>
              <a:t>Ringkasan pimpinan</a:t>
            </a:r>
          </a:p>
          <a:p xmlns:a="http://schemas.openxmlformats.org/drawingml/2006/main">
            <a:pPr>
              <a:defRPr sz="1350" b="0">
                <a:solidFill>
                  <a:srgbClr val="D7E5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1"/>
                </a:solidFill>
                <a:latin typeface="Aptos"/>
                <a:ea typeface="Aptos"/>
                <a:cs typeface="Aptos"/>
              </a:rPr>
              <a:t>Analisis lintas sektor</a:t>
            </a:r>
          </a:p>
          <a:p xmlns:a="http://schemas.openxmlformats.org/drawingml/2006/main">
            <a:pPr>
              <a:defRPr sz="1350" b="0">
                <a:solidFill>
                  <a:srgbClr val="D7E5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F1"/>
                </a:solidFill>
                <a:latin typeface="Aptos"/>
                <a:ea typeface="Aptos"/>
                <a:cs typeface="Aptos"/>
              </a:rPr>
              <a:t>Tindak lanjut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4DE9D-3492-4C95-A80B-9C28DDFC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998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Nilai utamanya bukan sekadar tampilan dashboard, melainkan kesepakatan definisi, sumber, validasi, dan penggunaan data.</a:t>
            </a:r>
          </a:p>
        </p:txBody>
      </p:sp>
    </p:spTree>
    <p:extLst>
      <p:ext uri="{BB962C8B-B14F-4D97-AF65-F5344CB8AC3E}">
        <p14:creationId xmlns:p14="http://schemas.microsoft.com/office/powerpoint/2010/main" val="733892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F4F5FB-6DE9-415C-872C-EE885E0B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D3B28-BA7D-49B5-98F1-32CB194D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Posisi prototipe saat 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B9597-5F45-4B38-B5F8-D290BAD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Siap untuk menguji alur dan kebutuhan, belum untuk operasional pemerintahan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B5319-00D9-4CF9-A029-8AC78109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0ECFC-9F78-4164-9F96-0206CC1B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E7FC5-9E5C-408E-99C8-9DAD7AF8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SUDAH DAPAT DIDEMONSTRASIKAN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35DB5-5D20-4C5D-B7DC-38A0EB9C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4A5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4A52"/>
                </a:solidFill>
                <a:latin typeface="Aptos"/>
                <a:ea typeface="Aptos"/>
                <a:cs typeface="Aptos"/>
              </a:rPr>
              <a:t>MASIH MEMERLUKAN KESEPAKATAN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AB105-E989-4732-BE01-0EAC3956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0DD2E-2802-41F3-9DFC-189DD136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Ringkasan indikator dan tren 2022–2026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F23D9-135F-4CBA-A011-2C3BDCA4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23478-A824-4967-85B7-C21E9299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Filter tahun, wilayah, dan perangkat daerah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3EC18-9098-4879-8066-775153C0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819C3-F53B-4888-A8EC-FDFC925D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Sumber serta status validasi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B4C12-DD3F-4DFC-9CE4-AD445D9E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AF026-3CD8-4E35-9630-6B09EE8F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Simulasi Asisten Data berbasis data dummy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9CD20-C9A1-4285-9CA1-3D6E6AF6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A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4A52"/>
                </a:solidFill>
                <a:latin typeface="Aptos"/>
                <a:ea typeface="Aptos"/>
                <a:cs typeface="Aptos"/>
              </a:rPr>
              <a:t>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E46A1-B2DF-4EC5-955B-9EF65D5B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526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Daftar indikator resmi dan definisinya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D9D83-C1EA-481E-8A4A-54638F01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A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4A52"/>
                </a:solidFill>
                <a:latin typeface="Aptos"/>
                <a:ea typeface="Aptos"/>
                <a:cs typeface="Aptos"/>
              </a:rPr>
              <a:t>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F8F34-E9D7-45C9-BF12-77B5D461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Integrasi sumber data serta jadwal pembaruan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7F0C4-526A-4851-80EC-7311EA5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A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4A52"/>
                </a:solidFill>
                <a:latin typeface="Aptos"/>
                <a:ea typeface="Aptos"/>
                <a:cs typeface="Aptos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CAA4B-B914-4474-BCCE-4E83612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Peran akses, persetujuan, dan keamanan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9182B-74BE-47D7-9090-1D8B7FCA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A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4A52"/>
                </a:solidFill>
                <a:latin typeface="Aptos"/>
                <a:ea typeface="Aptos"/>
                <a:cs typeface="Aptos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F691E-BB2A-44C1-909F-38D5A4D2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81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Kriteria keberhasilan pilot dan pengelolaan lanjutan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237D96-C1C3-4081-A474-C8FBDA75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335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A044F-8037-4C87-B3A7-9D614045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01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7FD46-F4E0-4CF3-94BE-8AA94698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52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25211"/>
                </a:solidFill>
                <a:latin typeface="Aptos"/>
                <a:ea typeface="Aptos"/>
                <a:cs typeface="Aptos"/>
              </a:rPr>
              <a:t>Seluruh angka dan jawaban chatbot pada prototipe adalah data dummy untuk demonstrasi antarmuka.</a:t>
            </a:r>
          </a:p>
        </p:txBody>
      </p:sp>
    </p:spTree>
    <p:extLst>
      <p:ext uri="{BB962C8B-B14F-4D97-AF65-F5344CB8AC3E}">
        <p14:creationId xmlns:p14="http://schemas.microsoft.com/office/powerpoint/2010/main" val="138358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D8506-7088-4985-9585-115A5F28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AACC1-46A7-4D2E-9AF9-E0B89B14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Demo terarah selama tujuh menit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9A5A4-0DBA-4915-871F-130BE355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Tunjukkan manfaat kerja, bukan tur seluruh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20BD3-D235-4B3E-82EF-4B5E11A9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54235-C924-4853-8376-DEC57943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9C1C6-5EBE-472A-AE82-7A670009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1 menit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AF11-4D2F-476D-A092-CBDB344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716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5E604-47B3-41BD-8997-D6215F8C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00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Ringkasan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28824-14E3-4BD9-9250-80BB793E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81150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Apa yang perlu diketahui pimpinan hari ini?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73FF2-21BA-4178-A0E9-1DA42906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2 menit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80022-A860-42CD-BE37-EB49DAA2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098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5C898-1859-4AB4-B1BF-8488B854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384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Perubahan tahun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85716-216F-4936-839A-6B858B49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19350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Apa yang berubah ketika periode dipilih?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7CC67-BE51-48DD-B00E-38EE2B6E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1 menit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F86D2-8C9D-460C-B9DA-CAE45973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480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10C45-C6FA-4C93-9861-42998B86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76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Wilayah dan OPD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1FF57-B4F1-441C-B4AB-FD6BA4E8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Di mana masalah terkonsentrasi dan siapa pemilik datanya?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E43DC-B294-4FD7-A051-D6647627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1 menit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5687D-C68A-42D9-9B3B-714AFADB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862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E20EA-863E-49AE-8953-A71727D0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148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Sumber dan validasi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3F2EE-4694-4F78-847E-370418B5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Seberapa dapat dipercaya angka yang tampil?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71188-5B75-4A06-82E9-91036373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2 menit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EF7C0-AEC3-44BB-BD7C-59ECE2FE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244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65C71-4802-4887-92ED-7E975640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Asisten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0ECEF-FB65-4D10-8BED-7B3FDDCE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33950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Bagaimana pertanyaan pengguna diterjemahkan menjadi ringkasan data?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6905A-CA2D-4158-9577-0AAECEDA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Tautan prototipe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8F8DB-2428-4CAB-8EDB-A58F060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905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rahmatalbarzanjie.github.io/pre-sababuka/</a:t>
            </a:r>
          </a:p>
        </p:txBody>
      </p:sp>
    </p:spTree>
    <p:extLst>
      <p:ext uri="{BB962C8B-B14F-4D97-AF65-F5344CB8AC3E}">
        <p14:creationId xmlns:p14="http://schemas.microsoft.com/office/powerpoint/2010/main" val="245509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072A2-ADF4-4A2E-A85B-C37C302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B7DAE-DBFC-493B-9220-1D8EBAB4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Rancangan agenda FGD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79339-FA0F-4419-9E65-B3F42E0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Usulan satu hari kerja yang dapat disesuaikan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58F5B-7537-46F4-A40B-2AD66064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6DF25-5918-47DA-B707-494234C9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6865F-7DC2-4D23-839B-E5BA014B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C7631-3341-4B30-8314-456A628C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WAKTU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1D125-620C-4D0C-A564-2717FAFC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57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39625-FE71-4D7F-A912-0755D14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573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DISKUSI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AD237-673D-44D7-9CD4-743EDF49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47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D1056-0A7D-4D56-B538-70F88517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08.30–09.15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BD94D-398E-4444-83D0-435870EC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Arah dan prioritas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6E593-D805-4937-B4B4-9E558356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33600"/>
            <a:ext cx="542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Tujuan kebijakan, kebutuhan pimpinan, masalah paling mendesak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B0FE1-95B8-4B21-AA1A-52B2C0D0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09.15–11.00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1D229-04D7-4FA6-925D-E2080561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Indikator dan sumber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9DB78-163D-48AC-A79B-0141922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542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Definisi, satuan, wilayah, pemilik, frekuensi pembaruan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5D63C-833A-43A2-828A-F21F84CE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47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D5792-358F-4755-93A8-66E8BE2C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13.00–14.15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6AC7E-3CCD-4C1B-932C-2B0F83B8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95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Validasi dan akses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1E1CE-6521-463E-8144-236598B5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19500"/>
            <a:ext cx="542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Pemeriksaan kualitas, persetujuan, koreksi, hak akses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9007A9-2683-458B-AFC6-4FC116B7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14.15–15.30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09436-0F4D-4AE0-8994-E0C2269D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38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Pilot 90 hari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91826-9C4A-45CE-9AEB-16A76CDD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62450"/>
            <a:ext cx="542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Ruang lingkup awal, peran, jadwal, dukungan, ukuran keberhasilan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0FCF4-05AD-4232-AFCD-975FAA31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47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10CEE-A462-4AD3-8813-EC3E63EC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15.30–16.00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5A0C2-E55C-4556-81BC-B9C67E6B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81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Kesepakatan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115FA7-88C9-4C5C-9F27-15661F99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105400"/>
            <a:ext cx="542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Ringkasan keputusan, PIC, tenggat, dan pertemuan berikutnya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C97CE-137C-4A6A-AA80-2239840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Format kerja: paparan singkat, pemetaan bersama, pembahasan kelompok, lalu konfirmasi pleno.</a:t>
            </a:r>
          </a:p>
        </p:txBody>
      </p:sp>
    </p:spTree>
    <p:extLst>
      <p:ext uri="{BB962C8B-B14F-4D97-AF65-F5344CB8AC3E}">
        <p14:creationId xmlns:p14="http://schemas.microsoft.com/office/powerpoint/2010/main" val="2101420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AE7AD-3B99-4E08-99D1-F61B6421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3D9B0-5E15-4367-99B9-78421216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Peserta yang disarankan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6135B-B2C6-42C4-A7E7-EC9FCAD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Kehadiran ditentukan berdasarkan keputusan yang perlu dibuat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730BC-59DA-4F56-9444-E5624B1D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75F6F-2AD5-4694-BF34-6027B97F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7C54-EA1E-4529-9F81-E3E4060E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A7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4A72C"/>
                </a:solidFill>
                <a:latin typeface="Aptos"/>
                <a:ea typeface="Aptos"/>
                <a:cs typeface="Aptos"/>
              </a:rPr>
              <a:t>PENGARAH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E63A7-5509-448F-916E-26688006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097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1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BAPPERIDA dan unsur pimpinan daerah terkait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D5B33-71CD-4B0E-BA99-276B1F47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9725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Menetapkan prioritas, mandat, dan arah pemanfaatan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8A0BC-B89D-4C69-9490-B788A6AB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43150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1F1C1-414B-4C6A-B246-A5B3761E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PEMILIK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C62BA-7703-4280-B3A3-90500906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765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Perangkat daerah prioritas dan pengelola Satu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B9159-5595-4510-8959-B08BF42A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6525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Menjelaskan definisi, sumber, pembaruan, dan kualitas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558B4-56F7-4EC5-82E0-00CD26B7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9950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90CCC-610C-4405-9B82-5163434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A7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A7C7"/>
                </a:solidFill>
                <a:latin typeface="Aptos"/>
                <a:ea typeface="Aptos"/>
                <a:cs typeface="Aptos"/>
              </a:rPr>
              <a:t>PENGELOLA TEKNIS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77122-AADA-490F-BCFA-344CEE68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433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Diskominfo, wali data, pengelola aplikasi, keamanan informasi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20B0E-9FDE-4172-BAEF-BAC9A78E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43325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Menilai integrasi, akses, infrastruktur, dan pengamanan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45C13-DE92-49E1-99F3-C599DF3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76750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15004-10C1-46A9-B4AF-B6849362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PENGGUNA KEPUTUSAN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73E42-FA83-43C5-B61F-5125C057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101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Perencana, pengendali program, evaluator, dan perwakilan wilayah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FB478-56B8-453E-8B8D-17046FC2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0125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Menguji apakah keluaran membantu proses kerja nyata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CA290-5484-4904-83C8-AC45C19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43550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BA162-3771-4D3F-9384-7C487904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5E0EB-60DA-4FA6-94EF-DB402385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Prinsip undangan: setiap peserta membawa pengetahuan atau kewenangan yang dibutuhkan untuk menghasilkan keputusan.</a:t>
            </a:r>
          </a:p>
        </p:txBody>
      </p:sp>
    </p:spTree>
    <p:extLst>
      <p:ext uri="{BB962C8B-B14F-4D97-AF65-F5344CB8AC3E}">
        <p14:creationId xmlns:p14="http://schemas.microsoft.com/office/powerpoint/2010/main" val="726907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056935-B9F2-459B-B61F-0FA69F6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252D1-8710-45D7-8F30-1C63BC1E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Bahan masuk dan keluaran FGD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080A3-857C-4E15-9710-4B423DDD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FGD yang efektif dimulai sebelum hari pelaksanaan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DE1D0-9BCF-434D-9005-D88AF478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E87FA-2C63-407B-AF19-37AB4A4B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07BC3-DB62-47A6-AC5A-1BD05046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BAHAN YANG DIKIRIM SEBELUM FGD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4AAC1-4A04-430B-A792-48CF593B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E1ECB-5E8A-4012-9925-B4D6F6D2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Daftar 10–15 indikator prioritas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9BF07-39CA-4C6C-8604-D5C12016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F1293-C150-412C-AA58-9818E541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384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Contoh data dua atau tiga periode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326A1-922A-4690-AB78-C3D01006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62DD3-0E8C-4BCA-B097-37C6FDB2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Definisi, satuan, sumber, dan penanggung jawab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7DBB1-2865-4B1D-8683-B6910A42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A76CA-BF92-4F7B-B463-317FEDFA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385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Alur pelaporan serta validasi yang berjalan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E241E-17F9-40C6-9646-491CE228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A9E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A9E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97C2A-7F8F-41C4-84BF-45B7AE97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Kebijakan atau dokumen rujukan terkait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55CE2-039C-4465-983B-88321B2F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19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928C8-0DD1-4019-8CB2-7A642157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192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KELUARAN YANG DISEPAKATI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25770-62AF-4E4D-B206-F2C2D95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6CC77-8E93-46DB-A328-943CB6F9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38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Daftar indikator tahap awal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B5932-622A-4F53-BFEF-E670E2D6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765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5BF68-D1BD-47AB-AD06-FB199A47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384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Matriks pemilik dan alur validasi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24310-7ED1-45DA-A480-1249567A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A96B2-45FC-4220-8E08-C0C1AC0D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38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Kebutuhan akses serta integrasi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1C4A2-0B25-46F2-8066-3B28C8D5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766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D5896-5156-4285-9E30-D54E077A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385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Rencana pilot 90 hari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2E1D5-1F0A-498E-8EDE-B15B173D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C7A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C7A6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C61FC8-3397-409A-88ED-251F9EF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38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Berita acara keputusan dan tindak lanjut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6D2C4-FFAE-413D-AF4A-2C0F699C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363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8B5AD0-9698-4B6A-A425-060AFA38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34050"/>
            <a:ext cx="994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Bahan minimal diterima 3–5 hari kerja sebelum FGD agar sesi digunakan untuk keputusan, bukan mengumpulkan informasi dasar.</a:t>
            </a:r>
          </a:p>
        </p:txBody>
      </p:sp>
    </p:spTree>
    <p:extLst>
      <p:ext uri="{BB962C8B-B14F-4D97-AF65-F5344CB8AC3E}">
        <p14:creationId xmlns:p14="http://schemas.microsoft.com/office/powerpoint/2010/main" val="10140569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70989-E9DD-4FDA-ACA1-43435987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1BE02-8DA4-4CFF-A71E-66846AB5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Kesepakatan yang perlu dicatat hari 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22A19-558E-433A-8313-6EEA0852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Tutup pertemuan dengan membaca ulang keputusan dan penanggung jawab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06180-7874-4D18-BD1C-7B2440A4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69BA0-1BB6-48AF-BFD4-4B3A8FAA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062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AD816-576C-4A25-AE01-485E7B8B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Tujuan utama FGD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4D396-D04D-4E93-9E52-8474F8C3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____________________________________________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549F1-B18E-46FB-936D-046B70C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953E0-CDA9-4661-B2DD-F68410F5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Tanggal dan lokasi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20B96-6DC6-401A-818A-E4897F92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0D0F9-101A-4DC5-AA26-8B1B454E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123E9-A50E-4469-B4FA-65867651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PIC BAPPERIDA dan tim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E9515-6523-4C9A-8FCB-5B68F6FE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____________________________________________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36F9E-4919-444B-B30C-E381F5B3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36CAC-6C49-42BF-8C91-8DBCAABC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Perangkat daerah yang diundang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52C54-46C5-4C74-BEEF-96FC3D59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____________________________________________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B60C0-0B8E-4BE6-92FA-4061DC7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3A9B0-5D2F-4114-9531-0EBED473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Bahan dan tenggat pengiriman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2BC05-B1C6-46B3-8D2C-0DA69020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____________________________________________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34206-E54C-4A71-9B5F-052C5A31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D7AB0-3BD3-4EA4-88F8-9330573A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Waktu koordinasi berikutnya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948A3-006D-4433-8471-07CF9B3D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577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274"/>
                </a:solidFill>
                <a:latin typeface="Aptos"/>
                <a:ea typeface="Aptos"/>
                <a:cs typeface="Aptos"/>
              </a:rPr>
              <a:t>____________________________________________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C9067-287B-4546-ABC7-8891BDB4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59794-FE30-4467-8CD4-20845D66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363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50011-4DE0-4C74-8F08-FCC1245D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5A96"/>
                </a:solidFill>
                <a:latin typeface="Aptos"/>
                <a:ea typeface="Aptos"/>
                <a:cs typeface="Aptos"/>
              </a:rPr>
              <a:t>Penutup: SABABUKA akan dikembangkan dari kebutuhan dan tata kelola yang disepakati bersama, bukan dari asumsi teknis semata.</a:t>
            </a:r>
          </a:p>
        </p:txBody>
      </p:sp>
    </p:spTree>
    <p:extLst>
      <p:ext uri="{BB962C8B-B14F-4D97-AF65-F5344CB8AC3E}">
        <p14:creationId xmlns:p14="http://schemas.microsoft.com/office/powerpoint/2010/main" val="1581677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2026-09-11T03:35:20.4790000Z</dcterms:created>
  <dcterms:modified xsi:type="dcterms:W3CDTF">2026-09-11T03:35:20.4790000Z</dcterms:modified>
</coreProperties>
</file>